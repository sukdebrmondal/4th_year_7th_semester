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73" r:id="rId10"/>
    <p:sldId id="266" r:id="rId11"/>
    <p:sldId id="270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7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72.png"/><Relationship Id="rId2" Type="http://schemas.openxmlformats.org/officeDocument/2006/relationships/tags" Target="../tags/tag2.xml"/><Relationship Id="rId16" Type="http://schemas.openxmlformats.org/officeDocument/2006/relationships/image" Target="../media/image7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4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9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0446" y="2447622"/>
            <a:ext cx="8851106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5"/>
              </a:lnSpc>
            </a:pPr>
            <a:r>
              <a:rPr sz="3900" b="0" i="0" u="none" dirty="0">
                <a:solidFill>
                  <a:srgbClr val="FFFFFF"/>
                </a:solidFill>
                <a:latin typeface="Plus Jakarta Sans ExtraBold"/>
              </a:rPr>
              <a:t>Karatsuba Multiplication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385" y="4576291"/>
            <a:ext cx="2142290" cy="575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600" b="0" i="0" u="none" dirty="0">
                <a:solidFill>
                  <a:srgbClr val="CBD5E1"/>
                </a:solidFill>
                <a:latin typeface="Inter"/>
              </a:rPr>
              <a:t> T Anatoly Karatsuba (1960</a:t>
            </a:r>
            <a:r>
              <a:rPr sz="1050" b="0" i="0" u="none" dirty="0">
                <a:solidFill>
                  <a:srgbClr val="CBD5E1"/>
                </a:solidFill>
                <a:latin typeface="Inter"/>
              </a:rPr>
              <a:t>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254" y="1856210"/>
            <a:ext cx="169545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0" y="1856210"/>
            <a:ext cx="1800225" cy="333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DB0B89-3C8B-C5A1-A658-81AA913EF153}"/>
              </a:ext>
            </a:extLst>
          </p:cNvPr>
          <p:cNvSpPr txBox="1"/>
          <p:nvPr/>
        </p:nvSpPr>
        <p:spPr>
          <a:xfrm>
            <a:off x="2709612" y="3121422"/>
            <a:ext cx="6882063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0" i="0" u="none" dirty="0">
                <a:solidFill>
                  <a:srgbClr val="CDD6E2"/>
                </a:solidFill>
                <a:latin typeface="DM Sans"/>
              </a:rPr>
              <a:t>Conquering Large Number Multiplication with </a:t>
            </a:r>
          </a:p>
          <a:p>
            <a:pPr algn="ctr">
              <a:lnSpc>
                <a:spcPts val="3150"/>
              </a:lnSpc>
            </a:pPr>
            <a:r>
              <a:rPr lang="en-US" sz="2100" b="0" i="0" u="none" dirty="0">
                <a:solidFill>
                  <a:srgbClr val="CDD6E2"/>
                </a:solidFill>
                <a:latin typeface="DM Sans"/>
              </a:rPr>
              <a:t>Divide &amp; Conquer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85950"/>
            <a:ext cx="3337470" cy="140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190" y="1885950"/>
            <a:ext cx="3337470" cy="1400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980" y="1885950"/>
            <a:ext cx="3337470" cy="1400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90925"/>
            <a:ext cx="3555950" cy="1895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3590925"/>
            <a:ext cx="3555950" cy="1895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500" y="3590925"/>
            <a:ext cx="3556099" cy="1895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9660" y="209550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451" y="209550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7241" y="20955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1. Divide &amp; Conquer Paradigm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7450" y="485775"/>
            <a:ext cx="15811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116205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Divide and Conquer is an algorithmic paradigm that breaks a complex problem into smaller subproblems, solves them recursively, and combines their solutions to form the final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 of 14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3305" y="2452687"/>
            <a:ext cx="17145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7095" y="2452687"/>
            <a:ext cx="17145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9990" y="2495550"/>
            <a:ext cx="306428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Inter"/>
              </a:rPr>
              <a:t>Divide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771775"/>
            <a:ext cx="2918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Break the original large problem into smaller, independent subproblems of the same 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3780" y="2495550"/>
            <a:ext cx="306428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Inter"/>
              </a:rPr>
              <a:t>Conquer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740" y="2771775"/>
            <a:ext cx="2918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Solve the subproblems recursively. Base cases are reached when subproblems become trivial.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7571" y="2495550"/>
            <a:ext cx="306428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Inter"/>
              </a:rPr>
              <a:t>Combine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0530" y="2771775"/>
            <a:ext cx="291837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Merge the solutions of the subproblems to reconstruct the solution to the primary problem.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275" y="3829050"/>
            <a:ext cx="279395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Classic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3725" y="3829050"/>
            <a:ext cx="283205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A16207"/>
                </a:solidFill>
                <a:latin typeface="Plus Jakarta Sans"/>
              </a:rPr>
              <a:t>Key Advantage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075" y="4162425"/>
            <a:ext cx="30797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713F12"/>
                </a:solidFill>
                <a:latin typeface="Inter"/>
              </a:rPr>
              <a:t>Drastically reduces structural operations by skipping redundant calculations, transforming naive quadratic approaches into sub-quadratic time bounds.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7325" y="3829050"/>
            <a:ext cx="281314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6B21A8"/>
                </a:solidFill>
                <a:latin typeface="Plus Jakarta Sans"/>
              </a:rPr>
              <a:t>Karatsuba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5" y="4162425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81C87"/>
                </a:solidFill>
                <a:latin typeface="Inter"/>
              </a:rPr>
              <a:t>Splits multi-digit integers into higher and lower halves, reducing total recursive multiplications required from 4 down to 3.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3852862"/>
            <a:ext cx="19050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2025" y="4162425"/>
            <a:ext cx="28892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Merge Sort: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Sorting arrays in O(n log 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025" y="4452937"/>
            <a:ext cx="28892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Quick Sort: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Partition-based sorting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025" y="4743450"/>
            <a:ext cx="28892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Binary Search: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Halving search space O(log n)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6075" y="3852862"/>
            <a:ext cx="152400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0625" y="3852862"/>
            <a:ext cx="17145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1525" y="41433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525" y="443388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525" y="4724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429250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4550"/>
            <a:ext cx="5429250" cy="1209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476625"/>
            <a:ext cx="5429250" cy="1000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2. Classical Multiplication &amp; Its Bottleneck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950" y="485775"/>
            <a:ext cx="10096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3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162050"/>
            <a:ext cx="57007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Grade-School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504950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Traditional multiplication calculates partial products by multiplying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every single digit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of the first number with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every single digit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of the second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8612" y="1556742"/>
            <a:ext cx="1990725" cy="11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970"/>
              </a:lnSpc>
            </a:pPr>
            <a:r>
              <a:rPr sz="1650" b="0" i="0" u="none">
                <a:solidFill>
                  <a:srgbClr val="38BDF8"/>
                </a:solidFill>
                <a:latin typeface="Fira Code"/>
              </a:rPr>
              <a:t>1 2 3 4</a:t>
            </a:r>
            <a:r>
              <a:t>
</a:t>
            </a:r>
            <a:r>
              <a:rPr sz="1650" b="0" i="0" u="none">
                <a:solidFill>
                  <a:srgbClr val="38BDF8"/>
                </a:solidFill>
                <a:latin typeface="Fira Code"/>
              </a:rPr>
              <a:t> × 5 6 7 8</a:t>
            </a:r>
            <a:r>
              <a:t>
</a:t>
            </a:r>
            <a:r>
              <a:rPr sz="1650" b="0" i="0" u="none">
                <a:solidFill>
                  <a:srgbClr val="64748B"/>
                </a:solidFill>
                <a:latin typeface="Fira Code"/>
              </a:rPr>
              <a:t>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2875" y="2802433"/>
            <a:ext cx="2362200" cy="1279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sz="1050" b="0" i="0" u="none" dirty="0">
                <a:solidFill>
                  <a:srgbClr val="FBBF24"/>
                </a:solidFill>
                <a:latin typeface="Fira Code"/>
              </a:rPr>
              <a:t>9 8 7 2 (4 </a:t>
            </a:r>
            <a:r>
              <a:rPr sz="1050" b="0" i="0" u="none" dirty="0" err="1">
                <a:solidFill>
                  <a:srgbClr val="FBBF24"/>
                </a:solidFill>
                <a:latin typeface="Fira Code"/>
              </a:rPr>
              <a:t>mults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)</a:t>
            </a:r>
            <a:r>
              <a:rPr dirty="0"/>
              <a:t>
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 8 6 3 8 0 (4 </a:t>
            </a:r>
            <a:r>
              <a:rPr sz="1050" b="0" i="0" u="none" dirty="0" err="1">
                <a:solidFill>
                  <a:srgbClr val="FBBF24"/>
                </a:solidFill>
                <a:latin typeface="Fira Code"/>
              </a:rPr>
              <a:t>mults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)</a:t>
            </a:r>
            <a:r>
              <a:rPr dirty="0"/>
              <a:t>
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 7 4 0 4 0 0 (4 </a:t>
            </a:r>
            <a:r>
              <a:rPr sz="1050" b="0" i="0" u="none" dirty="0" err="1">
                <a:solidFill>
                  <a:srgbClr val="FBBF24"/>
                </a:solidFill>
                <a:latin typeface="Fira Code"/>
              </a:rPr>
              <a:t>mults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)</a:t>
            </a:r>
            <a:r>
              <a:rPr dirty="0"/>
              <a:t>
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 6 1 7 0 0 0 0 (4 </a:t>
            </a:r>
            <a:r>
              <a:rPr sz="1050" b="0" i="0" u="none" dirty="0" err="1">
                <a:solidFill>
                  <a:srgbClr val="FBBF24"/>
                </a:solidFill>
                <a:latin typeface="Fira Code"/>
              </a:rPr>
              <a:t>mults</a:t>
            </a:r>
            <a:r>
              <a:rPr sz="1050" b="0" i="0" u="none" dirty="0">
                <a:solidFill>
                  <a:srgbClr val="FBBF24"/>
                </a:solidFill>
                <a:latin typeface="Fira Code"/>
              </a:rPr>
              <a:t>)</a:t>
            </a:r>
            <a:r>
              <a:rPr dirty="0"/>
              <a:t>
</a:t>
            </a:r>
            <a:r>
              <a:rPr sz="1050" b="0" i="0" u="none" dirty="0">
                <a:solidFill>
                  <a:srgbClr val="64748B"/>
                </a:solidFill>
                <a:latin typeface="Fira Code"/>
              </a:rPr>
              <a:t>───────────────</a:t>
            </a:r>
            <a:r>
              <a:rPr dirty="0"/>
              <a:t>
</a:t>
            </a:r>
            <a:r>
              <a:rPr sz="1050" b="1" i="0" u="none" dirty="0">
                <a:solidFill>
                  <a:srgbClr val="4ADE80"/>
                </a:solidFill>
                <a:latin typeface="Fira Code"/>
              </a:rPr>
              <a:t>Total = 16 Multiplications (4²)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352675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BE123C"/>
                </a:solidFill>
                <a:latin typeface="Plus Jakarta Sans"/>
              </a:rPr>
              <a:t>Quadratic Complexity O(n²)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2686050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881337"/>
                </a:solidFill>
                <a:latin typeface="Inter"/>
              </a:rPr>
              <a:t>For two </a:t>
            </a:r>
            <a:r>
              <a:rPr sz="1050" b="0" i="1" u="none">
                <a:solidFill>
                  <a:srgbClr val="881337"/>
                </a:solidFill>
                <a:latin typeface="Inter"/>
              </a:rPr>
              <a:t>n</a:t>
            </a:r>
            <a:r>
              <a:rPr sz="1050" b="0" i="0" u="none">
                <a:solidFill>
                  <a:srgbClr val="881337"/>
                </a:solidFill>
                <a:latin typeface="Inter"/>
              </a:rPr>
              <a:t>-digit numbers, the classical method performs </a:t>
            </a:r>
            <a:r>
              <a:rPr sz="1050" b="1" i="0" u="none">
                <a:solidFill>
                  <a:srgbClr val="881337"/>
                </a:solidFill>
                <a:latin typeface="Inter"/>
              </a:rPr>
              <a:t>n² single-digit multiplications</a:t>
            </a:r>
            <a:r>
              <a:rPr sz="1050" b="0" i="0" u="none">
                <a:solidFill>
                  <a:srgbClr val="881337"/>
                </a:solidFill>
                <a:latin typeface="Inter"/>
              </a:rPr>
              <a:t> and </a:t>
            </a:r>
            <a:r>
              <a:rPr sz="1050" b="1" i="0" u="none">
                <a:solidFill>
                  <a:srgbClr val="881337"/>
                </a:solidFill>
                <a:latin typeface="Inter"/>
              </a:rPr>
              <a:t>n² additions</a:t>
            </a:r>
            <a:r>
              <a:rPr sz="1050" b="0" i="0" u="none">
                <a:solidFill>
                  <a:srgbClr val="881337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638550"/>
            <a:ext cx="5105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Impact on Large Integers (Cryptography &amp; Science):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857625"/>
            <a:ext cx="510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Multiplying 2,048-bit numbers (approx. 600 decimal digits) requires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360,000 operations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classically, making RSA and big-num operations computationally expensive.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376487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14437"/>
            <a:ext cx="5429250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71750"/>
            <a:ext cx="5429250" cy="160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130" y="3300095"/>
            <a:ext cx="2581275" cy="638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405" y="3257550"/>
            <a:ext cx="2581275" cy="638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3. Karatsuba Multiplication &amp;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5100" y="485775"/>
            <a:ext cx="13335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65246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4 of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162050"/>
            <a:ext cx="57007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Inter"/>
              </a:rPr>
              <a:t>What is Karatsuba Algorithm?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1524000"/>
            <a:ext cx="5429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 fast divide-and-conquer algorithm that multiplies two </a:t>
            </a:r>
            <a:r>
              <a:rPr sz="1125" b="0" i="1" u="none">
                <a:solidFill>
                  <a:srgbClr val="475569"/>
                </a:solidFill>
                <a:latin typeface="Inter"/>
              </a:rPr>
              <a:t>n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-digit numbers using only </a:t>
            </a:r>
            <a:r>
              <a:rPr sz="1125" b="1" i="0" u="none">
                <a:solidFill>
                  <a:srgbClr val="475569"/>
                </a:solidFill>
                <a:latin typeface="Inter"/>
              </a:rPr>
              <a:t>3 recursive multiplications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instead of 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282" y="1781492"/>
            <a:ext cx="271033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1C87"/>
                </a:solidFill>
                <a:latin typeface="Inter"/>
              </a:rPr>
              <a:t>Anatoly Alexeevitch Karatsuba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1330" y="2286000"/>
            <a:ext cx="3981450" cy="923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75" b="0" i="0" u="none">
                <a:solidFill>
                  <a:srgbClr val="7E22CE"/>
                </a:solidFill>
                <a:latin typeface="Inter"/>
              </a:rPr>
              <a:t>Soviet &amp; Russian Mathematician (1937–2008)</a:t>
            </a:r>
            <a:r>
              <a:t>
</a:t>
            </a:r>
            <a:r>
              <a:rPr sz="975" b="0" i="1" u="none">
                <a:solidFill>
                  <a:srgbClr val="7E22CE"/>
                </a:solidFill>
                <a:latin typeface="Inter"/>
              </a:rPr>
              <a:t>Published in 1962 (Proceedings of the USSR Academy of Sciences)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0145" y="2738120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Historical Landmark (1960)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445" y="3095625"/>
            <a:ext cx="495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66534"/>
                </a:solidFill>
                <a:latin typeface="Inter"/>
              </a:rPr>
              <a:t>In 1960, legendary mathematician Andrey Kolmogorov conjectured that </a:t>
            </a:r>
            <a:r>
              <a:rPr sz="1050" b="0" i="1" u="none">
                <a:solidFill>
                  <a:srgbClr val="166534"/>
                </a:solidFill>
                <a:latin typeface="Inter"/>
              </a:rPr>
              <a:t>O(n²)</a:t>
            </a:r>
            <a:r>
              <a:rPr sz="1050" b="0" i="0" u="none">
                <a:solidFill>
                  <a:srgbClr val="166534"/>
                </a:solidFill>
                <a:latin typeface="Inter"/>
              </a:rPr>
              <a:t> was the theoretical minimum. 23-year-old student </a:t>
            </a:r>
            <a:r>
              <a:rPr sz="1050" b="1" i="0" u="none">
                <a:solidFill>
                  <a:srgbClr val="166534"/>
                </a:solidFill>
                <a:latin typeface="Inter"/>
              </a:rPr>
              <a:t>Anatoly Karatsuba</a:t>
            </a:r>
            <a:r>
              <a:rPr sz="1050" b="0" i="0" u="none">
                <a:solidFill>
                  <a:srgbClr val="166534"/>
                </a:solidFill>
                <a:latin typeface="Inter"/>
              </a:rPr>
              <a:t> disproved Kolmogorov's conjecture within a week by discovering this algorithm!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395537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60185" y="3362325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Classical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7955" y="3600450"/>
            <a:ext cx="2333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EF4444"/>
                </a:solidFill>
                <a:latin typeface="Inter"/>
              </a:rPr>
              <a:t>O(n²)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230" y="3362325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66534"/>
                </a:solidFill>
                <a:latin typeface="Inter"/>
              </a:rPr>
              <a:t>Karatsuba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055" y="3552825"/>
            <a:ext cx="233362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16A34A"/>
                </a:solidFill>
                <a:latin typeface="Inter"/>
              </a:rPr>
              <a:t>O(n</a:t>
            </a:r>
            <a:r>
              <a:rPr lang="en-IN" sz="1350" b="1" i="0" u="none" dirty="0">
                <a:solidFill>
                  <a:srgbClr val="16A34A"/>
                </a:solidFill>
                <a:latin typeface="Inter"/>
              </a:rPr>
              <a:t>^</a:t>
            </a:r>
            <a:r>
              <a:rPr sz="1350" b="1" i="0" u="none" dirty="0">
                <a:solidFill>
                  <a:srgbClr val="16A34A"/>
                </a:solidFill>
                <a:latin typeface="Inter"/>
              </a:rPr>
              <a:t>1.585)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76400"/>
            <a:ext cx="11125200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00400"/>
            <a:ext cx="11125200" cy="25069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214620"/>
            <a:ext cx="106489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848100"/>
            <a:ext cx="3397150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7275" y="3848100"/>
            <a:ext cx="3397299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175" y="3848100"/>
            <a:ext cx="3397150" cy="666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4. The Mathematical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5125" y="485775"/>
            <a:ext cx="11334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1162050"/>
            <a:ext cx="11125200" cy="347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Let X and Y be two n-digit numbers represented in base 10 (or base 2). Split both numbers into high-order (a, c) and low-order (b, d) halves with m = n/2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376" y="2586989"/>
            <a:ext cx="111252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Standard expansion requires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4 multiplications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(ac, ad, bc, bd):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27813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Fira Code"/>
              </a:rPr>
              <a:t>X × Y = (a·10</a:t>
            </a:r>
            <a:r>
              <a:rPr lang="en-IN" sz="1350" b="0" i="0" u="none" dirty="0">
                <a:solidFill>
                  <a:srgbClr val="64748B"/>
                </a:solidFill>
                <a:latin typeface="Fira Code"/>
              </a:rPr>
              <a:t>^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m + b)(c·10</a:t>
            </a:r>
            <a:r>
              <a:rPr lang="en-IN" sz="1350" b="0" i="0" u="none" dirty="0">
                <a:solidFill>
                  <a:srgbClr val="64748B"/>
                </a:solidFill>
                <a:latin typeface="Fira Code"/>
              </a:rPr>
              <a:t>^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m + d) = </a:t>
            </a:r>
            <a:r>
              <a:rPr sz="1350" b="1" i="0" u="none" dirty="0">
                <a:solidFill>
                  <a:srgbClr val="EF4444"/>
                </a:solidFill>
                <a:latin typeface="Fira Code"/>
              </a:rPr>
              <a:t>ac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·10</a:t>
            </a:r>
            <a:r>
              <a:rPr lang="en-IN" sz="1350" b="0" i="0" u="none" dirty="0">
                <a:solidFill>
                  <a:srgbClr val="64748B"/>
                </a:solidFill>
                <a:latin typeface="Fira Code"/>
              </a:rPr>
              <a:t>^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2m + (</a:t>
            </a:r>
            <a:r>
              <a:rPr sz="1350" b="1" i="0" u="none" dirty="0">
                <a:solidFill>
                  <a:srgbClr val="EF4444"/>
                </a:solidFill>
                <a:latin typeface="Fira Code"/>
              </a:rPr>
              <a:t>ad + </a:t>
            </a:r>
            <a:r>
              <a:rPr sz="1350" b="1" i="0" u="none" dirty="0" err="1">
                <a:solidFill>
                  <a:srgbClr val="EF4444"/>
                </a:solidFill>
                <a:latin typeface="Fira Code"/>
              </a:rPr>
              <a:t>bc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)·10</a:t>
            </a:r>
            <a:r>
              <a:rPr lang="en-IN" sz="1350" b="0" i="0" u="none" dirty="0">
                <a:solidFill>
                  <a:srgbClr val="64748B"/>
                </a:solidFill>
                <a:latin typeface="Fira Code"/>
              </a:rPr>
              <a:t>^</a:t>
            </a:r>
            <a:r>
              <a:rPr sz="1350" b="0" i="0" u="none" dirty="0">
                <a:solidFill>
                  <a:srgbClr val="64748B"/>
                </a:solidFill>
                <a:latin typeface="Fira Code"/>
              </a:rPr>
              <a:t>m + </a:t>
            </a:r>
            <a:r>
              <a:rPr sz="1350" b="1" i="0" u="none" dirty="0">
                <a:solidFill>
                  <a:srgbClr val="EF4444"/>
                </a:solidFill>
                <a:latin typeface="Fira Code"/>
              </a:rPr>
              <a:t>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 of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3438525"/>
            <a:ext cx="103632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Karatsuba's Algebraic Magic (3 Multiplications)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462337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0321" y="1910506"/>
            <a:ext cx="1246882" cy="15641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4796" y="1910506"/>
            <a:ext cx="1246882" cy="1564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27212" y="4010025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66534"/>
                </a:solidFill>
                <a:latin typeface="Inter SemiBold"/>
              </a:rPr>
              <a:t>P1 (High)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750435"/>
            <a:ext cx="314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5803D"/>
                </a:solidFill>
                <a:latin typeface="Fira Code"/>
              </a:rPr>
              <a:t>P1 = a ×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7726" y="4010025"/>
            <a:ext cx="476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66534"/>
                </a:solidFill>
                <a:latin typeface="Inter SemiBold"/>
              </a:rPr>
              <a:t>P2 (Low)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4925" y="4750435"/>
            <a:ext cx="31496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15803D"/>
                </a:solidFill>
                <a:latin typeface="Fira Code"/>
              </a:rPr>
              <a:t>P2 = b ×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0738" y="4010025"/>
            <a:ext cx="962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66534"/>
                </a:solidFill>
                <a:latin typeface="Inter SemiBold"/>
              </a:rPr>
              <a:t>P3 (Sum Product)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0825" y="4750435"/>
            <a:ext cx="314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5803D"/>
                </a:solidFill>
                <a:latin typeface="Fira Code"/>
              </a:rPr>
              <a:t>P3 = (a + b)(c + 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429250" cy="38754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62050"/>
            <a:ext cx="542925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885950"/>
            <a:ext cx="54292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19350"/>
            <a:ext cx="5429250" cy="876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417816"/>
            <a:ext cx="54292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057650"/>
            <a:ext cx="542925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5. Step-by-Step 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8450" y="485775"/>
            <a:ext cx="12001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 of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1362075"/>
            <a:ext cx="50292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64748B"/>
                </a:solidFill>
                <a:latin typeface="Fira Code"/>
              </a:rPr>
              <a:t>// Karatsuba Pseudocode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1645890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43F5E"/>
                </a:solidFill>
                <a:latin typeface="Fira Code"/>
              </a:rPr>
              <a:t>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5175" y="1645890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karatsuba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1843980"/>
            <a:ext cx="152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43F5E"/>
                </a:solidFill>
                <a:latin typeface="Fira Code"/>
              </a:rPr>
              <a:t>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3775" y="1843980"/>
            <a:ext cx="152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43F5E"/>
                </a:solidFill>
                <a:latin typeface="Fira Code"/>
              </a:rPr>
              <a:t>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2042070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43F5E"/>
                </a:solidFill>
                <a:latin typeface="Fira Code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648944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F43F5E"/>
                </a:solidFill>
                <a:latin typeface="Fira Code"/>
              </a:rPr>
              <a:t>return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29000"/>
            <a:ext cx="11125200" cy="955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62050"/>
            <a:ext cx="542925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162050"/>
            <a:ext cx="5429250" cy="742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057400"/>
            <a:ext cx="3555950" cy="1219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057400"/>
            <a:ext cx="3555950" cy="1219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2500" y="2057400"/>
            <a:ext cx="3556099" cy="1219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886200"/>
            <a:ext cx="10763250" cy="317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7. Worked Example: 1234 × 5678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6475" y="485775"/>
            <a:ext cx="17621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8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3617654"/>
            <a:ext cx="107632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6B21A8"/>
                </a:solidFill>
                <a:latin typeface="Inter"/>
              </a:rPr>
              <a:t>1. Middle Term Computation: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581C87"/>
                </a:solidFill>
                <a:latin typeface="Inter SemiBold"/>
              </a:rPr>
              <a:t>Middle = P3 - P1 - P2 = </a:t>
            </a:r>
            <a:r>
              <a:rPr lang="en-IN" sz="1200" dirty="0">
                <a:solidFill>
                  <a:srgbClr val="581C87"/>
                </a:solidFill>
                <a:latin typeface="Inter SemiBold"/>
              </a:rPr>
              <a:t>33  - 5 – 12 = 16</a:t>
            </a:r>
            <a:endParaRPr sz="1200" b="0" i="0" u="none" dirty="0">
              <a:solidFill>
                <a:srgbClr val="581C87"/>
              </a:solidFill>
              <a:latin typeface="Inte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6275" y="1333500"/>
            <a:ext cx="733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Input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1533525"/>
            <a:ext cx="5143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Fira Code"/>
              </a:rPr>
              <a:t>X = 12, Y = 56 (n = </a:t>
            </a:r>
            <a:r>
              <a:rPr lang="en-IN" sz="1350" b="0" i="0" u="none" dirty="0">
                <a:solidFill>
                  <a:srgbClr val="0F172A"/>
                </a:solidFill>
                <a:latin typeface="Fira Code"/>
              </a:rPr>
              <a:t>2</a:t>
            </a:r>
            <a:r>
              <a:rPr sz="1350" b="0" i="0" u="none" dirty="0">
                <a:solidFill>
                  <a:srgbClr val="0F172A"/>
                </a:solidFill>
                <a:latin typeface="Fira Code"/>
              </a:rPr>
              <a:t>, m = </a:t>
            </a:r>
            <a:r>
              <a:rPr lang="en-IN" sz="1350" dirty="0">
                <a:solidFill>
                  <a:srgbClr val="0F172A"/>
                </a:solidFill>
                <a:latin typeface="Fira Code"/>
              </a:rPr>
              <a:t>1</a:t>
            </a:r>
            <a:r>
              <a:rPr sz="1350" b="0" i="0" u="none" dirty="0">
                <a:solidFill>
                  <a:srgbClr val="0F172A"/>
                </a:solidFill>
                <a:latin typeface="Fira Code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225" y="1333500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High / Low Splits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225" y="1533525"/>
            <a:ext cx="5143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338CA"/>
                </a:solidFill>
                <a:latin typeface="Fira Code"/>
              </a:rPr>
              <a:t>a = 1, b = </a:t>
            </a:r>
            <a:r>
              <a:rPr lang="en-IN" sz="1350" dirty="0">
                <a:solidFill>
                  <a:srgbClr val="4338CA"/>
                </a:solidFill>
                <a:latin typeface="Fira Code"/>
              </a:rPr>
              <a:t>2</a:t>
            </a:r>
            <a:r>
              <a:rPr sz="1350" b="0" i="0" u="none" dirty="0">
                <a:solidFill>
                  <a:srgbClr val="4338CA"/>
                </a:solidFill>
                <a:latin typeface="Fira Code"/>
              </a:rPr>
              <a:t> | c = 5, d = </a:t>
            </a:r>
            <a:r>
              <a:rPr lang="en-IN" sz="1350" dirty="0">
                <a:solidFill>
                  <a:srgbClr val="4338CA"/>
                </a:solidFill>
                <a:latin typeface="Fira Code"/>
              </a:rPr>
              <a:t>6</a:t>
            </a:r>
            <a:endParaRPr sz="1350" b="0" i="0" u="none" dirty="0">
              <a:solidFill>
                <a:srgbClr val="4338CA"/>
              </a:solidFill>
              <a:latin typeface="Fira Code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1525" y="2295525"/>
            <a:ext cx="307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E7490"/>
                </a:solidFill>
                <a:latin typeface="Inter"/>
              </a:rPr>
              <a:t>P1 = a ×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2533650"/>
            <a:ext cx="3079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E7490"/>
                </a:solidFill>
                <a:latin typeface="Fira Code"/>
              </a:rPr>
              <a:t>1×5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2790825"/>
            <a:ext cx="30797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E7490"/>
                </a:solidFill>
                <a:latin typeface="Fira Code"/>
              </a:rPr>
              <a:t>= </a:t>
            </a:r>
            <a:r>
              <a:rPr lang="en-IN" sz="1500" b="1" dirty="0">
                <a:solidFill>
                  <a:srgbClr val="0E7490"/>
                </a:solidFill>
                <a:latin typeface="Fira Code"/>
              </a:rPr>
              <a:t>5</a:t>
            </a:r>
            <a:endParaRPr sz="1500" b="1" i="0" u="none" dirty="0">
              <a:solidFill>
                <a:srgbClr val="0E7490"/>
              </a:solidFill>
              <a:latin typeface="Fira Code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56075" y="2295525"/>
            <a:ext cx="307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730A3"/>
                </a:solidFill>
                <a:latin typeface="Inter"/>
              </a:rPr>
              <a:t>P2 = b ×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724" y="2533650"/>
            <a:ext cx="30797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dirty="0">
                <a:solidFill>
                  <a:srgbClr val="3730A3"/>
                </a:solidFill>
                <a:latin typeface="Fira Code"/>
              </a:rPr>
              <a:t>2</a:t>
            </a:r>
            <a:r>
              <a:rPr sz="1200" b="0" i="0" u="none" dirty="0">
                <a:solidFill>
                  <a:srgbClr val="3730A3"/>
                </a:solidFill>
                <a:latin typeface="Fira Code"/>
              </a:rPr>
              <a:t>×</a:t>
            </a:r>
            <a:r>
              <a:rPr lang="en-IN" sz="1200" dirty="0">
                <a:solidFill>
                  <a:srgbClr val="3730A3"/>
                </a:solidFill>
                <a:latin typeface="Fira Code"/>
              </a:rPr>
              <a:t>6</a:t>
            </a:r>
            <a:endParaRPr sz="1200" b="0" i="0" u="none" dirty="0">
              <a:solidFill>
                <a:srgbClr val="3730A3"/>
              </a:solidFill>
              <a:latin typeface="Fira Code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56075" y="2790825"/>
            <a:ext cx="30797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730A3"/>
                </a:solidFill>
                <a:latin typeface="Fira Code"/>
              </a:rPr>
              <a:t>= </a:t>
            </a:r>
            <a:r>
              <a:rPr lang="en-IN" sz="1500" b="1" i="0" u="none" dirty="0">
                <a:solidFill>
                  <a:srgbClr val="3730A3"/>
                </a:solidFill>
                <a:latin typeface="Fira Code"/>
              </a:rPr>
              <a:t>1</a:t>
            </a:r>
            <a:r>
              <a:rPr sz="1500" b="1" i="0" u="none" dirty="0">
                <a:solidFill>
                  <a:srgbClr val="3730A3"/>
                </a:solidFill>
                <a:latin typeface="Fira Code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0625" y="2295525"/>
            <a:ext cx="307984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5803D"/>
                </a:solidFill>
                <a:latin typeface="Inter"/>
              </a:rPr>
              <a:t>P3 = (a+b)(c+d)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0625" y="2533650"/>
            <a:ext cx="30798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15803D"/>
                </a:solidFill>
                <a:latin typeface="Fira Code"/>
              </a:rPr>
              <a:t>(1</a:t>
            </a:r>
            <a:r>
              <a:rPr lang="en-IN" sz="1200" dirty="0">
                <a:solidFill>
                  <a:srgbClr val="15803D"/>
                </a:solidFill>
                <a:latin typeface="Fira Code"/>
              </a:rPr>
              <a:t>+</a:t>
            </a:r>
            <a:r>
              <a:rPr sz="1200" b="0" i="0" u="none" dirty="0">
                <a:solidFill>
                  <a:srgbClr val="15803D"/>
                </a:solidFill>
                <a:latin typeface="Fira Code"/>
              </a:rPr>
              <a:t>2) × (5</a:t>
            </a:r>
            <a:r>
              <a:rPr lang="en-IN" sz="1200" b="0" i="0" u="none" dirty="0">
                <a:solidFill>
                  <a:srgbClr val="15803D"/>
                </a:solidFill>
                <a:latin typeface="Fira Code"/>
              </a:rPr>
              <a:t>+</a:t>
            </a:r>
            <a:r>
              <a:rPr sz="1200" b="0" i="0" u="none" dirty="0">
                <a:solidFill>
                  <a:srgbClr val="15803D"/>
                </a:solidFill>
                <a:latin typeface="Fira Code"/>
              </a:rPr>
              <a:t>6) = </a:t>
            </a:r>
            <a:r>
              <a:rPr lang="en-IN" sz="1200" dirty="0">
                <a:solidFill>
                  <a:srgbClr val="15803D"/>
                </a:solidFill>
                <a:latin typeface="Fira Code"/>
              </a:rPr>
              <a:t>3</a:t>
            </a:r>
            <a:r>
              <a:rPr sz="1200" b="0" i="0" u="none" dirty="0">
                <a:solidFill>
                  <a:srgbClr val="15803D"/>
                </a:solidFill>
                <a:latin typeface="Fira Code"/>
              </a:rPr>
              <a:t> × </a:t>
            </a:r>
            <a:r>
              <a:rPr lang="en-IN" sz="1200" dirty="0">
                <a:solidFill>
                  <a:srgbClr val="15803D"/>
                </a:solidFill>
                <a:latin typeface="Fira Code"/>
              </a:rPr>
              <a:t>11</a:t>
            </a:r>
            <a:endParaRPr sz="1200" b="0" i="0" u="none" dirty="0">
              <a:solidFill>
                <a:srgbClr val="15803D"/>
              </a:solidFill>
              <a:latin typeface="Fira Code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40625" y="2790825"/>
            <a:ext cx="307984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5803D"/>
                </a:solidFill>
                <a:latin typeface="Fira Code"/>
              </a:rPr>
              <a:t>= </a:t>
            </a:r>
            <a:r>
              <a:rPr lang="en-IN" sz="1500" b="1" dirty="0">
                <a:solidFill>
                  <a:srgbClr val="15803D"/>
                </a:solidFill>
                <a:latin typeface="Fira Code"/>
              </a:rPr>
              <a:t>33</a:t>
            </a:r>
            <a:endParaRPr sz="1500" b="1" i="0" u="none" dirty="0">
              <a:solidFill>
                <a:srgbClr val="15803D"/>
              </a:solidFill>
              <a:latin typeface="Fira Code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4375" y="3997225"/>
            <a:ext cx="2200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B21A8"/>
                </a:solidFill>
                <a:latin typeface="Inter"/>
              </a:rPr>
              <a:t>2. Final Combination Assembly: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0475" y="3971925"/>
            <a:ext cx="3867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b="1" dirty="0">
                <a:solidFill>
                  <a:srgbClr val="15803D"/>
                </a:solidFill>
                <a:latin typeface="Fira Code"/>
              </a:rPr>
              <a:t>5</a:t>
            </a:r>
            <a:r>
              <a:rPr lang="en-IN" sz="1200" b="1" i="0" u="none" dirty="0">
                <a:solidFill>
                  <a:srgbClr val="15803D"/>
                </a:solidFill>
                <a:latin typeface="Fira Code"/>
              </a:rPr>
              <a:t> × 10^2 + 16 × 10^1 + 12 = </a:t>
            </a:r>
            <a:r>
              <a:rPr lang="en-IN" sz="1200" dirty="0">
                <a:solidFill>
                  <a:srgbClr val="15803D"/>
                </a:solidFill>
                <a:latin typeface="Fira Code Black"/>
              </a:rPr>
              <a:t>672</a:t>
            </a:r>
            <a:endParaRPr sz="1200" b="0" i="0" u="none" dirty="0">
              <a:solidFill>
                <a:srgbClr val="15803D"/>
              </a:solidFill>
              <a:latin typeface="Fira Code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429250" cy="30661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14525"/>
            <a:ext cx="542925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713857"/>
            <a:ext cx="5429250" cy="514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8. Time Complexity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900" y="485775"/>
            <a:ext cx="140970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0900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9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162050"/>
            <a:ext cx="57007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Recurrence 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476375"/>
            <a:ext cx="5429250" cy="32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The execution splits an n-digit problem into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3 subproblems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of size n/2, plus O(n) additions and digit shifts: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2638425"/>
            <a:ext cx="57007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Inter"/>
              </a:rPr>
              <a:t>Applying Master Theorem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1707653"/>
            <a:ext cx="5200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293B"/>
                </a:solidFill>
                <a:latin typeface="Inter"/>
              </a:rPr>
              <a:t>Operations Comparison by Digit Count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928999"/>
              </p:ext>
            </p:extLst>
          </p:nvPr>
        </p:nvGraphicFramePr>
        <p:xfrm>
          <a:off x="6467475" y="2050553"/>
          <a:ext cx="4952998" cy="16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38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Fira Code"/>
                        </a:rPr>
                        <a:t>Digits 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Fira Code"/>
                        </a:rPr>
                        <a:t>Classical O(n²)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16A34A"/>
                          </a:solidFill>
                          <a:latin typeface="Fira Code"/>
                        </a:rPr>
                        <a:t>Karatsuba O(n</a:t>
                      </a:r>
                      <a:r>
                        <a:rPr lang="en-IN" sz="975" b="1" i="0" u="none" dirty="0">
                          <a:solidFill>
                            <a:srgbClr val="16A34A"/>
                          </a:solidFill>
                          <a:latin typeface="Fira Code"/>
                        </a:rPr>
                        <a:t>^</a:t>
                      </a:r>
                      <a:r>
                        <a:rPr sz="975" b="1" i="0" u="none" dirty="0">
                          <a:solidFill>
                            <a:srgbClr val="16A34A"/>
                          </a:solidFill>
                          <a:latin typeface="Fira Code"/>
                        </a:rPr>
                        <a:t>1.585)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Fira Code"/>
                        </a:rPr>
                        <a:t>Speedup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8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~ 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2.6x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8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~ 1,479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6.8x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8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1,000,000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~ 56,885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2563EB"/>
                          </a:solidFill>
                          <a:latin typeface="Fira Code"/>
                        </a:rPr>
                        <a:t>17.6x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38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100,000,000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Fira Code"/>
                        </a:rPr>
                        <a:t>~ 2,187,761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Fira Code"/>
                        </a:rPr>
                        <a:t>45.7x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71525" y="2076450"/>
            <a:ext cx="49911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B21A8"/>
                </a:solidFill>
                <a:latin typeface="Fira Code"/>
              </a:rPr>
              <a:t>T(n) = 3 T(n / 2) + 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07030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905125"/>
            <a:ext cx="5429250" cy="21327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Form: T(n) = a T(n/b) + f(n) where a = 3, b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719" y="3218962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365" y="3195354"/>
            <a:ext cx="5429250" cy="199029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Critical exponent: c = </a:t>
            </a:r>
            <a:r>
              <a:rPr sz="1050" b="0" i="0" u="none" dirty="0" err="1">
                <a:solidFill>
                  <a:srgbClr val="475569"/>
                </a:solidFill>
                <a:latin typeface="Inter"/>
              </a:rPr>
              <a:t>logb</a:t>
            </a:r>
            <a:r>
              <a:rPr lang="en-IN" sz="1050" b="0" i="0" u="none" dirty="0">
                <a:solidFill>
                  <a:srgbClr val="475569"/>
                </a:solidFill>
                <a:latin typeface="Inter"/>
              </a:rPr>
              <a:t>^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(a) = log2</a:t>
            </a:r>
            <a:r>
              <a:rPr lang="en-IN" sz="1050" b="0" i="0" u="none" dirty="0">
                <a:solidFill>
                  <a:srgbClr val="475569"/>
                </a:solidFill>
                <a:latin typeface="Inter"/>
              </a:rPr>
              <a:t>^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(3) ≈ 1.585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652712"/>
            <a:ext cx="528637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sz="10500" b="1" i="0" u="none">
                <a:solidFill>
                  <a:srgbClr val="005088"/>
                </a:solidFill>
                <a:latin typeface="Merriweather"/>
              </a:rPr>
              <a:t>1.585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081462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334155"/>
                </a:solidFill>
                <a:latin typeface="DM Sans"/>
              </a:rPr>
              <a:t>Exponent in Time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4125" y="2652712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05088"/>
                </a:solidFill>
                <a:latin typeface="Merriweather"/>
              </a:rPr>
              <a:t>Sub-Quadratic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3157537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Because the algorithm structurally branches into 3 subproblems instead of 4, the runtime follows the Master Theorem yielding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4157662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DM Sans"/>
              </a:rPr>
              <a:t>For a 10,000-digit number, traditional math requires roughly 100 million operations. Karatsuba requires approximately 2 million. This is a paradigm shift in performance.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3755975"/>
            <a:ext cx="916930" cy="2302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5088"/>
                </a:solidFill>
                <a:latin typeface="Merriweather"/>
              </a:rPr>
              <a:t>Complexity Breakthrough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62050"/>
            <a:ext cx="5429250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162050"/>
            <a:ext cx="542925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10. Advantages vs. Disadvantages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485775"/>
            <a:ext cx="17907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2325" y="6524625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11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1400175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Key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175" y="1400175"/>
            <a:ext cx="46863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B91C1C"/>
                </a:solidFill>
                <a:latin typeface="Plus Jakarta Sans"/>
              </a:rPr>
              <a:t>Key Disadvantages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423987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025" y="1733550"/>
            <a:ext cx="4762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25" b="1" i="0" u="none" dirty="0">
                <a:solidFill>
                  <a:srgbClr val="475569"/>
                </a:solidFill>
                <a:latin typeface="Inter"/>
              </a:rPr>
              <a:t>S</a:t>
            </a:r>
            <a:r>
              <a:rPr lang="en-IN" sz="1200" b="1"/>
              <a:t>Faster for large numbers:</a:t>
            </a:r>
            <a:r>
              <a:rPr lang="en-IN" sz="1200"/>
              <a:t> Karatsuba is faster than traditional multiplication when the numbers are large.</a:t>
            </a:r>
            <a:endParaRPr sz="1125" b="0" i="0" u="none">
              <a:solidFill>
                <a:srgbClr val="475569"/>
              </a:solidFill>
              <a:latin typeface="In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62025" y="2238375"/>
                <a:ext cx="4762500" cy="6252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IN" sz="1200" b="1" dirty="0"/>
                  <a:t>Better time complexity:</a:t>
                </a:r>
                <a:r>
                  <a:rPr lang="en-IN" sz="1200" dirty="0"/>
                  <a:t> It has a time complexity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1.585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1200" dirty="0"/>
                  <a:t>, which is better than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1200" dirty="0"/>
                  <a:t>.</a:t>
                </a:r>
                <a:endParaRPr sz="1125" b="0" i="0" u="none" dirty="0">
                  <a:solidFill>
                    <a:srgbClr val="475569"/>
                  </a:solidFill>
                  <a:latin typeface="Inter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5" y="2238375"/>
                <a:ext cx="4762500" cy="625299"/>
              </a:xfrm>
              <a:prstGeom prst="rect">
                <a:avLst/>
              </a:prstGeom>
              <a:blipFill>
                <a:blip r:embed="rId7"/>
                <a:stretch>
                  <a:fillRect l="-2049" r="-1024" b="-9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62025" y="2919412"/>
            <a:ext cx="4762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/>
              <a:t>Scalable:</a:t>
            </a:r>
            <a:r>
              <a:rPr lang="en-IN" sz="1200" dirty="0"/>
              <a:t> It performs efficiently as the number of digits increases.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1423987"/>
            <a:ext cx="1714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7975" y="1733550"/>
            <a:ext cx="4762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/>
              <a:t>Complex implementation:</a:t>
            </a:r>
            <a:r>
              <a:rPr lang="en-IN" sz="1200" dirty="0"/>
              <a:t> Karatsuba is more difficult to implement than traditional multiplication.</a:t>
            </a:r>
            <a:endParaRPr sz="112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7975" y="2238375"/>
            <a:ext cx="4762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/>
              <a:t>Extra memory:</a:t>
            </a:r>
            <a:r>
              <a:rPr lang="en-IN" sz="1200" dirty="0"/>
              <a:t> It requires additional memory for recursive calls and intermediate calculations.</a:t>
            </a:r>
            <a:endParaRPr sz="112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57975" y="2743200"/>
            <a:ext cx="47625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200" b="1" dirty="0"/>
              <a:t>Not suitable for small numbers:</a:t>
            </a:r>
            <a:r>
              <a:rPr lang="en-IN" sz="1200" dirty="0"/>
              <a:t> For small numbers, the overhead of recursion can make it slower.</a:t>
            </a:r>
            <a:endParaRPr sz="1125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1525" y="17145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22193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862" y="28670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17145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22193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27241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366F1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66687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666875"/>
            <a:ext cx="5000625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/>
              <a:t>Public-Key Cryptography: </a:t>
            </a:r>
            <a:r>
              <a:rPr lang="en-IN" sz="1600" dirty="0"/>
              <a:t> Systems like RSA rely on performing arithmetic operations involving very large prime numbers, often hundreds or thousands of digits long, to help secure communications.</a:t>
            </a:r>
            <a:endParaRPr sz="1500" b="0" i="0" u="none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7249" y="3182702"/>
            <a:ext cx="50006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b="1" dirty="0"/>
              <a:t>Big Integer Calculations</a:t>
            </a:r>
            <a:r>
              <a:rPr sz="1500" b="1" i="0" u="none" dirty="0">
                <a:solidFill>
                  <a:srgbClr val="334155"/>
                </a:solidFill>
                <a:latin typeface="DM Sans"/>
              </a:rPr>
              <a:t>: </a:t>
            </a:r>
            <a:r>
              <a:rPr lang="en-IN" sz="1600" dirty="0"/>
              <a:t>Programming languages and libraries sometimes need to work with numbers that are much larger than normal integer limits.</a:t>
            </a:r>
            <a:endParaRPr sz="1500" i="0" u="none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7248" y="4448879"/>
            <a:ext cx="50006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4155"/>
                </a:solidFill>
                <a:latin typeface="DM Sans"/>
              </a:rPr>
              <a:t>Scientific Research:</a:t>
            </a:r>
            <a:r>
              <a:rPr sz="150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IN" sz="1600" dirty="0"/>
              <a:t>Scientific research sometimes requires calculations with numbers containing thousands or millions of digits.</a:t>
            </a:r>
            <a:endParaRPr sz="1500" i="0" u="none" dirty="0">
              <a:solidFill>
                <a:srgbClr val="334155"/>
              </a:solidFill>
              <a:latin typeface="DM San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1704975"/>
            <a:ext cx="5210175" cy="3733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68592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1CAA0"/>
                </a:solidFill>
                <a:latin typeface="DM Sans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4" y="3228975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11CAA0"/>
                </a:solidFill>
                <a:latin typeface="DM Sans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689" y="4448879"/>
            <a:ext cx="76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11CAA0"/>
                </a:solidFill>
                <a:latin typeface="DM Sans"/>
              </a:rPr>
              <a:t>■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5495925"/>
            <a:ext cx="96291" cy="95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5088"/>
                </a:solidFill>
                <a:latin typeface="Merriweather"/>
              </a:rPr>
              <a:t>Real-World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2217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6419850"/>
            <a:ext cx="111252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33400" y="2454324"/>
            <a:ext cx="3555950" cy="1625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317950" y="2454324"/>
            <a:ext cx="3555950" cy="162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102500" y="2454324"/>
            <a:ext cx="3556099" cy="162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6586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13. Summary &amp; 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91440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6524625"/>
            <a:ext cx="2019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Karatsuba Multiplication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0" y="6524625"/>
            <a:ext cx="704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14 of 14</a:t>
            </a: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771525" y="2721024"/>
            <a:ext cx="3079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B82F6"/>
                </a:solidFill>
                <a:latin typeface="Inter ExtraBold"/>
              </a:rPr>
              <a:t>1960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71525" y="3168699"/>
            <a:ext cx="307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Historic Breakthrough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71525" y="3406824"/>
            <a:ext cx="3079700" cy="374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Proved that integer multiplication can be computed faster than classical O(n^2) time.</a:t>
            </a: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4556075" y="2721024"/>
            <a:ext cx="3079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0B981"/>
                </a:solidFill>
                <a:latin typeface="Inter ExtraBold"/>
              </a:rPr>
              <a:t>4 → 3</a:t>
            </a: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4556075" y="3168699"/>
            <a:ext cx="3079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Multiplication Reduction</a:t>
            </a: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4556075" y="3406824"/>
            <a:ext cx="3079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Leverages clever algebraic substitution to substitute one multiplication with additions.</a:t>
            </a:r>
          </a:p>
        </p:txBody>
      </p:sp>
      <p:sp>
        <p:nvSpPr>
          <p:cNvPr id="21" name="TextBox 20"/>
          <p:cNvSpPr txBox="1"/>
          <p:nvPr>
            <p:custDataLst>
              <p:tags r:id="rId10"/>
            </p:custDataLst>
          </p:nvPr>
        </p:nvSpPr>
        <p:spPr>
          <a:xfrm>
            <a:off x="8340625" y="2721024"/>
            <a:ext cx="307984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8B5CF6"/>
                </a:solidFill>
                <a:latin typeface="Inter ExtraBold"/>
              </a:rPr>
              <a:t>O(n</a:t>
            </a:r>
            <a:r>
              <a:rPr lang="en-IN" sz="2400" b="0" i="0" u="none" dirty="0">
                <a:solidFill>
                  <a:srgbClr val="8B5CF6"/>
                </a:solidFill>
                <a:latin typeface="Inter ExtraBold"/>
              </a:rPr>
              <a:t>^</a:t>
            </a:r>
            <a:r>
              <a:rPr sz="2400" b="0" i="0" u="none" dirty="0">
                <a:solidFill>
                  <a:srgbClr val="8B5CF6"/>
                </a:solidFill>
                <a:latin typeface="Inter ExtraBold"/>
              </a:rPr>
              <a:t>1.585)</a:t>
            </a: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8340625" y="3232100"/>
            <a:ext cx="307984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Practical Efficiency</a:t>
            </a: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8340625" y="3470225"/>
            <a:ext cx="30798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Serves as the foundation for high-performance big integer software world-wide.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0" y="2447925"/>
            <a:ext cx="9048750" cy="621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00B050"/>
                </a:solidFill>
                <a:latin typeface="DM Sans"/>
              </a:rPr>
              <a:t>Karatsuba, A., &amp; Ofman, Y. (1962). </a:t>
            </a:r>
            <a:r>
              <a:rPr sz="1650" b="0" i="1" u="none" dirty="0">
                <a:solidFill>
                  <a:srgbClr val="00B050"/>
                </a:solidFill>
                <a:latin typeface="DM Sans"/>
              </a:rPr>
              <a:t>Multiplication of Many-Digital Numbers by Automatic Computers.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00B050"/>
                </a:solidFill>
                <a:latin typeface="DM Sans"/>
              </a:rPr>
              <a:t>Doklady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00B050"/>
                </a:solidFill>
                <a:latin typeface="DM Sans"/>
              </a:rPr>
              <a:t>Akademii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</a:t>
            </a:r>
            <a:r>
              <a:rPr sz="1650" b="0" i="0" u="none" dirty="0" err="1">
                <a:solidFill>
                  <a:srgbClr val="00B050"/>
                </a:solidFill>
                <a:latin typeface="DM Sans"/>
              </a:rPr>
              <a:t>Nauk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SSSR. The foundational paper outlining the breakthrough.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3629025"/>
            <a:ext cx="904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00B050"/>
                </a:solidFill>
                <a:latin typeface="DM Sans"/>
              </a:rPr>
              <a:t>Cormen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, T. H., </a:t>
            </a:r>
            <a:r>
              <a:rPr sz="1650" b="0" i="0" u="none" dirty="0" err="1">
                <a:solidFill>
                  <a:srgbClr val="00B050"/>
                </a:solidFill>
                <a:latin typeface="DM Sans"/>
              </a:rPr>
              <a:t>Leiserson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, C. E., Rivest, R. L., &amp; Stein, C. </a:t>
            </a:r>
            <a:r>
              <a:rPr sz="1650" b="0" i="1" u="none" dirty="0">
                <a:solidFill>
                  <a:srgbClr val="00B050"/>
                </a:solidFill>
                <a:latin typeface="DM Sans"/>
              </a:rPr>
              <a:t>Introduction to Algorithms (CLRS).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A comprehensive textbook standard detailing recursive divide-and-conquer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4495800"/>
            <a:ext cx="9048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00B050"/>
                </a:solidFill>
                <a:latin typeface="DM Sans"/>
              </a:rPr>
              <a:t>Knuth, D. E. </a:t>
            </a:r>
            <a:r>
              <a:rPr sz="1650" b="0" i="1" u="none" dirty="0">
                <a:solidFill>
                  <a:srgbClr val="00B050"/>
                </a:solidFill>
                <a:latin typeface="DM Sans"/>
              </a:rPr>
              <a:t>The Art of Computer Programming, Volume 2: </a:t>
            </a:r>
            <a:r>
              <a:rPr sz="1650" b="0" i="1" u="none" dirty="0" err="1">
                <a:solidFill>
                  <a:srgbClr val="00B050"/>
                </a:solidFill>
                <a:latin typeface="DM Sans"/>
              </a:rPr>
              <a:t>Seminumerical</a:t>
            </a:r>
            <a:r>
              <a:rPr sz="1650" b="0" i="1" u="none" dirty="0">
                <a:solidFill>
                  <a:srgbClr val="00B050"/>
                </a:solidFill>
                <a:latin typeface="DM Sans"/>
              </a:rPr>
              <a:t> Algorithms.</a:t>
            </a:r>
            <a:r>
              <a:rPr sz="1650" b="0" i="0" u="none" dirty="0">
                <a:solidFill>
                  <a:srgbClr val="00B050"/>
                </a:solidFill>
                <a:latin typeface="DM Sans"/>
              </a:rPr>
              <a:t> Provides exhaustive mathematical proofs regarding integer arithmetic.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5" y="2799457"/>
            <a:ext cx="1001166" cy="23901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5745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638550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505325"/>
            <a:ext cx="20002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Merriweather"/>
              </a:rPr>
              <a:t>References &amp; Further Reading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275" y="2866774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005088"/>
                </a:solidFill>
                <a:latin typeface="Merriweather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7.99212598425197,&quot;left&quot;:42,&quot;top&quot;:193.25385826771654,&quot;width&quot;:875.9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1327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Arial</vt:lpstr>
      <vt:lpstr>Calibri</vt:lpstr>
      <vt:lpstr>Cambria Math</vt:lpstr>
      <vt:lpstr>DM Sans</vt:lpstr>
      <vt:lpstr>Fira Code</vt:lpstr>
      <vt:lpstr>Fira Code Black</vt:lpstr>
      <vt:lpstr>Inter</vt:lpstr>
      <vt:lpstr>Inter Black</vt:lpstr>
      <vt:lpstr>Inter ExtraBold</vt:lpstr>
      <vt:lpstr>Inter SemiBold</vt:lpstr>
      <vt:lpstr>Merriweather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Sukdeb Mondal</cp:lastModifiedBy>
  <cp:revision>20</cp:revision>
  <dcterms:created xsi:type="dcterms:W3CDTF">2013-01-27T09:14:00Z</dcterms:created>
  <dcterms:modified xsi:type="dcterms:W3CDTF">2026-09-16T02:23:01Z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A1B106F26255405096341B81F4A396D9_12</vt:lpwstr>
  </property>
  <property fmtid="{D5CDD505-2E9C-101B-9397-08002B2CF9AE}" pid="3" name="KSOProductBuildVer">
    <vt:lpwstr>2057-12.2.0.23206</vt:lpwstr>
  </property>
</Properties>
</file>