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73" r:id="rId10"/>
    <p:sldId id="266" r:id="rId11"/>
    <p:sldId id="267" r:id="rId12"/>
    <p:sldId id="270" r:id="rId13"/>
    <p:sldId id="269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8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7.xml"/><Relationship Id="rId18" Type="http://schemas.openxmlformats.org/officeDocument/2006/relationships/image" Target="../media/image75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image" Target="../media/image74.png"/><Relationship Id="rId2" Type="http://schemas.openxmlformats.org/officeDocument/2006/relationships/tags" Target="../tags/tag2.xml"/><Relationship Id="rId16" Type="http://schemas.openxmlformats.org/officeDocument/2006/relationships/image" Target="../media/image73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image" Target="../media/image4.png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7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69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70446" y="2447622"/>
            <a:ext cx="8851106" cy="569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5"/>
              </a:lnSpc>
            </a:pPr>
            <a:r>
              <a:rPr sz="3900" b="0" i="0" u="none" dirty="0">
                <a:solidFill>
                  <a:srgbClr val="FFFFFF"/>
                </a:solidFill>
                <a:latin typeface="Plus Jakarta Sans ExtraBold"/>
              </a:rPr>
              <a:t>Karatsuba Multiplication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49385" y="4576291"/>
            <a:ext cx="2142290" cy="57581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600" b="0" i="0" u="none" dirty="0">
                <a:solidFill>
                  <a:srgbClr val="CBD5E1"/>
                </a:solidFill>
                <a:latin typeface="Inter"/>
              </a:rPr>
              <a:t> T Anatoly Karatsuba (1960</a:t>
            </a:r>
            <a:r>
              <a:rPr sz="1050" b="0" i="0" u="none" dirty="0">
                <a:solidFill>
                  <a:srgbClr val="CBD5E1"/>
                </a:solidFill>
                <a:latin typeface="Inter"/>
              </a:rPr>
              <a:t>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6254" y="1856210"/>
            <a:ext cx="1695450" cy="3333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750" y="1856210"/>
            <a:ext cx="1800225" cy="3333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DB0B89-3C8B-C5A1-A658-81AA913EF153}"/>
              </a:ext>
            </a:extLst>
          </p:cNvPr>
          <p:cNvSpPr txBox="1"/>
          <p:nvPr/>
        </p:nvSpPr>
        <p:spPr>
          <a:xfrm>
            <a:off x="2709612" y="3121422"/>
            <a:ext cx="6882063" cy="887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50"/>
              </a:lnSpc>
            </a:pPr>
            <a:r>
              <a:rPr lang="en-US" sz="2100" b="0" i="0" u="none" dirty="0">
                <a:solidFill>
                  <a:srgbClr val="CDD6E2"/>
                </a:solidFill>
                <a:latin typeface="DM Sans"/>
              </a:rPr>
              <a:t>Conquering Large Number Multiplication with </a:t>
            </a:r>
          </a:p>
          <a:p>
            <a:pPr algn="ctr">
              <a:lnSpc>
                <a:spcPts val="3150"/>
              </a:lnSpc>
            </a:pPr>
            <a:r>
              <a:rPr lang="en-US" sz="2100" b="0" i="0" u="none" dirty="0">
                <a:solidFill>
                  <a:srgbClr val="CDD6E2"/>
                </a:solidFill>
                <a:latin typeface="DM Sans"/>
              </a:rPr>
              <a:t>Divide &amp; Conquer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885950"/>
            <a:ext cx="3337470" cy="14001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190" y="1885950"/>
            <a:ext cx="3337470" cy="14001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0980" y="1885950"/>
            <a:ext cx="3337470" cy="14001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590925"/>
            <a:ext cx="3555950" cy="18954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7950" y="3590925"/>
            <a:ext cx="3555950" cy="18954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2500" y="3590925"/>
            <a:ext cx="3556099" cy="18954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49660" y="2095500"/>
            <a:ext cx="3048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451" y="2095500"/>
            <a:ext cx="304800" cy="3048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7241" y="2095500"/>
            <a:ext cx="3048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1. Divide &amp; Conquer Paradigm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77450" y="485775"/>
            <a:ext cx="1581150" cy="2476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3400" y="1162050"/>
            <a:ext cx="111252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Divide and Conquer is an algorithmic paradigm that breaks a complex problem into smaller subproblems, solves them recursively, and combines their solutions to form the final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0900" y="6524625"/>
            <a:ext cx="6477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2 of 14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3305" y="2452687"/>
            <a:ext cx="171450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57095" y="2452687"/>
            <a:ext cx="171450" cy="266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9990" y="2495550"/>
            <a:ext cx="306428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293B"/>
                </a:solidFill>
                <a:latin typeface="Inter"/>
              </a:rPr>
              <a:t>Divide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771775"/>
            <a:ext cx="291837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Inter"/>
              </a:rPr>
              <a:t>Break the original large problem into smaller, independent subproblems of the same type.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780" y="2495550"/>
            <a:ext cx="306428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293B"/>
                </a:solidFill>
                <a:latin typeface="Inter"/>
              </a:rPr>
              <a:t>Conquer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740" y="2771775"/>
            <a:ext cx="291837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Inter"/>
              </a:rPr>
              <a:t>Solve the subproblems recursively. Base cases are reached when subproblems become trivial.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7571" y="2495550"/>
            <a:ext cx="306428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293B"/>
                </a:solidFill>
                <a:latin typeface="Inter"/>
              </a:rPr>
              <a:t>Combine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0530" y="2771775"/>
            <a:ext cx="291837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Inter"/>
              </a:rPr>
              <a:t>Merge the solutions of the subproblems to reconstruct the solution to the primary problem.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7275" y="3829050"/>
            <a:ext cx="279395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0369A1"/>
                </a:solidFill>
                <a:latin typeface="Plus Jakarta Sans"/>
              </a:rPr>
              <a:t>Classic 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3725" y="3829050"/>
            <a:ext cx="283205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A16207"/>
                </a:solidFill>
                <a:latin typeface="Plus Jakarta Sans"/>
              </a:rPr>
              <a:t>Key Advantage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6075" y="4162425"/>
            <a:ext cx="30797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713F12"/>
                </a:solidFill>
                <a:latin typeface="Inter"/>
              </a:rPr>
              <a:t>Drastically reduces structural operations by skipping redundant calculations, transforming naive quadratic approaches into sub-quadratic time bounds.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7325" y="3829050"/>
            <a:ext cx="2813149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6B21A8"/>
                </a:solidFill>
                <a:latin typeface="Plus Jakarta Sans"/>
              </a:rPr>
              <a:t>Karatsuba Application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5" y="4162425"/>
            <a:ext cx="307984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581C87"/>
                </a:solidFill>
                <a:latin typeface="Inter"/>
              </a:rPr>
              <a:t>Splits multi-digit integers into higher and lower halves, reducing total recursive multiplications required from 4 down to 3.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1525" y="3852862"/>
            <a:ext cx="190500" cy="1714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2025" y="4162425"/>
            <a:ext cx="28892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Merge Sort: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Sorting arrays in O(n log 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25" y="4452937"/>
            <a:ext cx="28892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Quick Sort: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Partition-based sorting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2025" y="4743450"/>
            <a:ext cx="28892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Binary Search: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Halving search space O(log n)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56075" y="3852862"/>
            <a:ext cx="152400" cy="17145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0625" y="3852862"/>
            <a:ext cx="171450" cy="1714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71525" y="4143375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1525" y="4433887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1525" y="4724400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1162050"/>
            <a:ext cx="5429250" cy="3314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114550"/>
            <a:ext cx="5429250" cy="12096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3476625"/>
            <a:ext cx="5429250" cy="1000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2. Classical Multiplication &amp; Its Bottleneck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8950" y="485775"/>
            <a:ext cx="1009650" cy="247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0900" y="6524625"/>
            <a:ext cx="6477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3 of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162050"/>
            <a:ext cx="57007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Inter"/>
              </a:rPr>
              <a:t>Grade-School Algorithm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504950"/>
            <a:ext cx="5429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Traditional multiplication calculates partial products by multiplying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every single digit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of the first number with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every single digit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of the second number.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8612" y="1556742"/>
            <a:ext cx="1990725" cy="1131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970"/>
              </a:lnSpc>
            </a:pPr>
            <a:r>
              <a:rPr sz="1650" b="0" i="0" u="none">
                <a:solidFill>
                  <a:srgbClr val="38BDF8"/>
                </a:solidFill>
                <a:latin typeface="Fira Code"/>
              </a:rPr>
              <a:t>1 2 3 4</a:t>
            </a:r>
            <a:r>
              <a:t>
</a:t>
            </a:r>
            <a:r>
              <a:rPr sz="1650" b="0" i="0" u="none">
                <a:solidFill>
                  <a:srgbClr val="38BDF8"/>
                </a:solidFill>
                <a:latin typeface="Fira Code"/>
              </a:rPr>
              <a:t> × 5 6 7 8</a:t>
            </a:r>
            <a:r>
              <a:t>
</a:t>
            </a:r>
            <a:r>
              <a:rPr sz="1650" b="0" i="0" u="none">
                <a:solidFill>
                  <a:srgbClr val="64748B"/>
                </a:solidFill>
                <a:latin typeface="Fira Code"/>
              </a:rPr>
              <a:t>───────────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2875" y="2802433"/>
            <a:ext cx="2362200" cy="1279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1680"/>
              </a:lnSpc>
            </a:pPr>
            <a:r>
              <a:rPr sz="1050" b="0" i="0" u="none">
                <a:solidFill>
                  <a:srgbClr val="FBBF24"/>
                </a:solidFill>
                <a:latin typeface="Fira Code"/>
              </a:rPr>
              <a:t>9 8 7 2 (4 mults)</a:t>
            </a:r>
            <a:r>
              <a:t>
</a:t>
            </a:r>
            <a:r>
              <a:rPr sz="1050" b="0" i="0" u="none">
                <a:solidFill>
                  <a:srgbClr val="FBBF24"/>
                </a:solidFill>
                <a:latin typeface="Fira Code"/>
              </a:rPr>
              <a:t> 8 6 3 8 0 (4 mults)</a:t>
            </a:r>
            <a:r>
              <a:t>
</a:t>
            </a:r>
            <a:r>
              <a:rPr sz="1050" b="0" i="0" u="none">
                <a:solidFill>
                  <a:srgbClr val="FBBF24"/>
                </a:solidFill>
                <a:latin typeface="Fira Code"/>
              </a:rPr>
              <a:t> 7 4 0 4 0 0 (4 mults)</a:t>
            </a:r>
            <a:r>
              <a:t>
</a:t>
            </a:r>
            <a:r>
              <a:rPr sz="1050" b="0" i="0" u="none">
                <a:solidFill>
                  <a:srgbClr val="FBBF24"/>
                </a:solidFill>
                <a:latin typeface="Fira Code"/>
              </a:rPr>
              <a:t> 6 1 7 0 0 0 0 (4 mults)</a:t>
            </a:r>
            <a:r>
              <a:t>
</a:t>
            </a:r>
            <a:r>
              <a:rPr sz="1050" b="0" i="0" u="none">
                <a:solidFill>
                  <a:srgbClr val="64748B"/>
                </a:solidFill>
                <a:latin typeface="Fira Code"/>
              </a:rPr>
              <a:t>───────────────</a:t>
            </a:r>
            <a:r>
              <a:t>
</a:t>
            </a:r>
            <a:r>
              <a:rPr sz="1050" b="1" i="0" u="none">
                <a:solidFill>
                  <a:srgbClr val="4ADE80"/>
                </a:solidFill>
                <a:latin typeface="Fira Code"/>
              </a:rPr>
              <a:t>Total = 16 Multiplications (4²)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2352675"/>
            <a:ext cx="46863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BE123C"/>
                </a:solidFill>
                <a:latin typeface="Plus Jakarta Sans"/>
              </a:rPr>
              <a:t>Quadratic Complexity O(n²)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525" y="2686050"/>
            <a:ext cx="4953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881337"/>
                </a:solidFill>
                <a:latin typeface="Inter"/>
              </a:rPr>
              <a:t>For two </a:t>
            </a:r>
            <a:r>
              <a:rPr sz="1050" b="0" i="1" u="none">
                <a:solidFill>
                  <a:srgbClr val="881337"/>
                </a:solidFill>
                <a:latin typeface="Inter"/>
              </a:rPr>
              <a:t>n</a:t>
            </a:r>
            <a:r>
              <a:rPr sz="1050" b="0" i="0" u="none">
                <a:solidFill>
                  <a:srgbClr val="881337"/>
                </a:solidFill>
                <a:latin typeface="Inter"/>
              </a:rPr>
              <a:t>-digit numbers, the classical method performs </a:t>
            </a:r>
            <a:r>
              <a:rPr sz="1050" b="1" i="0" u="none">
                <a:solidFill>
                  <a:srgbClr val="881337"/>
                </a:solidFill>
                <a:latin typeface="Inter"/>
              </a:rPr>
              <a:t>n² single-digit multiplications</a:t>
            </a:r>
            <a:r>
              <a:rPr sz="1050" b="0" i="0" u="none">
                <a:solidFill>
                  <a:srgbClr val="881337"/>
                </a:solidFill>
                <a:latin typeface="Inter"/>
              </a:rPr>
              <a:t> and </a:t>
            </a:r>
            <a:r>
              <a:rPr sz="1050" b="1" i="0" u="none">
                <a:solidFill>
                  <a:srgbClr val="881337"/>
                </a:solidFill>
                <a:latin typeface="Inter"/>
              </a:rPr>
              <a:t>n² additions</a:t>
            </a:r>
            <a:r>
              <a:rPr sz="1050" b="0" i="0" u="none">
                <a:solidFill>
                  <a:srgbClr val="881337"/>
                </a:solidFill>
                <a:latin typeface="Inter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325" y="3638550"/>
            <a:ext cx="51054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334155"/>
                </a:solidFill>
                <a:latin typeface="Inter SemiBold"/>
              </a:rPr>
              <a:t>Impact on Large Integers (Cryptography &amp; Science):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325" y="3857625"/>
            <a:ext cx="5105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"/>
              </a:rPr>
              <a:t>Multiplying 2,048-bit numbers (approx. 600 decimal digits) requires </a:t>
            </a:r>
            <a:r>
              <a:rPr sz="975" b="1" i="0" u="none">
                <a:solidFill>
                  <a:srgbClr val="64748B"/>
                </a:solidFill>
                <a:latin typeface="Inter"/>
              </a:rPr>
              <a:t>360,000 operations</a:t>
            </a:r>
            <a:r>
              <a:rPr sz="975" b="0" i="0" u="none">
                <a:solidFill>
                  <a:srgbClr val="64748B"/>
                </a:solidFill>
                <a:latin typeface="Inter"/>
              </a:rPr>
              <a:t> classically, making RSA and big-num operations computationally expensive.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" y="2376487"/>
            <a:ext cx="171450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1214437"/>
            <a:ext cx="5429250" cy="32670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571750"/>
            <a:ext cx="5429250" cy="16097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4130" y="3300095"/>
            <a:ext cx="2581275" cy="6381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5405" y="3257550"/>
            <a:ext cx="2581275" cy="6381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3. Karatsuba Multiplication &amp; History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25100" y="485775"/>
            <a:ext cx="1333500" cy="2476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1375" y="6524625"/>
            <a:ext cx="6572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4 of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162050"/>
            <a:ext cx="5700712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Inter"/>
              </a:rPr>
              <a:t>What is Karatsuba Algorithm?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1524000"/>
            <a:ext cx="5429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475569"/>
                </a:solidFill>
                <a:latin typeface="Inter"/>
              </a:rPr>
              <a:t>A fast divide-and-conquer algorithm that multiplies two </a:t>
            </a:r>
            <a:r>
              <a:rPr sz="1125" b="0" i="1" u="none">
                <a:solidFill>
                  <a:srgbClr val="475569"/>
                </a:solidFill>
                <a:latin typeface="Inter"/>
              </a:rPr>
              <a:t>n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-digit numbers using only </a:t>
            </a:r>
            <a:r>
              <a:rPr sz="1125" b="1" i="0" u="none">
                <a:solidFill>
                  <a:srgbClr val="475569"/>
                </a:solidFill>
                <a:latin typeface="Inter"/>
              </a:rPr>
              <a:t>3 recursive multiplications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instead of 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7282" y="1781492"/>
            <a:ext cx="2710338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581C87"/>
                </a:solidFill>
                <a:latin typeface="Inter"/>
              </a:rPr>
              <a:t>Anatoly Alexeevitch Karatsuba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1330" y="2286000"/>
            <a:ext cx="3981450" cy="9232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75" b="0" i="0" u="none">
                <a:solidFill>
                  <a:srgbClr val="7E22CE"/>
                </a:solidFill>
                <a:latin typeface="Inter"/>
              </a:rPr>
              <a:t>Soviet &amp; Russian Mathematician (1937–2008)</a:t>
            </a:r>
            <a:r>
              <a:t>
</a:t>
            </a:r>
            <a:r>
              <a:rPr sz="975" b="0" i="1" u="none">
                <a:solidFill>
                  <a:srgbClr val="7E22CE"/>
                </a:solidFill>
                <a:latin typeface="Inter"/>
              </a:rPr>
              <a:t>Published in 1962 (Proceedings of the USSR Academy of Sciences)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0145" y="2738120"/>
            <a:ext cx="46863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15803D"/>
                </a:solidFill>
                <a:latin typeface="Plus Jakarta Sans"/>
              </a:rPr>
              <a:t>Historical Landmark (1960)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445" y="3095625"/>
            <a:ext cx="49530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166534"/>
                </a:solidFill>
                <a:latin typeface="Inter"/>
              </a:rPr>
              <a:t>In 1960, legendary mathematician Andrey Kolmogorov conjectured that </a:t>
            </a:r>
            <a:r>
              <a:rPr sz="1050" b="0" i="1" u="none">
                <a:solidFill>
                  <a:srgbClr val="166534"/>
                </a:solidFill>
                <a:latin typeface="Inter"/>
              </a:rPr>
              <a:t>O(n²)</a:t>
            </a:r>
            <a:r>
              <a:rPr sz="1050" b="0" i="0" u="none">
                <a:solidFill>
                  <a:srgbClr val="166534"/>
                </a:solidFill>
                <a:latin typeface="Inter"/>
              </a:rPr>
              <a:t> was the theoretical minimum. 23-year-old student </a:t>
            </a:r>
            <a:r>
              <a:rPr sz="1050" b="1" i="0" u="none">
                <a:solidFill>
                  <a:srgbClr val="166534"/>
                </a:solidFill>
                <a:latin typeface="Inter"/>
              </a:rPr>
              <a:t>Anatoly Karatsuba</a:t>
            </a:r>
            <a:r>
              <a:rPr sz="1050" b="0" i="0" u="none">
                <a:solidFill>
                  <a:srgbClr val="166534"/>
                </a:solidFill>
                <a:latin typeface="Inter"/>
              </a:rPr>
              <a:t> disproved Kolmogorov's conjecture within a week by discovering this algorithm!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525" y="2395537"/>
            <a:ext cx="171450" cy="1714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60185" y="3362325"/>
            <a:ext cx="23336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64748B"/>
                </a:solidFill>
                <a:latin typeface="Inter"/>
              </a:rPr>
              <a:t>Classical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7955" y="3600450"/>
            <a:ext cx="233362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F4444"/>
                </a:solidFill>
                <a:latin typeface="Inter"/>
              </a:rPr>
              <a:t>O(n²)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230" y="3362325"/>
            <a:ext cx="23336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166534"/>
                </a:solidFill>
                <a:latin typeface="Inter"/>
              </a:rPr>
              <a:t>Karatsuba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3055" y="3552825"/>
            <a:ext cx="2333625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 dirty="0">
                <a:solidFill>
                  <a:srgbClr val="16A34A"/>
                </a:solidFill>
                <a:latin typeface="Inter"/>
              </a:rPr>
              <a:t>O(n</a:t>
            </a:r>
            <a:r>
              <a:rPr lang="en-IN" sz="1350" b="1" i="0" u="none" dirty="0">
                <a:solidFill>
                  <a:srgbClr val="16A34A"/>
                </a:solidFill>
                <a:latin typeface="Inter"/>
              </a:rPr>
              <a:t>^</a:t>
            </a:r>
            <a:r>
              <a:rPr sz="1350" b="1" i="0" u="none" dirty="0">
                <a:solidFill>
                  <a:srgbClr val="16A34A"/>
                </a:solidFill>
                <a:latin typeface="Inter"/>
              </a:rPr>
              <a:t>1.585)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676400"/>
            <a:ext cx="11125200" cy="6381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200400"/>
            <a:ext cx="11125200" cy="25069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5214620"/>
            <a:ext cx="1064895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525" y="3848100"/>
            <a:ext cx="3397150" cy="6667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7275" y="3848100"/>
            <a:ext cx="3397299" cy="6667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3175" y="3848100"/>
            <a:ext cx="3397150" cy="666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4. The Mathematical Idea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25125" y="485775"/>
            <a:ext cx="1133475" cy="2476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" y="1162050"/>
            <a:ext cx="11125200" cy="347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Let X and Y be two n-digit numbers represented in base 10 (or base 2). Split both numbers into high-order (a, c) and low-order (b, d) halves with m = n/2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2505075"/>
            <a:ext cx="11125200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Inter"/>
              </a:rPr>
              <a:t>Standard expansion requires </a:t>
            </a:r>
            <a:r>
              <a:rPr sz="1050" b="1" i="0" u="none">
                <a:solidFill>
                  <a:srgbClr val="475569"/>
                </a:solidFill>
                <a:latin typeface="Inter"/>
              </a:rPr>
              <a:t>4 multiplications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(ac, ad, bc, bd):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2781300"/>
            <a:ext cx="111252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64748B"/>
                </a:solidFill>
                <a:latin typeface="Fira Code"/>
              </a:rPr>
              <a:t>X × Y = (a·10m + b)(c·10m + d) = </a:t>
            </a:r>
            <a:r>
              <a:rPr sz="1350" b="1" i="0" u="none">
                <a:solidFill>
                  <a:srgbClr val="EF4444"/>
                </a:solidFill>
                <a:latin typeface="Fira Code"/>
              </a:rPr>
              <a:t>ac</a:t>
            </a:r>
            <a:r>
              <a:rPr sz="1350" b="0" i="0" u="none">
                <a:solidFill>
                  <a:srgbClr val="64748B"/>
                </a:solidFill>
                <a:latin typeface="Fira Code"/>
              </a:rPr>
              <a:t>·102m + (</a:t>
            </a:r>
            <a:r>
              <a:rPr sz="1350" b="1" i="0" u="none">
                <a:solidFill>
                  <a:srgbClr val="EF4444"/>
                </a:solidFill>
                <a:latin typeface="Fira Code"/>
              </a:rPr>
              <a:t>ad + bc</a:t>
            </a:r>
            <a:r>
              <a:rPr sz="1350" b="0" i="0" u="none">
                <a:solidFill>
                  <a:srgbClr val="64748B"/>
                </a:solidFill>
                <a:latin typeface="Fira Code"/>
              </a:rPr>
              <a:t>)·10m + </a:t>
            </a:r>
            <a:r>
              <a:rPr sz="1350" b="1" i="0" u="none">
                <a:solidFill>
                  <a:srgbClr val="EF4444"/>
                </a:solidFill>
                <a:latin typeface="Fira Code"/>
              </a:rPr>
              <a:t>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0900" y="6524625"/>
            <a:ext cx="6477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5 of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275" y="3438525"/>
            <a:ext cx="103632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15803D"/>
                </a:solidFill>
                <a:latin typeface="Plus Jakarta Sans"/>
              </a:rPr>
              <a:t>Karatsuba's Algebraic Magic (3 Multiplications)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" y="3462337"/>
            <a:ext cx="19050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0321" y="1910506"/>
            <a:ext cx="1246882" cy="156418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4796" y="1910506"/>
            <a:ext cx="1246882" cy="1564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227212" y="4010025"/>
            <a:ext cx="4857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166534"/>
                </a:solidFill>
                <a:latin typeface="Inter SemiBold"/>
              </a:rPr>
              <a:t>P1 (High)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025" y="4750435"/>
            <a:ext cx="3149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5803D"/>
                </a:solidFill>
                <a:latin typeface="Fira Code"/>
              </a:rPr>
              <a:t>P1 = a ×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7726" y="4010025"/>
            <a:ext cx="476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166534"/>
                </a:solidFill>
                <a:latin typeface="Inter SemiBold"/>
              </a:rPr>
              <a:t>P2 (Low)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4925" y="4750435"/>
            <a:ext cx="314964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5803D"/>
                </a:solidFill>
                <a:latin typeface="Fira Code"/>
              </a:rPr>
              <a:t>P2 = b ×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0738" y="4010025"/>
            <a:ext cx="9620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u="none">
                <a:solidFill>
                  <a:srgbClr val="166534"/>
                </a:solidFill>
                <a:latin typeface="Inter SemiBold"/>
              </a:rPr>
              <a:t>P3 (Sum Product)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0825" y="4750435"/>
            <a:ext cx="3149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5803D"/>
                </a:solidFill>
                <a:latin typeface="Fira Code"/>
              </a:rPr>
              <a:t>P3 = (a + b)(c + 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1162050"/>
            <a:ext cx="5429250" cy="387548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162050"/>
            <a:ext cx="542925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1885950"/>
            <a:ext cx="5429250" cy="419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2419350"/>
            <a:ext cx="5429250" cy="876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3409950"/>
            <a:ext cx="5429250" cy="419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3943350"/>
            <a:ext cx="5429250" cy="419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5. Step-by-Step Algorithm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58450" y="485775"/>
            <a:ext cx="1200150" cy="2476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10900" y="6524625"/>
            <a:ext cx="6477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6 of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9375" y="1362075"/>
            <a:ext cx="5029200" cy="198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64748B"/>
                </a:solidFill>
                <a:latin typeface="Fira Code"/>
              </a:rPr>
              <a:t>// Karatsuba Pseudocode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9375" y="1645890"/>
            <a:ext cx="609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F43F5E"/>
                </a:solidFill>
                <a:latin typeface="Fira Code"/>
              </a:rPr>
              <a:t>function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5175" y="1645890"/>
            <a:ext cx="6858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38BDF8"/>
                </a:solidFill>
                <a:latin typeface="Fira Code"/>
              </a:rPr>
              <a:t>karatsuba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1775" y="1843980"/>
            <a:ext cx="1524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F43F5E"/>
                </a:solidFill>
                <a:latin typeface="Fira Code"/>
              </a:rPr>
              <a:t>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3775" y="1843980"/>
            <a:ext cx="1524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F43F5E"/>
                </a:solidFill>
                <a:latin typeface="Fira Code"/>
              </a:rPr>
              <a:t>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4175" y="2042070"/>
            <a:ext cx="4572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F43F5E"/>
                </a:solidFill>
                <a:latin typeface="Fira Code"/>
              </a:rPr>
              <a:t>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1775" y="4648944"/>
            <a:ext cx="4572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0" u="none">
                <a:solidFill>
                  <a:srgbClr val="F43F5E"/>
                </a:solidFill>
                <a:latin typeface="Fira Code"/>
              </a:rPr>
              <a:t>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429000"/>
            <a:ext cx="11125200" cy="955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162050"/>
            <a:ext cx="5429250" cy="7429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162050"/>
            <a:ext cx="5429250" cy="7429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2057400"/>
            <a:ext cx="3555950" cy="1219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7950" y="2057400"/>
            <a:ext cx="3555950" cy="1219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2500" y="2057400"/>
            <a:ext cx="3556099" cy="1219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375" y="3886200"/>
            <a:ext cx="10763250" cy="317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7. Worked Example: 1234 × 5678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96475" y="485775"/>
            <a:ext cx="1762125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0900" y="6524625"/>
            <a:ext cx="6477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8 of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375" y="3609975"/>
            <a:ext cx="10763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6B21A8"/>
                </a:solidFill>
                <a:latin typeface="Inter"/>
              </a:rPr>
              <a:t>1. Middle Term Computation:</a:t>
            </a:r>
            <a:r>
              <a:rPr sz="1200" b="0" i="0" u="none">
                <a:solidFill>
                  <a:srgbClr val="334155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581C87"/>
                </a:solidFill>
                <a:latin typeface="Inter SemiBold"/>
              </a:rPr>
              <a:t>Middle = P3 - P1 - P2 = 6164 - 672 - 2652 = </a:t>
            </a:r>
            <a:r>
              <a:rPr sz="1200" b="0" i="0" u="none">
                <a:solidFill>
                  <a:srgbClr val="581C87"/>
                </a:solidFill>
                <a:latin typeface="Inter Black"/>
              </a:rPr>
              <a:t>2840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75" y="1333500"/>
            <a:ext cx="7334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Input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" y="1533525"/>
            <a:ext cx="5143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Fira Code"/>
              </a:rPr>
              <a:t>X = 1234, Y = 5678 (n = 4, m = 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2225" y="1333500"/>
            <a:ext cx="9810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Inter SemiBold"/>
              </a:rPr>
              <a:t>High / Low Splits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2225" y="1533525"/>
            <a:ext cx="5143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338CA"/>
                </a:solidFill>
                <a:latin typeface="Fira Code"/>
              </a:rPr>
              <a:t>a = 12, b = 34 | c = 56, d = 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525" y="2295525"/>
            <a:ext cx="30797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E7490"/>
                </a:solidFill>
                <a:latin typeface="Inter"/>
              </a:rPr>
              <a:t>P1 = a ×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525" y="2533650"/>
            <a:ext cx="30797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E7490"/>
                </a:solidFill>
                <a:latin typeface="Fira Code"/>
              </a:rPr>
              <a:t>12 × 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525" y="2790825"/>
            <a:ext cx="3079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E7490"/>
                </a:solidFill>
                <a:latin typeface="Fira Code"/>
              </a:rPr>
              <a:t>= 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6075" y="2295525"/>
            <a:ext cx="30797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730A3"/>
                </a:solidFill>
                <a:latin typeface="Inter"/>
              </a:rPr>
              <a:t>P2 = b ×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6075" y="2533650"/>
            <a:ext cx="30797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730A3"/>
                </a:solidFill>
                <a:latin typeface="Fira Code"/>
              </a:rPr>
              <a:t>34 × 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6075" y="2790825"/>
            <a:ext cx="3079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3730A3"/>
                </a:solidFill>
                <a:latin typeface="Fira Code"/>
              </a:rPr>
              <a:t>= 2652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0625" y="2295525"/>
            <a:ext cx="3079849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5803D"/>
                </a:solidFill>
                <a:latin typeface="Inter"/>
              </a:rPr>
              <a:t>P3 = (a+b)(c+d)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0625" y="2533650"/>
            <a:ext cx="30798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15803D"/>
                </a:solidFill>
                <a:latin typeface="Fira Code"/>
              </a:rPr>
              <a:t>(12+34) × (56+78) = 46 × 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5" y="2790825"/>
            <a:ext cx="307984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5803D"/>
                </a:solidFill>
                <a:latin typeface="Fira Code"/>
              </a:rPr>
              <a:t>= 6164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375" y="3997225"/>
            <a:ext cx="220027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6B21A8"/>
                </a:solidFill>
                <a:latin typeface="Inter"/>
              </a:rPr>
              <a:t>2. Final Combination Assembly: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10475" y="3971925"/>
            <a:ext cx="38671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15803D"/>
                </a:solidFill>
                <a:latin typeface="Fira Code"/>
              </a:rPr>
              <a:t>672 × 104 + 2840 × 102 + 2652 = </a:t>
            </a:r>
            <a:r>
              <a:rPr sz="1200" b="0" i="0" u="none" dirty="0">
                <a:solidFill>
                  <a:srgbClr val="15803D"/>
                </a:solidFill>
                <a:latin typeface="Fira Code Black"/>
              </a:rPr>
              <a:t>70</a:t>
            </a:r>
            <a:r>
              <a:rPr lang="en-IN" sz="1200" b="0" i="0" u="none" dirty="0">
                <a:solidFill>
                  <a:srgbClr val="15803D"/>
                </a:solidFill>
                <a:latin typeface="Fira Code Black"/>
              </a:rPr>
              <a:t>,</a:t>
            </a:r>
            <a:r>
              <a:rPr sz="1200" b="0" i="0" u="none" dirty="0">
                <a:solidFill>
                  <a:srgbClr val="15803D"/>
                </a:solidFill>
                <a:latin typeface="Fira Code Black"/>
              </a:rPr>
              <a:t>06,652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1162050"/>
            <a:ext cx="5429250" cy="30661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914525"/>
            <a:ext cx="5429250" cy="571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3713857"/>
            <a:ext cx="5429250" cy="5143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8. Time Complexity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8900" y="485775"/>
            <a:ext cx="1409700" cy="247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0900" y="6524625"/>
            <a:ext cx="6477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9 of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162050"/>
            <a:ext cx="570071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Inter"/>
              </a:rPr>
              <a:t>Recurrence Relation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476375"/>
            <a:ext cx="5429250" cy="32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Inter"/>
              </a:rPr>
              <a:t>The execution splits an n-digit problem into </a:t>
            </a:r>
            <a:r>
              <a:rPr sz="1050" b="1" i="0" u="none">
                <a:solidFill>
                  <a:srgbClr val="475569"/>
                </a:solidFill>
                <a:latin typeface="Inter"/>
              </a:rPr>
              <a:t>3 subproblems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of size n/2, plus O(n) additions and digit shifts: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2638425"/>
            <a:ext cx="5700712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E293B"/>
                </a:solidFill>
                <a:latin typeface="Inter"/>
              </a:rPr>
              <a:t>Applying Master Theorem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3650" y="1707653"/>
            <a:ext cx="52006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E293B"/>
                </a:solidFill>
                <a:latin typeface="Inter"/>
              </a:rPr>
              <a:t>Operations Comparison by Digit Count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928999"/>
              </p:ext>
            </p:extLst>
          </p:nvPr>
        </p:nvGraphicFramePr>
        <p:xfrm>
          <a:off x="6467475" y="2050553"/>
          <a:ext cx="4952998" cy="1631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22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39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6380"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E293B"/>
                          </a:solidFill>
                          <a:latin typeface="Fira Code"/>
                        </a:rPr>
                        <a:t>Digits (n)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E293B"/>
                          </a:solidFill>
                          <a:latin typeface="Fira Code"/>
                        </a:rPr>
                        <a:t>Classical O(n²)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 dirty="0">
                          <a:solidFill>
                            <a:srgbClr val="16A34A"/>
                          </a:solidFill>
                          <a:latin typeface="Fira Code"/>
                        </a:rPr>
                        <a:t>Karatsuba O(n</a:t>
                      </a:r>
                      <a:r>
                        <a:rPr lang="en-IN" sz="975" b="1" i="0" u="none" dirty="0">
                          <a:solidFill>
                            <a:srgbClr val="16A34A"/>
                          </a:solidFill>
                          <a:latin typeface="Fira Code"/>
                        </a:rPr>
                        <a:t>^</a:t>
                      </a:r>
                      <a:r>
                        <a:rPr sz="975" b="1" i="0" u="none" dirty="0">
                          <a:solidFill>
                            <a:srgbClr val="16A34A"/>
                          </a:solidFill>
                          <a:latin typeface="Fira Code"/>
                        </a:rPr>
                        <a:t>1.585)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1E293B"/>
                          </a:solidFill>
                          <a:latin typeface="Fira Code"/>
                        </a:rPr>
                        <a:t>Speedup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80"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~ 38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2563EB"/>
                          </a:solidFill>
                          <a:latin typeface="Fira Code"/>
                        </a:rPr>
                        <a:t>2.6x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80"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~ 1,479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2563EB"/>
                          </a:solidFill>
                          <a:latin typeface="Fira Code"/>
                        </a:rPr>
                        <a:t>6.8x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380"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1,000,000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~ 56,885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>
                          <a:solidFill>
                            <a:srgbClr val="2563EB"/>
                          </a:solidFill>
                          <a:latin typeface="Fira Code"/>
                        </a:rPr>
                        <a:t>17.6x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80"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100,000,000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 i="0" u="none">
                          <a:solidFill>
                            <a:srgbClr val="334155"/>
                          </a:solidFill>
                          <a:latin typeface="Fira Code"/>
                        </a:rPr>
                        <a:t>~ 2,187,761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 i="0" u="none" dirty="0">
                          <a:solidFill>
                            <a:srgbClr val="2563EB"/>
                          </a:solidFill>
                          <a:latin typeface="Fira Code"/>
                        </a:rPr>
                        <a:t>45.7x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71525" y="2076450"/>
            <a:ext cx="49911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6B21A8"/>
                </a:solidFill>
                <a:latin typeface="Fira Code"/>
              </a:rPr>
              <a:t>T(n) = 3 T(n / 2) + O(n)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90703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2905125"/>
            <a:ext cx="5429250" cy="21327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Form: T(n) = a T(n/b) + f(n) where a = 3, b =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203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3118395"/>
            <a:ext cx="5429250" cy="242589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Critical exponent: c = logb(a) = log2(3) ≈ 1.585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6289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3360985"/>
            <a:ext cx="5429250" cy="199029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050" b="0" i="0" u="none" dirty="0">
                <a:solidFill>
                  <a:srgbClr val="475569"/>
                </a:solidFill>
                <a:latin typeface="Inter"/>
              </a:rPr>
              <a:t>Since f(n) = O(n1) &lt; O(n</a:t>
            </a:r>
            <a:r>
              <a:rPr lang="en-IN" sz="1050" b="0" i="0" u="none" dirty="0">
                <a:solidFill>
                  <a:srgbClr val="475569"/>
                </a:solidFill>
                <a:latin typeface="Inter"/>
              </a:rPr>
              <a:t>^</a:t>
            </a:r>
            <a:r>
              <a:rPr sz="1050" b="0" i="0" u="none" dirty="0">
                <a:solidFill>
                  <a:srgbClr val="475569"/>
                </a:solidFill>
                <a:latin typeface="Inter"/>
              </a:rPr>
              <a:t>1.585), Case 1 applies: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2652712"/>
            <a:ext cx="5286375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sz="10500" b="1" i="0" u="none">
                <a:solidFill>
                  <a:srgbClr val="005088"/>
                </a:solidFill>
                <a:latin typeface="Merriweather"/>
              </a:rPr>
              <a:t>1.585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4081462"/>
            <a:ext cx="5286375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rgbClr val="334155"/>
                </a:solidFill>
                <a:latin typeface="DM Sans"/>
              </a:rPr>
              <a:t>Exponent in Time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4125" y="2652712"/>
            <a:ext cx="5550693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05088"/>
                </a:solidFill>
                <a:latin typeface="Merriweather"/>
              </a:rPr>
              <a:t>Sub-Quadratic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4125" y="3157537"/>
            <a:ext cx="528637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334155"/>
                </a:solidFill>
                <a:latin typeface="DM Sans"/>
              </a:rPr>
              <a:t>Because the algorithm structurally branches into 3 subproblems instead of 4, the runtime follows the Master Theorem yielding 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4125" y="4157662"/>
            <a:ext cx="528637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334155"/>
                </a:solidFill>
                <a:latin typeface="DM Sans"/>
              </a:rPr>
              <a:t>For a 10,000-digit number, traditional math requires roughly 100 million operations. Karatsuba requires approximately 2 million. This is a paradigm shift in performance.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0" y="3755975"/>
            <a:ext cx="916930" cy="2302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05088"/>
                </a:solidFill>
                <a:latin typeface="Merriweather"/>
              </a:rPr>
              <a:t>Complexity Breakthrough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62050"/>
            <a:ext cx="5429250" cy="28289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1162050"/>
            <a:ext cx="5429250" cy="28289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10. Advantages vs. Disadvantages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7900" y="485775"/>
            <a:ext cx="1790700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82325" y="6524625"/>
            <a:ext cx="6762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11 of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1400175"/>
            <a:ext cx="46863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15803D"/>
                </a:solidFill>
                <a:latin typeface="Plus Jakarta Sans"/>
              </a:rPr>
              <a:t>Key Advantages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175" y="1400175"/>
            <a:ext cx="46863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B91C1C"/>
                </a:solidFill>
                <a:latin typeface="Plus Jakarta Sans"/>
              </a:rPr>
              <a:t>Key Disadvantages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525" y="1423987"/>
            <a:ext cx="171450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2025" y="1733550"/>
            <a:ext cx="47625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Sub-quadratic Speed: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Reduces algorithmic complexity from O(n^2) to O(n^1.585).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025" y="2238375"/>
            <a:ext cx="47625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Fewer Multiplications: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Replaces expensive digit multiplications with cheaper additions/subtractions.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2025" y="2743200"/>
            <a:ext cx="47625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Scalability: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Performs exceptionally well on multi-thousand-digit numbers.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3248025"/>
            <a:ext cx="47625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Foundational Design: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Paved the way for Toom-Cook and FFT-based multiplication algorithms.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7475" y="1423987"/>
            <a:ext cx="171450" cy="171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57975" y="1733550"/>
            <a:ext cx="47625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Implementation Complexity: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Harder to code correctly and optimize compared to standard grade-school loops.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7975" y="2238375"/>
            <a:ext cx="47625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Extra Memory Footprint: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Requires auxiliary space O(n) for call stacks and intermediate arrays.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7975" y="2743200"/>
            <a:ext cx="47625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5"/>
              </a:lnSpc>
            </a:pPr>
            <a:r>
              <a:rPr sz="1125" b="1" i="0" u="none">
                <a:solidFill>
                  <a:srgbClr val="475569"/>
                </a:solidFill>
                <a:latin typeface="Inter"/>
              </a:rPr>
              <a:t>Higher Constant Factors:</a:t>
            </a:r>
            <a:r>
              <a:rPr sz="1125" b="0" i="0" u="none">
                <a:solidFill>
                  <a:srgbClr val="475569"/>
                </a:solidFill>
                <a:latin typeface="Inter"/>
              </a:rPr>
              <a:t> Extra additions and bit-shifts add overhead for small numbers.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525" y="1714500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525" y="2219325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525" y="2724150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525" y="3228975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7475" y="1714500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7475" y="2219325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7475" y="2724150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6366F1"/>
                </a:solidFill>
                <a:latin typeface="Inter"/>
              </a:rPr>
              <a:t>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62050"/>
            <a:ext cx="11125200" cy="280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11. Integer Multiplication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800" y="485775"/>
            <a:ext cx="1447800" cy="247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63275" y="6524625"/>
            <a:ext cx="6953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12 of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473032"/>
              </p:ext>
            </p:extLst>
          </p:nvPr>
        </p:nvGraphicFramePr>
        <p:xfrm>
          <a:off x="542925" y="1171575"/>
          <a:ext cx="11106149" cy="2784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17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65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382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404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Algorithm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Time Complexity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Year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Primary Use Case / Practicality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04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E293B"/>
                          </a:solidFill>
                          <a:latin typeface="Inter"/>
                        </a:rPr>
                        <a:t>Grade-School (Classical)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EF4444"/>
                          </a:solidFill>
                          <a:latin typeface="Fira Code"/>
                        </a:rPr>
                        <a:t>O(n²)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Inter"/>
                        </a:rPr>
                        <a:t>Antiquity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Small numbers (&lt; 32–64 bits), hardware ALU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04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5803D"/>
                          </a:solidFill>
                          <a:latin typeface="Inter"/>
                        </a:rPr>
                        <a:t>Karatsuba Multiplication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 dirty="0">
                          <a:solidFill>
                            <a:srgbClr val="16A34A"/>
                          </a:solidFill>
                          <a:latin typeface="Fira Code"/>
                        </a:rPr>
                        <a:t>O(n</a:t>
                      </a:r>
                      <a:r>
                        <a:rPr lang="en-IN" sz="1050" b="1" i="0" u="none" dirty="0">
                          <a:solidFill>
                            <a:srgbClr val="16A34A"/>
                          </a:solidFill>
                          <a:latin typeface="Fira Code"/>
                        </a:rPr>
                        <a:t>^</a:t>
                      </a:r>
                      <a:r>
                        <a:rPr sz="1050" b="1" i="0" u="none" dirty="0">
                          <a:solidFill>
                            <a:srgbClr val="16A34A"/>
                          </a:solidFill>
                          <a:latin typeface="Fira Code"/>
                        </a:rPr>
                        <a:t>1.585)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15803D"/>
                          </a:solidFill>
                          <a:latin typeface="Inter SemiBold"/>
                        </a:rPr>
                        <a:t>1960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166534"/>
                          </a:solidFill>
                          <a:latin typeface="Inter"/>
                        </a:rPr>
                        <a:t>Medium-large numbers (30–300 digits)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04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E293B"/>
                          </a:solidFill>
                          <a:latin typeface="Inter"/>
                        </a:rPr>
                        <a:t>Toom-Cook (Toom-3)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>
                          <a:solidFill>
                            <a:srgbClr val="2563EB"/>
                          </a:solidFill>
                          <a:latin typeface="Fira Code"/>
                        </a:rPr>
                        <a:t>O(n</a:t>
                      </a:r>
                      <a:r>
                        <a:rPr lang="en-IN" sz="1050" b="0" i="0" u="none">
                          <a:solidFill>
                            <a:srgbClr val="2563EB"/>
                          </a:solidFill>
                          <a:latin typeface="Fira Code"/>
                        </a:rPr>
                        <a:t>^</a:t>
                      </a:r>
                      <a:r>
                        <a:rPr sz="1050" b="0" i="0" u="none">
                          <a:solidFill>
                            <a:srgbClr val="2563EB"/>
                          </a:solidFill>
                          <a:latin typeface="Fira Code"/>
                        </a:rPr>
                        <a:t>1.465)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Inter"/>
                        </a:rPr>
                        <a:t>1963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Splits into 3 parts; large integers (300–3000 digits)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04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E293B"/>
                          </a:solidFill>
                          <a:latin typeface="Inter"/>
                        </a:rPr>
                        <a:t>Schönhage–Strassen (FFT)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7C3AED"/>
                          </a:solidFill>
                          <a:latin typeface="Fira Code"/>
                        </a:rPr>
                        <a:t>O(n log n log log 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Inter"/>
                        </a:rPr>
                        <a:t>1971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475569"/>
                          </a:solidFill>
                          <a:latin typeface="Inter"/>
                        </a:rPr>
                        <a:t>Ultra-large integers (&gt; 10,000 digits), Pi calculation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046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E293B"/>
                          </a:solidFill>
                          <a:latin typeface="Inter"/>
                        </a:rPr>
                        <a:t>Harvey–Hoeven (Fürer's variant)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0891B2"/>
                          </a:solidFill>
                          <a:latin typeface="Fira Code"/>
                        </a:rPr>
                        <a:t>O(n log n)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64748B"/>
                          </a:solidFill>
                          <a:latin typeface="Inter"/>
                        </a:rPr>
                        <a:t>2019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>
                          <a:solidFill>
                            <a:srgbClr val="475569"/>
                          </a:solidFill>
                          <a:latin typeface="Inter"/>
                        </a:rPr>
                        <a:t>Theoretical upper bound breakthrough; galactic algorithms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1666875"/>
            <a:ext cx="5286375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1666875"/>
            <a:ext cx="500062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334155"/>
                </a:solidFill>
                <a:latin typeface="DM Sans"/>
              </a:rPr>
              <a:t>Public-Key Cryptography:</a:t>
            </a:r>
            <a:r>
              <a:rPr sz="1500" b="0" i="0" u="none">
                <a:solidFill>
                  <a:srgbClr val="334155"/>
                </a:solidFill>
                <a:latin typeface="DM Sans"/>
              </a:rPr>
              <a:t> Systems like RSA and Diffie-Hellman rely on multiplying primes that are hundreds or thousands of digits long to secure web traffic.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14625"/>
            <a:ext cx="500062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334155"/>
                </a:solidFill>
                <a:latin typeface="DM Sans"/>
              </a:rPr>
              <a:t>Arbitrary-Precision Libraries:</a:t>
            </a:r>
            <a:r>
              <a:rPr sz="1500" b="0" i="0" u="none">
                <a:solidFill>
                  <a:srgbClr val="334155"/>
                </a:solidFill>
                <a:latin typeface="DM Sans"/>
              </a:rPr>
              <a:t> Core programming languages (e.g., Python's native integer handler) use Karatsuba under the hood automatically when numbers cross a specific threshold.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4048125"/>
            <a:ext cx="500062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334155"/>
                </a:solidFill>
                <a:latin typeface="DM Sans"/>
              </a:rPr>
              <a:t>Computer Algebra Systems:</a:t>
            </a:r>
            <a:r>
              <a:rPr sz="1500" b="0" i="0" u="none">
                <a:solidFill>
                  <a:srgbClr val="334155"/>
                </a:solidFill>
                <a:latin typeface="DM Sans"/>
              </a:rPr>
              <a:t> Software like Mathematica, Maple, and MATLAB use these optimizations for complex polynomial equations.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5095875"/>
            <a:ext cx="5000625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334155"/>
                </a:solidFill>
                <a:latin typeface="DM Sans"/>
              </a:rPr>
              <a:t>Scientific Research:</a:t>
            </a:r>
            <a:r>
              <a:rPr sz="1500" b="0" i="0" u="none">
                <a:solidFill>
                  <a:srgbClr val="334155"/>
                </a:solidFill>
                <a:latin typeface="DM Sans"/>
              </a:rPr>
              <a:t> High-performance computing for calculating mathematical constants ( , ) to millions of decimal places.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1704975"/>
            <a:ext cx="5210175" cy="3733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685925"/>
            <a:ext cx="762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11CAA0"/>
                </a:solidFill>
                <a:latin typeface="DM Sans"/>
              </a:rPr>
              <a:t>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733675"/>
            <a:ext cx="762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11CAA0"/>
                </a:solidFill>
                <a:latin typeface="DM Sans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67175"/>
            <a:ext cx="762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11CAA0"/>
                </a:solidFill>
                <a:latin typeface="DM Sans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114925"/>
            <a:ext cx="762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11CAA0"/>
                </a:solidFill>
                <a:latin typeface="DM Sans"/>
              </a:rPr>
              <a:t>■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375" y="5495925"/>
            <a:ext cx="96291" cy="952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391" y="5495925"/>
            <a:ext cx="84683" cy="95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05088"/>
                </a:solidFill>
                <a:latin typeface="Merriweather"/>
              </a:rPr>
              <a:t>Real-World Applications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-22176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6419850"/>
            <a:ext cx="11125200" cy="24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33400" y="2454324"/>
            <a:ext cx="3555950" cy="1625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4317950" y="2454324"/>
            <a:ext cx="3555950" cy="1625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8102500" y="2454324"/>
            <a:ext cx="3556099" cy="1625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400" y="419100"/>
            <a:ext cx="116586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13. Summary &amp; Conclusion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914400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3400" y="6524625"/>
            <a:ext cx="20193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Karatsuba Multiplication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0" y="6524625"/>
            <a:ext cx="7048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Inter"/>
              </a:rPr>
              <a:t>Slide 14 of 14</a:t>
            </a:r>
          </a:p>
        </p:txBody>
      </p:sp>
      <p:sp>
        <p:nvSpPr>
          <p:cNvPr id="15" name="TextBox 14"/>
          <p:cNvSpPr txBox="1"/>
          <p:nvPr>
            <p:custDataLst>
              <p:tags r:id="rId4"/>
            </p:custDataLst>
          </p:nvPr>
        </p:nvSpPr>
        <p:spPr>
          <a:xfrm>
            <a:off x="771525" y="2721024"/>
            <a:ext cx="307970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B82F6"/>
                </a:solidFill>
                <a:latin typeface="Inter ExtraBold"/>
              </a:rPr>
              <a:t>1960</a:t>
            </a:r>
          </a:p>
        </p:txBody>
      </p:sp>
      <p:sp>
        <p:nvSpPr>
          <p:cNvPr id="16" name="TextBox 15"/>
          <p:cNvSpPr txBox="1"/>
          <p:nvPr>
            <p:custDataLst>
              <p:tags r:id="rId5"/>
            </p:custDataLst>
          </p:nvPr>
        </p:nvSpPr>
        <p:spPr>
          <a:xfrm>
            <a:off x="771525" y="3168699"/>
            <a:ext cx="30797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Inter"/>
              </a:rPr>
              <a:t>Historic Breakthrough</a:t>
            </a:r>
          </a:p>
        </p:txBody>
      </p:sp>
      <p:sp>
        <p:nvSpPr>
          <p:cNvPr id="17" name="TextBox 16"/>
          <p:cNvSpPr txBox="1"/>
          <p:nvPr>
            <p:custDataLst>
              <p:tags r:id="rId6"/>
            </p:custDataLst>
          </p:nvPr>
        </p:nvSpPr>
        <p:spPr>
          <a:xfrm>
            <a:off x="771525" y="3406824"/>
            <a:ext cx="3079700" cy="374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0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Proved that integer multiplication can be computed faster than classical O(n^2) time.</a:t>
            </a:r>
          </a:p>
        </p:txBody>
      </p:sp>
      <p:sp>
        <p:nvSpPr>
          <p:cNvPr id="18" name="TextBox 17"/>
          <p:cNvSpPr txBox="1"/>
          <p:nvPr>
            <p:custDataLst>
              <p:tags r:id="rId7"/>
            </p:custDataLst>
          </p:nvPr>
        </p:nvSpPr>
        <p:spPr>
          <a:xfrm>
            <a:off x="4556075" y="2721024"/>
            <a:ext cx="307970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10B981"/>
                </a:solidFill>
                <a:latin typeface="Inter ExtraBold"/>
              </a:rPr>
              <a:t>4 → 3</a:t>
            </a:r>
          </a:p>
        </p:txBody>
      </p:sp>
      <p:sp>
        <p:nvSpPr>
          <p:cNvPr id="19" name="TextBox 18"/>
          <p:cNvSpPr txBox="1"/>
          <p:nvPr>
            <p:custDataLst>
              <p:tags r:id="rId8"/>
            </p:custDataLst>
          </p:nvPr>
        </p:nvSpPr>
        <p:spPr>
          <a:xfrm>
            <a:off x="4556075" y="3168699"/>
            <a:ext cx="30797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Inter"/>
              </a:rPr>
              <a:t>Multiplication Reduction</a:t>
            </a:r>
          </a:p>
        </p:txBody>
      </p:sp>
      <p:sp>
        <p:nvSpPr>
          <p:cNvPr id="20" name="TextBox 19"/>
          <p:cNvSpPr txBox="1"/>
          <p:nvPr>
            <p:custDataLst>
              <p:tags r:id="rId9"/>
            </p:custDataLst>
          </p:nvPr>
        </p:nvSpPr>
        <p:spPr>
          <a:xfrm>
            <a:off x="4556075" y="3406824"/>
            <a:ext cx="307970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0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Leverages clever algebraic substitution to substitute one multiplication with additions.</a:t>
            </a:r>
          </a:p>
        </p:txBody>
      </p:sp>
      <p:sp>
        <p:nvSpPr>
          <p:cNvPr id="21" name="TextBox 20"/>
          <p:cNvSpPr txBox="1"/>
          <p:nvPr>
            <p:custDataLst>
              <p:tags r:id="rId10"/>
            </p:custDataLst>
          </p:nvPr>
        </p:nvSpPr>
        <p:spPr>
          <a:xfrm>
            <a:off x="8340625" y="2721024"/>
            <a:ext cx="307984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 dirty="0">
                <a:solidFill>
                  <a:srgbClr val="8B5CF6"/>
                </a:solidFill>
                <a:latin typeface="Inter ExtraBold"/>
              </a:rPr>
              <a:t>O(n</a:t>
            </a:r>
            <a:r>
              <a:rPr lang="en-IN" sz="2400" b="0" i="0" u="none" dirty="0">
                <a:solidFill>
                  <a:srgbClr val="8B5CF6"/>
                </a:solidFill>
                <a:latin typeface="Inter ExtraBold"/>
              </a:rPr>
              <a:t>^</a:t>
            </a:r>
            <a:r>
              <a:rPr sz="2400" b="0" i="0" u="none" dirty="0">
                <a:solidFill>
                  <a:srgbClr val="8B5CF6"/>
                </a:solidFill>
                <a:latin typeface="Inter ExtraBold"/>
              </a:rPr>
              <a:t>1.585)</a:t>
            </a:r>
          </a:p>
        </p:txBody>
      </p:sp>
      <p:sp>
        <p:nvSpPr>
          <p:cNvPr id="22" name="TextBox 21"/>
          <p:cNvSpPr txBox="1"/>
          <p:nvPr>
            <p:custDataLst>
              <p:tags r:id="rId11"/>
            </p:custDataLst>
          </p:nvPr>
        </p:nvSpPr>
        <p:spPr>
          <a:xfrm>
            <a:off x="8340625" y="3232100"/>
            <a:ext cx="3079849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Inter"/>
              </a:rPr>
              <a:t>Practical Efficiency</a:t>
            </a:r>
          </a:p>
        </p:txBody>
      </p:sp>
      <p:sp>
        <p:nvSpPr>
          <p:cNvPr id="23" name="TextBox 22"/>
          <p:cNvSpPr txBox="1"/>
          <p:nvPr>
            <p:custDataLst>
              <p:tags r:id="rId12"/>
            </p:custDataLst>
          </p:nvPr>
        </p:nvSpPr>
        <p:spPr>
          <a:xfrm>
            <a:off x="8340625" y="3470225"/>
            <a:ext cx="3079849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0"/>
              </a:lnSpc>
            </a:pPr>
            <a:r>
              <a:rPr sz="975" b="0" i="0" u="none">
                <a:solidFill>
                  <a:srgbClr val="64748B"/>
                </a:solidFill>
                <a:latin typeface="Inter"/>
              </a:rPr>
              <a:t>Serves as the foundation for high-performance big integer software world-wide.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9750" y="2447925"/>
            <a:ext cx="9048750" cy="621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00B050"/>
                </a:solidFill>
                <a:latin typeface="DM Sans"/>
              </a:rPr>
              <a:t>Karatsuba, A., &amp; Ofman, Y. (1962). </a:t>
            </a:r>
            <a:r>
              <a:rPr sz="1650" b="0" i="1" u="none" dirty="0">
                <a:solidFill>
                  <a:srgbClr val="00B050"/>
                </a:solidFill>
                <a:latin typeface="DM Sans"/>
              </a:rPr>
              <a:t>Multiplication of Many-Digital Numbers by Automatic Computers.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 </a:t>
            </a:r>
            <a:r>
              <a:rPr sz="1650" b="0" i="0" u="none" dirty="0" err="1">
                <a:solidFill>
                  <a:srgbClr val="00B050"/>
                </a:solidFill>
                <a:latin typeface="DM Sans"/>
              </a:rPr>
              <a:t>Doklady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 </a:t>
            </a:r>
            <a:r>
              <a:rPr sz="1650" b="0" i="0" u="none" dirty="0" err="1">
                <a:solidFill>
                  <a:srgbClr val="00B050"/>
                </a:solidFill>
                <a:latin typeface="DM Sans"/>
              </a:rPr>
              <a:t>Akademii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 </a:t>
            </a:r>
            <a:r>
              <a:rPr sz="1650" b="0" i="0" u="none" dirty="0" err="1">
                <a:solidFill>
                  <a:srgbClr val="00B050"/>
                </a:solidFill>
                <a:latin typeface="DM Sans"/>
              </a:rPr>
              <a:t>Nauk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 SSSR. The foundational paper outlining the breakthrough.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9750" y="3629025"/>
            <a:ext cx="90487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00B050"/>
                </a:solidFill>
                <a:latin typeface="DM Sans"/>
              </a:rPr>
              <a:t>Cormen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, T. H., </a:t>
            </a:r>
            <a:r>
              <a:rPr sz="1650" b="0" i="0" u="none" dirty="0" err="1">
                <a:solidFill>
                  <a:srgbClr val="00B050"/>
                </a:solidFill>
                <a:latin typeface="DM Sans"/>
              </a:rPr>
              <a:t>Leiserson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, C. E., Rivest, R. L., &amp; Stein, C. </a:t>
            </a:r>
            <a:r>
              <a:rPr sz="1650" b="0" i="1" u="none" dirty="0">
                <a:solidFill>
                  <a:srgbClr val="00B050"/>
                </a:solidFill>
                <a:latin typeface="DM Sans"/>
              </a:rPr>
              <a:t>Introduction to Algorithms (CLRS).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 A comprehensive textbook standard detailing recursive divide-and-conquer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9750" y="4495800"/>
            <a:ext cx="90487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00B050"/>
                </a:solidFill>
                <a:latin typeface="DM Sans"/>
              </a:rPr>
              <a:t>Knuth, D. E. </a:t>
            </a:r>
            <a:r>
              <a:rPr sz="1650" b="0" i="1" u="none" dirty="0">
                <a:solidFill>
                  <a:srgbClr val="00B050"/>
                </a:solidFill>
                <a:latin typeface="DM Sans"/>
              </a:rPr>
              <a:t>The Art of Computer Programming, Volume 2: </a:t>
            </a:r>
            <a:r>
              <a:rPr sz="1650" b="0" i="1" u="none" dirty="0" err="1">
                <a:solidFill>
                  <a:srgbClr val="00B050"/>
                </a:solidFill>
                <a:latin typeface="DM Sans"/>
              </a:rPr>
              <a:t>Seminumerical</a:t>
            </a:r>
            <a:r>
              <a:rPr sz="1650" b="0" i="1" u="none" dirty="0">
                <a:solidFill>
                  <a:srgbClr val="00B050"/>
                </a:solidFill>
                <a:latin typeface="DM Sans"/>
              </a:rPr>
              <a:t> Algorithms.</a:t>
            </a:r>
            <a:r>
              <a:rPr sz="1650" b="0" i="0" u="none" dirty="0">
                <a:solidFill>
                  <a:srgbClr val="00B050"/>
                </a:solidFill>
                <a:latin typeface="DM Sans"/>
              </a:rPr>
              <a:t> Provides exhaustive mathematical proofs regarding integer arithmetic.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5" y="2799457"/>
            <a:ext cx="1001166" cy="23901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2457450"/>
            <a:ext cx="20002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638550"/>
            <a:ext cx="200025" cy="2476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4505325"/>
            <a:ext cx="200025" cy="247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u="none" dirty="0">
                <a:latin typeface="Merriweather"/>
              </a:rPr>
              <a:t>References &amp; Further Reading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5275" y="2866774"/>
            <a:ext cx="1160145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rgbClr val="005088"/>
                </a:solidFill>
                <a:latin typeface="Merriweather"/>
              </a:rPr>
              <a:t>Thank You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27.99212598425197,&quot;left&quot;:42,&quot;top&quot;:193.25385826771654,&quot;width&quot;:875.99992125984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1485</Words>
  <Application>Microsoft Office PowerPoint</Application>
  <PresentationFormat>Widescreen</PresentationFormat>
  <Paragraphs>203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Arial</vt:lpstr>
      <vt:lpstr>Calibri</vt:lpstr>
      <vt:lpstr>DM Sans</vt:lpstr>
      <vt:lpstr>Fira Code</vt:lpstr>
      <vt:lpstr>Fira Code Black</vt:lpstr>
      <vt:lpstr>Inter</vt:lpstr>
      <vt:lpstr>Inter Black</vt:lpstr>
      <vt:lpstr>Inter ExtraBold</vt:lpstr>
      <vt:lpstr>Inter SemiBold</vt:lpstr>
      <vt:lpstr>Merriweather</vt:lpstr>
      <vt:lpstr>Plus Jakarta Sans</vt:lpstr>
      <vt:lpstr>Plus Jakarta Sans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Sukdeb Mondal</cp:lastModifiedBy>
  <cp:revision>13</cp:revision>
  <dcterms:created xsi:type="dcterms:W3CDTF">2013-01-27T09:14:00Z</dcterms:created>
  <dcterms:modified xsi:type="dcterms:W3CDTF">2026-09-08T02:05:38Z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A1B106F26255405096341B81F4A396D9_12</vt:lpwstr>
  </property>
  <property fmtid="{D5CDD505-2E9C-101B-9397-08002B2CF9AE}" pid="3" name="KSOProductBuildVer">
    <vt:lpwstr>2057-12.2.0.23206</vt:lpwstr>
  </property>
</Properties>
</file>