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3" r:id="rId8"/>
    <p:sldId id="275" r:id="rId9"/>
    <p:sldId id="276" r:id="rId10"/>
    <p:sldId id="277" r:id="rId11"/>
    <p:sldId id="278" r:id="rId12"/>
    <p:sldId id="279" r:id="rId13"/>
    <p:sldId id="264" r:id="rId14"/>
    <p:sldId id="265" r:id="rId15"/>
    <p:sldId id="280" r:id="rId16"/>
    <p:sldId id="281" r:id="rId17"/>
    <p:sldId id="274" r:id="rId18"/>
    <p:sldId id="267" r:id="rId19"/>
    <p:sldId id="268" r:id="rId20"/>
    <p:sldId id="269" r:id="rId21"/>
    <p:sldId id="270" r:id="rId22"/>
    <p:sldId id="271" r:id="rId23"/>
    <p:sldId id="272"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AEC8DD-CB53-44A7-AA2F-B62648CE0D16}" v="6" dt="2026-08-16T14:45:54.0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10"/>
  </p:normalViewPr>
  <p:slideViewPr>
    <p:cSldViewPr snapToGrid="0" snapToObjects="1">
      <p:cViewPr varScale="1">
        <p:scale>
          <a:sx n="111" d="100"/>
          <a:sy n="111" d="100"/>
        </p:scale>
        <p:origin x="30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1865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hyperlink" Target="https://youtu.be/IFfYfonAFGc?si=HC0jWa90PWqd1QHY"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youtu.be/on2hvxBXJH4?si=GlyA59E6uDYCmJna" TargetMode="External"/><Relationship Id="rId5" Type="http://schemas.openxmlformats.org/officeDocument/2006/relationships/hyperlink" Target="https://youtu.be/ekcwMsSIzVc?si=321Vu_RK7R-K-amf" TargetMode="External"/><Relationship Id="rId4" Type="http://schemas.openxmlformats.org/officeDocument/2006/relationships/hyperlink" Target="https://youtu.be/E6us4nmXTHs?si=CRGbNTGY2lwuznuH"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45"/>
        </a:solidFill>
        <a:effectLst/>
      </p:bgPr>
    </p:bg>
    <p:spTree>
      <p:nvGrpSpPr>
        <p:cNvPr id="1" name=""/>
        <p:cNvGrpSpPr/>
        <p:nvPr/>
      </p:nvGrpSpPr>
      <p:grpSpPr>
        <a:xfrm>
          <a:off x="0" y="0"/>
          <a:ext cx="0" cy="0"/>
          <a:chOff x="0" y="0"/>
          <a:chExt cx="0" cy="0"/>
        </a:xfrm>
      </p:grpSpPr>
      <p:sp>
        <p:nvSpPr>
          <p:cNvPr id="2" name="Shape 0"/>
          <p:cNvSpPr/>
          <p:nvPr/>
        </p:nvSpPr>
        <p:spPr>
          <a:xfrm>
            <a:off x="2740000" y="6217920"/>
            <a:ext cx="566928" cy="320040"/>
          </a:xfrm>
          <a:prstGeom prst="roundRect">
            <a:avLst>
              <a:gd name="adj" fmla="val 14286"/>
            </a:avLst>
          </a:prstGeom>
          <a:solidFill>
            <a:srgbClr val="2A3568"/>
          </a:solidFill>
          <a:ln/>
        </p:spPr>
      </p:sp>
      <p:sp>
        <p:nvSpPr>
          <p:cNvPr id="3" name="Shape 1"/>
          <p:cNvSpPr/>
          <p:nvPr/>
        </p:nvSpPr>
        <p:spPr>
          <a:xfrm>
            <a:off x="3508096" y="6080760"/>
            <a:ext cx="566928" cy="457200"/>
          </a:xfrm>
          <a:prstGeom prst="roundRect">
            <a:avLst>
              <a:gd name="adj" fmla="val 10000"/>
            </a:avLst>
          </a:prstGeom>
          <a:solidFill>
            <a:srgbClr val="2A3568"/>
          </a:solidFill>
          <a:ln/>
        </p:spPr>
      </p:sp>
      <p:sp>
        <p:nvSpPr>
          <p:cNvPr id="4" name="Shape 2"/>
          <p:cNvSpPr/>
          <p:nvPr/>
        </p:nvSpPr>
        <p:spPr>
          <a:xfrm>
            <a:off x="4276192" y="6153912"/>
            <a:ext cx="566928" cy="384048"/>
          </a:xfrm>
          <a:prstGeom prst="roundRect">
            <a:avLst>
              <a:gd name="adj" fmla="val 11905"/>
            </a:avLst>
          </a:prstGeom>
          <a:solidFill>
            <a:srgbClr val="2A3568"/>
          </a:solidFill>
          <a:ln/>
        </p:spPr>
      </p:sp>
      <p:sp>
        <p:nvSpPr>
          <p:cNvPr id="5" name="Shape 3"/>
          <p:cNvSpPr/>
          <p:nvPr/>
        </p:nvSpPr>
        <p:spPr>
          <a:xfrm>
            <a:off x="5044288" y="5916168"/>
            <a:ext cx="566928" cy="621792"/>
          </a:xfrm>
          <a:prstGeom prst="roundRect">
            <a:avLst>
              <a:gd name="adj" fmla="val 8065"/>
            </a:avLst>
          </a:prstGeom>
          <a:solidFill>
            <a:srgbClr val="2A3568"/>
          </a:solidFill>
          <a:ln/>
        </p:spPr>
      </p:sp>
      <p:sp>
        <p:nvSpPr>
          <p:cNvPr id="6" name="Shape 4"/>
          <p:cNvSpPr/>
          <p:nvPr/>
        </p:nvSpPr>
        <p:spPr>
          <a:xfrm>
            <a:off x="5812384" y="5989320"/>
            <a:ext cx="566928" cy="548640"/>
          </a:xfrm>
          <a:prstGeom prst="roundRect">
            <a:avLst>
              <a:gd name="adj" fmla="val 8333"/>
            </a:avLst>
          </a:prstGeom>
          <a:solidFill>
            <a:srgbClr val="2A3568"/>
          </a:solidFill>
          <a:ln/>
        </p:spPr>
      </p:sp>
      <p:sp>
        <p:nvSpPr>
          <p:cNvPr id="7" name="Shape 5"/>
          <p:cNvSpPr/>
          <p:nvPr/>
        </p:nvSpPr>
        <p:spPr>
          <a:xfrm>
            <a:off x="6580480" y="5760720"/>
            <a:ext cx="566928" cy="777240"/>
          </a:xfrm>
          <a:prstGeom prst="roundRect">
            <a:avLst>
              <a:gd name="adj" fmla="val 8065"/>
            </a:avLst>
          </a:prstGeom>
          <a:solidFill>
            <a:srgbClr val="2A3568"/>
          </a:solidFill>
          <a:ln/>
        </p:spPr>
      </p:sp>
      <p:sp>
        <p:nvSpPr>
          <p:cNvPr id="8" name="Shape 6"/>
          <p:cNvSpPr/>
          <p:nvPr/>
        </p:nvSpPr>
        <p:spPr>
          <a:xfrm>
            <a:off x="7348576" y="5843016"/>
            <a:ext cx="566928" cy="694944"/>
          </a:xfrm>
          <a:prstGeom prst="roundRect">
            <a:avLst>
              <a:gd name="adj" fmla="val 8065"/>
            </a:avLst>
          </a:prstGeom>
          <a:solidFill>
            <a:srgbClr val="2A3568"/>
          </a:solidFill>
          <a:ln/>
        </p:spPr>
      </p:sp>
      <p:sp>
        <p:nvSpPr>
          <p:cNvPr id="9" name="Shape 7"/>
          <p:cNvSpPr/>
          <p:nvPr/>
        </p:nvSpPr>
        <p:spPr>
          <a:xfrm>
            <a:off x="8116672" y="5605272"/>
            <a:ext cx="566928" cy="932688"/>
          </a:xfrm>
          <a:prstGeom prst="roundRect">
            <a:avLst>
              <a:gd name="adj" fmla="val 8065"/>
            </a:avLst>
          </a:prstGeom>
          <a:solidFill>
            <a:srgbClr val="2A3568"/>
          </a:solidFill>
          <a:ln/>
        </p:spPr>
      </p:sp>
      <p:sp>
        <p:nvSpPr>
          <p:cNvPr id="10" name="Shape 8"/>
          <p:cNvSpPr/>
          <p:nvPr/>
        </p:nvSpPr>
        <p:spPr>
          <a:xfrm>
            <a:off x="8884768" y="5422392"/>
            <a:ext cx="566928" cy="1115568"/>
          </a:xfrm>
          <a:prstGeom prst="roundRect">
            <a:avLst>
              <a:gd name="adj" fmla="val 8065"/>
            </a:avLst>
          </a:prstGeom>
          <a:solidFill>
            <a:srgbClr val="E8A33D"/>
          </a:solidFill>
          <a:ln/>
        </p:spPr>
      </p:sp>
      <p:sp>
        <p:nvSpPr>
          <p:cNvPr id="12" name="Text 10"/>
          <p:cNvSpPr/>
          <p:nvPr/>
        </p:nvSpPr>
        <p:spPr>
          <a:xfrm>
            <a:off x="296562" y="774363"/>
            <a:ext cx="11623589" cy="2791781"/>
          </a:xfrm>
          <a:prstGeom prst="rect">
            <a:avLst/>
          </a:prstGeom>
          <a:noFill/>
          <a:ln/>
        </p:spPr>
        <p:txBody>
          <a:bodyPr wrap="square" rtlCol="0" anchor="t"/>
          <a:lstStyle/>
          <a:p>
            <a:pPr marL="0" indent="0" algn="ctr">
              <a:lnSpc>
                <a:spcPct val="105000"/>
              </a:lnSpc>
              <a:buNone/>
            </a:pPr>
            <a:r>
              <a:rPr lang="en-US" sz="4600" b="1" dirty="0">
                <a:solidFill>
                  <a:srgbClr val="FFFFFF"/>
                </a:solidFill>
                <a:latin typeface="Cambria" pitchFamily="34" charset="0"/>
                <a:ea typeface="Cambria" pitchFamily="34" charset="-122"/>
                <a:cs typeface="Cambria" pitchFamily="34" charset="-120"/>
              </a:rPr>
              <a:t>Solving Longest Increasing</a:t>
            </a:r>
            <a:endParaRPr lang="en-US" sz="4600" dirty="0"/>
          </a:p>
          <a:p>
            <a:pPr marL="0" indent="0" algn="ctr">
              <a:lnSpc>
                <a:spcPct val="105000"/>
              </a:lnSpc>
              <a:buNone/>
            </a:pPr>
            <a:r>
              <a:rPr lang="en-US" sz="4600" b="1" dirty="0">
                <a:solidFill>
                  <a:srgbClr val="FFFFFF"/>
                </a:solidFill>
                <a:latin typeface="Cambria" pitchFamily="34" charset="0"/>
                <a:ea typeface="Cambria" pitchFamily="34" charset="-122"/>
                <a:cs typeface="Cambria" pitchFamily="34" charset="-120"/>
              </a:rPr>
              <a:t>Subsequence Problem Using Dynamic Programming</a:t>
            </a:r>
            <a:endParaRPr lang="en-US" sz="4600" dirty="0"/>
          </a:p>
        </p:txBody>
      </p:sp>
      <p:sp>
        <p:nvSpPr>
          <p:cNvPr id="14" name="Shape 12"/>
          <p:cNvSpPr/>
          <p:nvPr/>
        </p:nvSpPr>
        <p:spPr>
          <a:xfrm>
            <a:off x="4950941" y="4018582"/>
            <a:ext cx="2117124" cy="0"/>
          </a:xfrm>
          <a:prstGeom prst="line">
            <a:avLst/>
          </a:prstGeom>
          <a:noFill/>
          <a:ln w="25400">
            <a:solidFill>
              <a:srgbClr val="E8A33D"/>
            </a:solidFill>
            <a:prstDash val="solid"/>
          </a:ln>
        </p:spPr>
      </p:sp>
      <p:sp>
        <p:nvSpPr>
          <p:cNvPr id="15" name="Text 13"/>
          <p:cNvSpPr/>
          <p:nvPr/>
        </p:nvSpPr>
        <p:spPr>
          <a:xfrm>
            <a:off x="1837037" y="4425713"/>
            <a:ext cx="8402595" cy="832065"/>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Ayan Das</a:t>
            </a:r>
          </a:p>
          <a:p>
            <a:pPr marL="0" indent="0" algn="ctr">
              <a:buNone/>
            </a:pPr>
            <a:r>
              <a:rPr lang="en-US" sz="2400" b="1" dirty="0">
                <a:solidFill>
                  <a:srgbClr val="FFFFFF"/>
                </a:solidFill>
                <a:latin typeface="Calibri" pitchFamily="34" charset="0"/>
                <a:ea typeface="Calibri" pitchFamily="34" charset="-122"/>
                <a:cs typeface="Calibri" pitchFamily="34" charset="-120"/>
              </a:rPr>
              <a:t>Roll - 311</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09728"/>
            <a:ext cx="9144000" cy="274320"/>
          </a:xfrm>
          <a:prstGeom prst="rect">
            <a:avLst/>
          </a:prstGeom>
          <a:noFill/>
          <a:ln/>
        </p:spPr>
        <p:txBody>
          <a:bodyPr wrap="square" rtlCol="0" anchor="ctr"/>
          <a:lstStyle/>
          <a:p>
            <a:pPr marL="0" indent="0">
              <a:buNone/>
            </a:pPr>
            <a:r>
              <a:rPr lang="en-US" sz="1100" b="1" kern="0" spc="200" dirty="0">
                <a:solidFill>
                  <a:srgbClr val="E8A33D"/>
                </a:solidFill>
                <a:latin typeface="Calibri" pitchFamily="34" charset="0"/>
                <a:ea typeface="Calibri" pitchFamily="34" charset="-122"/>
                <a:cs typeface="Calibri" pitchFamily="34" charset="-120"/>
              </a:rPr>
              <a:t>WARM-UP</a:t>
            </a:r>
            <a:endParaRPr lang="en-US" sz="1100" dirty="0"/>
          </a:p>
        </p:txBody>
      </p:sp>
      <p:sp>
        <p:nvSpPr>
          <p:cNvPr id="3" name="Text 1"/>
          <p:cNvSpPr/>
          <p:nvPr/>
        </p:nvSpPr>
        <p:spPr>
          <a:xfrm>
            <a:off x="548640" y="384048"/>
            <a:ext cx="1106424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Let's Start With a Question</a:t>
            </a:r>
            <a:endParaRPr lang="en-US" sz="3000" dirty="0"/>
          </a:p>
        </p:txBody>
      </p:sp>
      <p:sp>
        <p:nvSpPr>
          <p:cNvPr id="4" name="Shape 2"/>
          <p:cNvSpPr/>
          <p:nvPr/>
        </p:nvSpPr>
        <p:spPr>
          <a:xfrm>
            <a:off x="851764" y="1920240"/>
            <a:ext cx="1051560" cy="914400"/>
          </a:xfrm>
          <a:prstGeom prst="roundRect">
            <a:avLst>
              <a:gd name="adj" fmla="val 9000"/>
            </a:avLst>
          </a:prstGeom>
          <a:solidFill>
            <a:srgbClr val="1E2761"/>
          </a:solidFill>
          <a:ln/>
        </p:spPr>
      </p:sp>
      <p:sp>
        <p:nvSpPr>
          <p:cNvPr id="5" name="Text 3"/>
          <p:cNvSpPr/>
          <p:nvPr/>
        </p:nvSpPr>
        <p:spPr>
          <a:xfrm>
            <a:off x="851764" y="1920240"/>
            <a:ext cx="1051560" cy="9144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a:t>
            </a:r>
            <a:endParaRPr lang="en-US" sz="2000" dirty="0"/>
          </a:p>
        </p:txBody>
      </p:sp>
      <p:sp>
        <p:nvSpPr>
          <p:cNvPr id="6" name="Shape 4"/>
          <p:cNvSpPr/>
          <p:nvPr/>
        </p:nvSpPr>
        <p:spPr>
          <a:xfrm>
            <a:off x="2031340" y="1920240"/>
            <a:ext cx="1051560" cy="914400"/>
          </a:xfrm>
          <a:prstGeom prst="roundRect">
            <a:avLst>
              <a:gd name="adj" fmla="val 9000"/>
            </a:avLst>
          </a:prstGeom>
          <a:solidFill>
            <a:srgbClr val="1E2761"/>
          </a:solidFill>
          <a:ln/>
        </p:spPr>
      </p:sp>
      <p:sp>
        <p:nvSpPr>
          <p:cNvPr id="7" name="Text 5"/>
          <p:cNvSpPr/>
          <p:nvPr/>
        </p:nvSpPr>
        <p:spPr>
          <a:xfrm>
            <a:off x="2031340" y="1920240"/>
            <a:ext cx="1051560" cy="9144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22</a:t>
            </a:r>
            <a:endParaRPr lang="en-US" sz="2000" dirty="0"/>
          </a:p>
        </p:txBody>
      </p:sp>
      <p:sp>
        <p:nvSpPr>
          <p:cNvPr id="8" name="Shape 6"/>
          <p:cNvSpPr/>
          <p:nvPr/>
        </p:nvSpPr>
        <p:spPr>
          <a:xfrm>
            <a:off x="3210916" y="1920240"/>
            <a:ext cx="1051560" cy="914400"/>
          </a:xfrm>
          <a:prstGeom prst="roundRect">
            <a:avLst>
              <a:gd name="adj" fmla="val 9000"/>
            </a:avLst>
          </a:prstGeom>
          <a:solidFill>
            <a:srgbClr val="1E2761"/>
          </a:solidFill>
          <a:ln/>
        </p:spPr>
      </p:sp>
      <p:sp>
        <p:nvSpPr>
          <p:cNvPr id="9" name="Text 7"/>
          <p:cNvSpPr/>
          <p:nvPr/>
        </p:nvSpPr>
        <p:spPr>
          <a:xfrm>
            <a:off x="3210916" y="1920240"/>
            <a:ext cx="1051560" cy="9144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a:t>
            </a:r>
            <a:endParaRPr lang="en-US" sz="2000" dirty="0"/>
          </a:p>
        </p:txBody>
      </p:sp>
      <p:sp>
        <p:nvSpPr>
          <p:cNvPr id="10" name="Shape 8"/>
          <p:cNvSpPr/>
          <p:nvPr/>
        </p:nvSpPr>
        <p:spPr>
          <a:xfrm>
            <a:off x="4390492" y="1920240"/>
            <a:ext cx="1051560" cy="914400"/>
          </a:xfrm>
          <a:prstGeom prst="roundRect">
            <a:avLst>
              <a:gd name="adj" fmla="val 9000"/>
            </a:avLst>
          </a:prstGeom>
          <a:solidFill>
            <a:srgbClr val="1E2761"/>
          </a:solidFill>
          <a:ln/>
        </p:spPr>
      </p:sp>
      <p:sp>
        <p:nvSpPr>
          <p:cNvPr id="11" name="Text 9"/>
          <p:cNvSpPr/>
          <p:nvPr/>
        </p:nvSpPr>
        <p:spPr>
          <a:xfrm>
            <a:off x="4390492" y="1920240"/>
            <a:ext cx="1051560" cy="9144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33</a:t>
            </a:r>
            <a:endParaRPr lang="en-US" sz="2000" dirty="0"/>
          </a:p>
        </p:txBody>
      </p:sp>
      <p:sp>
        <p:nvSpPr>
          <p:cNvPr id="12" name="Shape 10"/>
          <p:cNvSpPr/>
          <p:nvPr/>
        </p:nvSpPr>
        <p:spPr>
          <a:xfrm>
            <a:off x="5570068" y="1920240"/>
            <a:ext cx="1051560" cy="914400"/>
          </a:xfrm>
          <a:prstGeom prst="roundRect">
            <a:avLst>
              <a:gd name="adj" fmla="val 9000"/>
            </a:avLst>
          </a:prstGeom>
          <a:solidFill>
            <a:srgbClr val="1E2761"/>
          </a:solidFill>
          <a:ln/>
        </p:spPr>
      </p:sp>
      <p:sp>
        <p:nvSpPr>
          <p:cNvPr id="13" name="Text 11"/>
          <p:cNvSpPr/>
          <p:nvPr/>
        </p:nvSpPr>
        <p:spPr>
          <a:xfrm>
            <a:off x="5570068" y="1920240"/>
            <a:ext cx="1051560" cy="9144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21</a:t>
            </a:r>
            <a:endParaRPr lang="en-US" sz="2000" dirty="0"/>
          </a:p>
        </p:txBody>
      </p:sp>
      <p:sp>
        <p:nvSpPr>
          <p:cNvPr id="14" name="Shape 12"/>
          <p:cNvSpPr/>
          <p:nvPr/>
        </p:nvSpPr>
        <p:spPr>
          <a:xfrm>
            <a:off x="6749644" y="1920240"/>
            <a:ext cx="1051560" cy="914400"/>
          </a:xfrm>
          <a:prstGeom prst="roundRect">
            <a:avLst>
              <a:gd name="adj" fmla="val 9000"/>
            </a:avLst>
          </a:prstGeom>
          <a:solidFill>
            <a:srgbClr val="1E2761"/>
          </a:solidFill>
          <a:ln/>
        </p:spPr>
      </p:sp>
      <p:sp>
        <p:nvSpPr>
          <p:cNvPr id="15" name="Text 13"/>
          <p:cNvSpPr/>
          <p:nvPr/>
        </p:nvSpPr>
        <p:spPr>
          <a:xfrm>
            <a:off x="6749644" y="1920240"/>
            <a:ext cx="1051560" cy="9144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a:t>
            </a:r>
            <a:endParaRPr lang="en-US" sz="2000" dirty="0"/>
          </a:p>
        </p:txBody>
      </p:sp>
      <p:sp>
        <p:nvSpPr>
          <p:cNvPr id="16" name="Shape 14"/>
          <p:cNvSpPr/>
          <p:nvPr/>
        </p:nvSpPr>
        <p:spPr>
          <a:xfrm>
            <a:off x="7929220" y="1920240"/>
            <a:ext cx="1051560" cy="914400"/>
          </a:xfrm>
          <a:prstGeom prst="roundRect">
            <a:avLst>
              <a:gd name="adj" fmla="val 9000"/>
            </a:avLst>
          </a:prstGeom>
          <a:solidFill>
            <a:srgbClr val="1E2761"/>
          </a:solidFill>
          <a:ln/>
        </p:spPr>
      </p:sp>
      <p:sp>
        <p:nvSpPr>
          <p:cNvPr id="17" name="Text 15"/>
          <p:cNvSpPr/>
          <p:nvPr/>
        </p:nvSpPr>
        <p:spPr>
          <a:xfrm>
            <a:off x="7929220" y="1920240"/>
            <a:ext cx="1051560" cy="9144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41</a:t>
            </a:r>
            <a:endParaRPr lang="en-US" sz="2000" dirty="0"/>
          </a:p>
        </p:txBody>
      </p:sp>
      <p:sp>
        <p:nvSpPr>
          <p:cNvPr id="18" name="Shape 16"/>
          <p:cNvSpPr/>
          <p:nvPr/>
        </p:nvSpPr>
        <p:spPr>
          <a:xfrm>
            <a:off x="9108796" y="1920240"/>
            <a:ext cx="1051560" cy="914400"/>
          </a:xfrm>
          <a:prstGeom prst="roundRect">
            <a:avLst>
              <a:gd name="adj" fmla="val 9000"/>
            </a:avLst>
          </a:prstGeom>
          <a:solidFill>
            <a:srgbClr val="1E2761"/>
          </a:solidFill>
          <a:ln/>
        </p:spPr>
      </p:sp>
      <p:sp>
        <p:nvSpPr>
          <p:cNvPr id="19" name="Text 17"/>
          <p:cNvSpPr/>
          <p:nvPr/>
        </p:nvSpPr>
        <p:spPr>
          <a:xfrm>
            <a:off x="9108796" y="1920240"/>
            <a:ext cx="1051560" cy="9144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a:t>
            </a:r>
            <a:endParaRPr lang="en-US" sz="2000" dirty="0"/>
          </a:p>
        </p:txBody>
      </p:sp>
      <p:sp>
        <p:nvSpPr>
          <p:cNvPr id="20" name="Shape 18"/>
          <p:cNvSpPr/>
          <p:nvPr/>
        </p:nvSpPr>
        <p:spPr>
          <a:xfrm>
            <a:off x="10288372" y="1920240"/>
            <a:ext cx="1051560" cy="914400"/>
          </a:xfrm>
          <a:prstGeom prst="roundRect">
            <a:avLst>
              <a:gd name="adj" fmla="val 9000"/>
            </a:avLst>
          </a:prstGeom>
          <a:solidFill>
            <a:srgbClr val="1E2761"/>
          </a:solidFill>
          <a:ln/>
        </p:spPr>
      </p:sp>
      <p:sp>
        <p:nvSpPr>
          <p:cNvPr id="21" name="Text 19"/>
          <p:cNvSpPr/>
          <p:nvPr/>
        </p:nvSpPr>
        <p:spPr>
          <a:xfrm>
            <a:off x="10288372" y="1920240"/>
            <a:ext cx="1051560" cy="9144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80</a:t>
            </a:r>
            <a:endParaRPr lang="en-US" sz="2000" dirty="0"/>
          </a:p>
        </p:txBody>
      </p:sp>
      <p:sp>
        <p:nvSpPr>
          <p:cNvPr id="22" name="Shape 20"/>
          <p:cNvSpPr/>
          <p:nvPr/>
        </p:nvSpPr>
        <p:spPr>
          <a:xfrm>
            <a:off x="822960" y="3566160"/>
            <a:ext cx="566928" cy="566928"/>
          </a:xfrm>
          <a:prstGeom prst="ellipse">
            <a:avLst/>
          </a:prstGeom>
          <a:solidFill>
            <a:srgbClr val="CADCFC"/>
          </a:solidFill>
          <a:ln/>
        </p:spPr>
      </p:sp>
      <p:pic>
        <p:nvPicPr>
          <p:cNvPr id="23" name="Image 0" descr="preencoded.png"/>
          <p:cNvPicPr>
            <a:picLocks noChangeAspect="1"/>
          </p:cNvPicPr>
          <p:nvPr/>
        </p:nvPicPr>
        <p:blipFill>
          <a:blip r:embed="rId3"/>
          <a:stretch>
            <a:fillRect/>
          </a:stretch>
        </p:blipFill>
        <p:spPr>
          <a:xfrm>
            <a:off x="1042416" y="3785616"/>
            <a:ext cx="128016" cy="128016"/>
          </a:xfrm>
          <a:prstGeom prst="rect">
            <a:avLst/>
          </a:prstGeom>
        </p:spPr>
      </p:pic>
      <p:sp>
        <p:nvSpPr>
          <p:cNvPr id="24" name="Text 21"/>
          <p:cNvSpPr/>
          <p:nvPr/>
        </p:nvSpPr>
        <p:spPr>
          <a:xfrm>
            <a:off x="1600200" y="3520440"/>
            <a:ext cx="9875520" cy="1005840"/>
          </a:xfrm>
          <a:prstGeom prst="rect">
            <a:avLst/>
          </a:prstGeom>
          <a:noFill/>
          <a:ln/>
        </p:spPr>
        <p:txBody>
          <a:bodyPr wrap="square" rtlCol="0" anchor="ctr"/>
          <a:lstStyle/>
          <a:p>
            <a:pPr marL="0" indent="0">
              <a:lnSpc>
                <a:spcPct val="130000"/>
              </a:lnSpc>
              <a:buNone/>
            </a:pPr>
            <a:r>
              <a:rPr lang="en-US" sz="1700" dirty="0">
                <a:solidFill>
                  <a:srgbClr val="1A1A2E"/>
                </a:solidFill>
                <a:latin typeface="Calibri" pitchFamily="34" charset="0"/>
                <a:ea typeface="Calibri" pitchFamily="34" charset="-122"/>
                <a:cs typeface="Calibri" pitchFamily="34" charset="-120"/>
              </a:rPr>
              <a:t>Can you spot an increasing subsequence hiding in this array?</a:t>
            </a:r>
            <a:endParaRPr lang="en-US" sz="1700" dirty="0"/>
          </a:p>
          <a:p>
            <a:pPr marL="0" indent="0">
              <a:lnSpc>
                <a:spcPct val="130000"/>
              </a:lnSpc>
              <a:buNone/>
            </a:pPr>
            <a:r>
              <a:rPr lang="en-US" sz="1700" b="1" dirty="0">
                <a:solidFill>
                  <a:srgbClr val="1A1A2E"/>
                </a:solidFill>
                <a:latin typeface="Calibri" pitchFamily="34" charset="0"/>
                <a:ea typeface="Calibri" pitchFamily="34" charset="-122"/>
                <a:cs typeface="Calibri" pitchFamily="34" charset="-120"/>
              </a:rPr>
              <a:t>Now — can you find the longest one possible?</a:t>
            </a:r>
            <a:endParaRPr lang="en-US" sz="1700" dirty="0"/>
          </a:p>
        </p:txBody>
      </p:sp>
      <p:sp>
        <p:nvSpPr>
          <p:cNvPr id="25" name="Shape 22"/>
          <p:cNvSpPr/>
          <p:nvPr/>
        </p:nvSpPr>
        <p:spPr>
          <a:xfrm>
            <a:off x="1600200" y="4709160"/>
            <a:ext cx="8988552" cy="1051560"/>
          </a:xfrm>
          <a:prstGeom prst="roundRect">
            <a:avLst>
              <a:gd name="adj" fmla="val 6957"/>
            </a:avLst>
          </a:prstGeom>
          <a:solidFill>
            <a:srgbClr val="F3F6FC"/>
          </a:solidFill>
          <a:ln/>
        </p:spPr>
      </p:sp>
      <p:sp>
        <p:nvSpPr>
          <p:cNvPr id="26" name="Text 23"/>
          <p:cNvSpPr/>
          <p:nvPr/>
        </p:nvSpPr>
        <p:spPr>
          <a:xfrm>
            <a:off x="1920240" y="4937760"/>
            <a:ext cx="8412480" cy="594360"/>
          </a:xfrm>
          <a:prstGeom prst="rect">
            <a:avLst/>
          </a:prstGeom>
          <a:noFill/>
          <a:ln/>
        </p:spPr>
        <p:txBody>
          <a:bodyPr wrap="square" rtlCol="0" anchor="ctr"/>
          <a:lstStyle/>
          <a:p>
            <a:pPr marL="0" indent="0">
              <a:buNone/>
            </a:pPr>
            <a:r>
              <a:rPr lang="en-US" sz="1400" dirty="0">
                <a:solidFill>
                  <a:srgbClr val="5B6472"/>
                </a:solidFill>
                <a:latin typeface="Calibri" pitchFamily="34" charset="0"/>
                <a:ea typeface="Calibri" pitchFamily="34" charset="-122"/>
                <a:cs typeface="Calibri" pitchFamily="34" charset="-120"/>
              </a:rPr>
              <a:t>One valid answer:  </a:t>
            </a:r>
            <a:r>
              <a:rPr lang="en-US" sz="1600" b="1" dirty="0">
                <a:solidFill>
                  <a:srgbClr val="1E2761"/>
                </a:solidFill>
                <a:latin typeface="Calibri" pitchFamily="34" charset="0"/>
                <a:ea typeface="Calibri" pitchFamily="34" charset="-122"/>
                <a:cs typeface="Calibri" pitchFamily="34" charset="-120"/>
              </a:rPr>
              <a:t>10 → 22 → 33 → 50 → 60 → 80</a:t>
            </a:r>
            <a:r>
              <a:rPr lang="en-US" sz="1300" i="1" dirty="0">
                <a:solidFill>
                  <a:srgbClr val="5B6472"/>
                </a:solidFill>
                <a:latin typeface="Calibri" pitchFamily="34" charset="0"/>
                <a:ea typeface="Calibri" pitchFamily="34" charset="-122"/>
                <a:cs typeface="Calibri" pitchFamily="34" charset="-120"/>
              </a:rPr>
              <a:t>   (length 6)</a:t>
            </a:r>
            <a:endParaRPr lang="en-US" sz="1400" dirty="0"/>
          </a:p>
        </p:txBody>
      </p:sp>
      <p:sp>
        <p:nvSpPr>
          <p:cNvPr id="27" name="Text 24"/>
          <p:cNvSpPr/>
          <p:nvPr/>
        </p:nvSpPr>
        <p:spPr>
          <a:xfrm>
            <a:off x="1920240" y="5440680"/>
            <a:ext cx="8412480" cy="274320"/>
          </a:xfrm>
          <a:prstGeom prst="rect">
            <a:avLst/>
          </a:prstGeom>
          <a:noFill/>
          <a:ln/>
        </p:spPr>
        <p:txBody>
          <a:bodyPr wrap="square" rtlCol="0" anchor="ctr"/>
          <a:lstStyle/>
          <a:p>
            <a:pPr marL="0" indent="0">
              <a:buNone/>
            </a:pPr>
            <a:r>
              <a:rPr lang="en-US" sz="1150" i="1" dirty="0">
                <a:solidFill>
                  <a:srgbClr val="5B6472"/>
                </a:solidFill>
                <a:latin typeface="Calibri" pitchFamily="34" charset="0"/>
                <a:ea typeface="Calibri" pitchFamily="34" charset="-122"/>
                <a:cs typeface="Calibri" pitchFamily="34" charset="-120"/>
              </a:rPr>
              <a:t>We'll spend this deck proving that answer — and finding it algorithmically.</a:t>
            </a:r>
            <a:endParaRPr lang="en-US" sz="1150" dirty="0"/>
          </a:p>
        </p:txBody>
      </p:sp>
      <p:sp>
        <p:nvSpPr>
          <p:cNvPr id="28" name="Text 25"/>
          <p:cNvSpPr/>
          <p:nvPr/>
        </p:nvSpPr>
        <p:spPr>
          <a:xfrm>
            <a:off x="548640" y="6510528"/>
            <a:ext cx="8229600" cy="274320"/>
          </a:xfrm>
          <a:prstGeom prst="rect">
            <a:avLst/>
          </a:prstGeom>
          <a:noFill/>
          <a:ln/>
        </p:spPr>
        <p:txBody>
          <a:bodyPr wrap="square" rtlCol="0" anchor="ctr"/>
          <a:lstStyle/>
          <a:p>
            <a:pPr marL="0" indent="0">
              <a:buNone/>
            </a:pPr>
            <a:r>
              <a:rPr lang="en-US" sz="850" kern="0" spc="100" dirty="0">
                <a:solidFill>
                  <a:srgbClr val="5B6472"/>
                </a:solidFill>
                <a:latin typeface="Calibri" pitchFamily="34" charset="0"/>
                <a:ea typeface="Calibri" pitchFamily="34" charset="-122"/>
                <a:cs typeface="Calibri" pitchFamily="34" charset="-120"/>
              </a:rPr>
              <a:t>LONGEST INCREASING SUBSEQUENCE  ·  DYNAMIC PROGRAMMING</a:t>
            </a:r>
            <a:endParaRPr lang="en-US" sz="850" dirty="0"/>
          </a:p>
        </p:txBody>
      </p:sp>
      <p:sp>
        <p:nvSpPr>
          <p:cNvPr id="29" name="Text 26"/>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09728"/>
            <a:ext cx="9144000" cy="274320"/>
          </a:xfrm>
          <a:prstGeom prst="rect">
            <a:avLst/>
          </a:prstGeom>
          <a:noFill/>
          <a:ln/>
        </p:spPr>
        <p:txBody>
          <a:bodyPr wrap="square" rtlCol="0" anchor="ctr"/>
          <a:lstStyle/>
          <a:p>
            <a:pPr marL="0" indent="0">
              <a:buNone/>
            </a:pPr>
            <a:r>
              <a:rPr lang="en-US" sz="1100" b="1" kern="0" spc="200" dirty="0">
                <a:solidFill>
                  <a:srgbClr val="E8A33D"/>
                </a:solidFill>
                <a:latin typeface="Calibri" pitchFamily="34" charset="0"/>
                <a:ea typeface="Calibri" pitchFamily="34" charset="-122"/>
                <a:cs typeface="Calibri" pitchFamily="34" charset="-120"/>
              </a:rPr>
              <a:t>BUILDING BLOCKS</a:t>
            </a:r>
            <a:endParaRPr lang="en-US" sz="1100" dirty="0"/>
          </a:p>
        </p:txBody>
      </p:sp>
      <p:sp>
        <p:nvSpPr>
          <p:cNvPr id="3" name="Text 1"/>
          <p:cNvSpPr/>
          <p:nvPr/>
        </p:nvSpPr>
        <p:spPr>
          <a:xfrm>
            <a:off x="548640" y="384048"/>
            <a:ext cx="1106424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Subsequence vs. Subarray</a:t>
            </a:r>
            <a:endParaRPr lang="en-US" sz="3000" dirty="0"/>
          </a:p>
        </p:txBody>
      </p:sp>
      <p:sp>
        <p:nvSpPr>
          <p:cNvPr id="4" name="Shape 2"/>
          <p:cNvSpPr/>
          <p:nvPr/>
        </p:nvSpPr>
        <p:spPr>
          <a:xfrm>
            <a:off x="548640" y="1417320"/>
            <a:ext cx="5394960" cy="4709160"/>
          </a:xfrm>
          <a:prstGeom prst="roundRect">
            <a:avLst>
              <a:gd name="adj" fmla="val 1553"/>
            </a:avLst>
          </a:prstGeom>
          <a:solidFill>
            <a:srgbClr val="F3F6FC"/>
          </a:solidFill>
          <a:ln/>
        </p:spPr>
      </p:sp>
      <p:sp>
        <p:nvSpPr>
          <p:cNvPr id="5" name="Shape 3"/>
          <p:cNvSpPr/>
          <p:nvPr/>
        </p:nvSpPr>
        <p:spPr>
          <a:xfrm>
            <a:off x="868680" y="1737360"/>
            <a:ext cx="566928" cy="566928"/>
          </a:xfrm>
          <a:prstGeom prst="ellipse">
            <a:avLst/>
          </a:prstGeom>
          <a:solidFill>
            <a:srgbClr val="1E2761"/>
          </a:solidFill>
          <a:ln/>
        </p:spPr>
      </p:sp>
      <p:pic>
        <p:nvPicPr>
          <p:cNvPr id="6" name="Image 0" descr="preencoded.png"/>
          <p:cNvPicPr>
            <a:picLocks noChangeAspect="1"/>
          </p:cNvPicPr>
          <p:nvPr/>
        </p:nvPicPr>
        <p:blipFill>
          <a:blip r:embed="rId3"/>
          <a:stretch>
            <a:fillRect/>
          </a:stretch>
        </p:blipFill>
        <p:spPr>
          <a:xfrm>
            <a:off x="1088136" y="1956816"/>
            <a:ext cx="128016" cy="128016"/>
          </a:xfrm>
          <a:prstGeom prst="rect">
            <a:avLst/>
          </a:prstGeom>
        </p:spPr>
      </p:pic>
      <p:sp>
        <p:nvSpPr>
          <p:cNvPr id="7" name="Text 4"/>
          <p:cNvSpPr/>
          <p:nvPr/>
        </p:nvSpPr>
        <p:spPr>
          <a:xfrm>
            <a:off x="1600200" y="1737360"/>
            <a:ext cx="4206240" cy="566928"/>
          </a:xfrm>
          <a:prstGeom prst="rect">
            <a:avLst/>
          </a:prstGeom>
          <a:noFill/>
          <a:ln/>
        </p:spPr>
        <p:txBody>
          <a:bodyPr wrap="square" rtlCol="0" anchor="ctr"/>
          <a:lstStyle/>
          <a:p>
            <a:pPr marL="0" indent="0">
              <a:buNone/>
            </a:pPr>
            <a:r>
              <a:rPr lang="en-US" sz="1900" b="1" dirty="0">
                <a:solidFill>
                  <a:srgbClr val="1E2761"/>
                </a:solidFill>
                <a:latin typeface="Cambria" pitchFamily="34" charset="0"/>
                <a:ea typeface="Cambria" pitchFamily="34" charset="-122"/>
                <a:cs typeface="Cambria" pitchFamily="34" charset="-120"/>
              </a:rPr>
              <a:t>Subsequence</a:t>
            </a:r>
            <a:endParaRPr lang="en-US" sz="1900" dirty="0"/>
          </a:p>
        </p:txBody>
      </p:sp>
      <p:sp>
        <p:nvSpPr>
          <p:cNvPr id="8" name="Text 5"/>
          <p:cNvSpPr/>
          <p:nvPr/>
        </p:nvSpPr>
        <p:spPr>
          <a:xfrm>
            <a:off x="868680" y="2468880"/>
            <a:ext cx="4754880" cy="822960"/>
          </a:xfrm>
          <a:prstGeom prst="rect">
            <a:avLst/>
          </a:prstGeom>
          <a:noFill/>
          <a:ln/>
        </p:spPr>
        <p:txBody>
          <a:bodyPr wrap="square" rtlCol="0" anchor="ctr"/>
          <a:lstStyle/>
          <a:p>
            <a:pPr marL="0" indent="0">
              <a:lnSpc>
                <a:spcPct val="120000"/>
              </a:lnSpc>
              <a:buNone/>
            </a:pPr>
            <a:r>
              <a:rPr lang="en-US" sz="1400" dirty="0">
                <a:solidFill>
                  <a:srgbClr val="1A1A2E"/>
                </a:solidFill>
                <a:latin typeface="Calibri" pitchFamily="34" charset="0"/>
                <a:ea typeface="Calibri" pitchFamily="34" charset="-122"/>
                <a:cs typeface="Calibri" pitchFamily="34" charset="-120"/>
              </a:rPr>
              <a:t>Formed by deleting zero or more elements </a:t>
            </a:r>
            <a:endParaRPr lang="en-US" sz="1400" dirty="0"/>
          </a:p>
          <a:p>
            <a:pPr marL="0" indent="0">
              <a:lnSpc>
                <a:spcPct val="120000"/>
              </a:lnSpc>
              <a:buNone/>
            </a:pPr>
            <a:r>
              <a:rPr lang="en-US" sz="1400" b="1" dirty="0">
                <a:solidFill>
                  <a:srgbClr val="1E2761"/>
                </a:solidFill>
                <a:latin typeface="Calibri" pitchFamily="34" charset="0"/>
                <a:ea typeface="Calibri" pitchFamily="34" charset="-122"/>
                <a:cs typeface="Calibri" pitchFamily="34" charset="-120"/>
              </a:rPr>
              <a:t>without changing the order</a:t>
            </a:r>
            <a:endParaRPr lang="en-US" sz="1400" dirty="0"/>
          </a:p>
          <a:p>
            <a:pPr marL="0" indent="0">
              <a:lnSpc>
                <a:spcPct val="120000"/>
              </a:lnSpc>
              <a:buNone/>
            </a:pPr>
            <a:r>
              <a:rPr lang="en-US" sz="1400" dirty="0">
                <a:solidFill>
                  <a:srgbClr val="1A1A2E"/>
                </a:solidFill>
                <a:latin typeface="Calibri" pitchFamily="34" charset="0"/>
                <a:ea typeface="Calibri" pitchFamily="34" charset="-122"/>
                <a:cs typeface="Calibri" pitchFamily="34" charset="-120"/>
              </a:rPr>
              <a:t>of the rest.</a:t>
            </a:r>
            <a:endParaRPr lang="en-US" sz="1400" dirty="0"/>
          </a:p>
        </p:txBody>
      </p:sp>
      <p:sp>
        <p:nvSpPr>
          <p:cNvPr id="9" name="Text 6"/>
          <p:cNvSpPr/>
          <p:nvPr/>
        </p:nvSpPr>
        <p:spPr>
          <a:xfrm>
            <a:off x="868680" y="3246120"/>
            <a:ext cx="4754880" cy="914400"/>
          </a:xfrm>
          <a:prstGeom prst="rect">
            <a:avLst/>
          </a:prstGeom>
          <a:noFill/>
          <a:ln/>
        </p:spPr>
        <p:txBody>
          <a:bodyPr wrap="square" rtlCol="0" anchor="ctr"/>
          <a:lstStyle/>
          <a:p>
            <a:pPr marL="0" indent="0">
              <a:lnSpc>
                <a:spcPct val="150000"/>
              </a:lnSpc>
              <a:buNone/>
            </a:pPr>
            <a:r>
              <a:rPr lang="en-US" sz="1350" dirty="0">
                <a:solidFill>
                  <a:srgbClr val="1A1A2E"/>
                </a:solidFill>
                <a:latin typeface="Calibri" pitchFamily="34" charset="0"/>
                <a:ea typeface="Calibri" pitchFamily="34" charset="-122"/>
                <a:cs typeface="Calibri" pitchFamily="34" charset="-120"/>
              </a:rPr>
              <a:t>• Elements may be skipped</a:t>
            </a:r>
            <a:endParaRPr lang="en-US" sz="1350" dirty="0"/>
          </a:p>
          <a:p>
            <a:pPr marL="0" indent="0">
              <a:lnSpc>
                <a:spcPct val="150000"/>
              </a:lnSpc>
              <a:buNone/>
            </a:pPr>
            <a:r>
              <a:rPr lang="en-US" sz="1350" dirty="0">
                <a:solidFill>
                  <a:srgbClr val="1A1A2E"/>
                </a:solidFill>
                <a:latin typeface="Calibri" pitchFamily="34" charset="0"/>
                <a:ea typeface="Calibri" pitchFamily="34" charset="-122"/>
                <a:cs typeface="Calibri" pitchFamily="34" charset="-120"/>
              </a:rPr>
              <a:t>• Relative order is preserved</a:t>
            </a:r>
            <a:endParaRPr lang="en-US" sz="1350" dirty="0"/>
          </a:p>
          <a:p>
            <a:pPr marL="0" indent="0">
              <a:lnSpc>
                <a:spcPct val="150000"/>
              </a:lnSpc>
              <a:buNone/>
            </a:pPr>
            <a:r>
              <a:rPr lang="en-US" sz="1350" dirty="0">
                <a:solidFill>
                  <a:srgbClr val="1A1A2E"/>
                </a:solidFill>
                <a:latin typeface="Calibri" pitchFamily="34" charset="0"/>
                <a:ea typeface="Calibri" pitchFamily="34" charset="-122"/>
                <a:cs typeface="Calibri" pitchFamily="34" charset="-120"/>
              </a:rPr>
              <a:t>• Not necessarily contiguous</a:t>
            </a:r>
            <a:endParaRPr lang="en-US" sz="1350" dirty="0"/>
          </a:p>
        </p:txBody>
      </p:sp>
      <p:sp>
        <p:nvSpPr>
          <p:cNvPr id="10" name="Shape 7"/>
          <p:cNvSpPr/>
          <p:nvPr/>
        </p:nvSpPr>
        <p:spPr>
          <a:xfrm>
            <a:off x="868680" y="4251960"/>
            <a:ext cx="4754880" cy="1554480"/>
          </a:xfrm>
          <a:prstGeom prst="roundRect">
            <a:avLst>
              <a:gd name="adj" fmla="val 4706"/>
            </a:avLst>
          </a:prstGeom>
          <a:solidFill>
            <a:srgbClr val="1E2761"/>
          </a:solidFill>
          <a:ln/>
        </p:spPr>
      </p:sp>
      <p:sp>
        <p:nvSpPr>
          <p:cNvPr id="11" name="Text 8"/>
          <p:cNvSpPr/>
          <p:nvPr/>
        </p:nvSpPr>
        <p:spPr>
          <a:xfrm>
            <a:off x="1051560" y="4434840"/>
            <a:ext cx="4389120" cy="457200"/>
          </a:xfrm>
          <a:prstGeom prst="rect">
            <a:avLst/>
          </a:prstGeom>
          <a:noFill/>
          <a:ln/>
        </p:spPr>
        <p:txBody>
          <a:bodyPr wrap="square" rtlCol="0" anchor="ctr"/>
          <a:lstStyle/>
          <a:p>
            <a:pPr marL="0" indent="0" algn="ctr">
              <a:buNone/>
            </a:pPr>
            <a:r>
              <a:rPr lang="en-US" sz="1500" dirty="0">
                <a:solidFill>
                  <a:srgbClr val="CADCFC"/>
                </a:solidFill>
                <a:latin typeface="Courier New" pitchFamily="34" charset="0"/>
                <a:ea typeface="Courier New" pitchFamily="34" charset="-122"/>
                <a:cs typeface="Courier New" pitchFamily="34" charset="-120"/>
              </a:rPr>
              <a:t>10  22  9  33  21  50</a:t>
            </a:r>
            <a:endParaRPr lang="en-US" sz="1500" dirty="0"/>
          </a:p>
        </p:txBody>
      </p:sp>
      <p:sp>
        <p:nvSpPr>
          <p:cNvPr id="12" name="Text 9"/>
          <p:cNvSpPr/>
          <p:nvPr/>
        </p:nvSpPr>
        <p:spPr>
          <a:xfrm>
            <a:off x="1051560" y="4846320"/>
            <a:ext cx="4389120" cy="365760"/>
          </a:xfrm>
          <a:prstGeom prst="rect">
            <a:avLst/>
          </a:prstGeom>
          <a:noFill/>
          <a:ln/>
        </p:spPr>
        <p:txBody>
          <a:bodyPr wrap="square" rtlCol="0" anchor="ctr"/>
          <a:lstStyle/>
          <a:p>
            <a:pPr marL="0" indent="0" algn="ctr">
              <a:buNone/>
            </a:pPr>
            <a:r>
              <a:rPr lang="en-US" sz="1150" i="1" dirty="0">
                <a:solidFill>
                  <a:srgbClr val="9FB3E0"/>
                </a:solidFill>
                <a:latin typeface="Calibri" pitchFamily="34" charset="0"/>
                <a:ea typeface="Calibri" pitchFamily="34" charset="-122"/>
                <a:cs typeface="Calibri" pitchFamily="34" charset="-120"/>
              </a:rPr>
              <a:t>↓  keep 10, 22, 33, 50</a:t>
            </a:r>
            <a:endParaRPr lang="en-US" sz="1150" dirty="0"/>
          </a:p>
        </p:txBody>
      </p:sp>
      <p:sp>
        <p:nvSpPr>
          <p:cNvPr id="13" name="Text 10"/>
          <p:cNvSpPr/>
          <p:nvPr/>
        </p:nvSpPr>
        <p:spPr>
          <a:xfrm>
            <a:off x="1051560" y="5212080"/>
            <a:ext cx="4389120" cy="457200"/>
          </a:xfrm>
          <a:prstGeom prst="rect">
            <a:avLst/>
          </a:prstGeom>
          <a:noFill/>
          <a:ln/>
        </p:spPr>
        <p:txBody>
          <a:bodyPr wrap="square" rtlCol="0" anchor="ctr"/>
          <a:lstStyle/>
          <a:p>
            <a:pPr marL="0" indent="0" algn="ctr">
              <a:buNone/>
            </a:pPr>
            <a:r>
              <a:rPr lang="en-US" sz="1700" b="1" dirty="0">
                <a:solidFill>
                  <a:srgbClr val="E8A33D"/>
                </a:solidFill>
                <a:latin typeface="Courier New" pitchFamily="34" charset="0"/>
                <a:ea typeface="Courier New" pitchFamily="34" charset="-122"/>
                <a:cs typeface="Courier New" pitchFamily="34" charset="-120"/>
              </a:rPr>
              <a:t>10  22  33  50</a:t>
            </a:r>
            <a:endParaRPr lang="en-US" sz="1700" dirty="0"/>
          </a:p>
        </p:txBody>
      </p:sp>
      <p:sp>
        <p:nvSpPr>
          <p:cNvPr id="14" name="Shape 11"/>
          <p:cNvSpPr/>
          <p:nvPr/>
        </p:nvSpPr>
        <p:spPr>
          <a:xfrm>
            <a:off x="6245352" y="1417320"/>
            <a:ext cx="5394960" cy="4709160"/>
          </a:xfrm>
          <a:prstGeom prst="roundRect">
            <a:avLst>
              <a:gd name="adj" fmla="val 1553"/>
            </a:avLst>
          </a:prstGeom>
          <a:solidFill>
            <a:srgbClr val="F3F6FC"/>
          </a:solidFill>
          <a:ln/>
        </p:spPr>
      </p:sp>
      <p:sp>
        <p:nvSpPr>
          <p:cNvPr id="15" name="Shape 12"/>
          <p:cNvSpPr/>
          <p:nvPr/>
        </p:nvSpPr>
        <p:spPr>
          <a:xfrm>
            <a:off x="6565392" y="1737360"/>
            <a:ext cx="566928" cy="566928"/>
          </a:xfrm>
          <a:prstGeom prst="ellipse">
            <a:avLst/>
          </a:prstGeom>
          <a:solidFill>
            <a:srgbClr val="5B6472"/>
          </a:solidFill>
          <a:ln/>
        </p:spPr>
      </p:sp>
      <p:pic>
        <p:nvPicPr>
          <p:cNvPr id="16" name="Image 1" descr="preencoded.png"/>
          <p:cNvPicPr>
            <a:picLocks noChangeAspect="1"/>
          </p:cNvPicPr>
          <p:nvPr/>
        </p:nvPicPr>
        <p:blipFill>
          <a:blip r:embed="rId4"/>
          <a:stretch>
            <a:fillRect/>
          </a:stretch>
        </p:blipFill>
        <p:spPr>
          <a:xfrm>
            <a:off x="6784848" y="1956816"/>
            <a:ext cx="128016" cy="128016"/>
          </a:xfrm>
          <a:prstGeom prst="rect">
            <a:avLst/>
          </a:prstGeom>
        </p:spPr>
      </p:pic>
      <p:sp>
        <p:nvSpPr>
          <p:cNvPr id="17" name="Text 13"/>
          <p:cNvSpPr/>
          <p:nvPr/>
        </p:nvSpPr>
        <p:spPr>
          <a:xfrm>
            <a:off x="7296912" y="1737360"/>
            <a:ext cx="4206240" cy="566928"/>
          </a:xfrm>
          <a:prstGeom prst="rect">
            <a:avLst/>
          </a:prstGeom>
          <a:noFill/>
          <a:ln/>
        </p:spPr>
        <p:txBody>
          <a:bodyPr wrap="square" rtlCol="0" anchor="ctr"/>
          <a:lstStyle/>
          <a:p>
            <a:pPr marL="0" indent="0">
              <a:buNone/>
            </a:pPr>
            <a:r>
              <a:rPr lang="en-US" sz="1900" b="1" dirty="0">
                <a:solidFill>
                  <a:srgbClr val="5B6472"/>
                </a:solidFill>
                <a:latin typeface="Cambria" pitchFamily="34" charset="0"/>
                <a:ea typeface="Cambria" pitchFamily="34" charset="-122"/>
                <a:cs typeface="Cambria" pitchFamily="34" charset="-120"/>
              </a:rPr>
              <a:t>Subarray</a:t>
            </a:r>
            <a:endParaRPr lang="en-US" sz="1900" dirty="0"/>
          </a:p>
        </p:txBody>
      </p:sp>
      <p:sp>
        <p:nvSpPr>
          <p:cNvPr id="18" name="Text 14"/>
          <p:cNvSpPr/>
          <p:nvPr/>
        </p:nvSpPr>
        <p:spPr>
          <a:xfrm>
            <a:off x="6565392" y="2468880"/>
            <a:ext cx="4754880" cy="822960"/>
          </a:xfrm>
          <a:prstGeom prst="rect">
            <a:avLst/>
          </a:prstGeom>
          <a:noFill/>
          <a:ln/>
        </p:spPr>
        <p:txBody>
          <a:bodyPr wrap="square" rtlCol="0" anchor="ctr"/>
          <a:lstStyle/>
          <a:p>
            <a:pPr marL="0" indent="0">
              <a:lnSpc>
                <a:spcPct val="120000"/>
              </a:lnSpc>
              <a:buNone/>
            </a:pPr>
            <a:r>
              <a:rPr lang="en-US" sz="1400" dirty="0">
                <a:solidFill>
                  <a:srgbClr val="1A1A2E"/>
                </a:solidFill>
                <a:latin typeface="Calibri" pitchFamily="34" charset="0"/>
                <a:ea typeface="Calibri" pitchFamily="34" charset="-122"/>
                <a:cs typeface="Calibri" pitchFamily="34" charset="-120"/>
              </a:rPr>
              <a:t>A </a:t>
            </a:r>
            <a:r>
              <a:rPr lang="en-US" sz="1400" b="1" dirty="0">
                <a:solidFill>
                  <a:srgbClr val="5B6472"/>
                </a:solidFill>
                <a:latin typeface="Calibri" pitchFamily="34" charset="0"/>
                <a:ea typeface="Calibri" pitchFamily="34" charset="-122"/>
                <a:cs typeface="Calibri" pitchFamily="34" charset="-120"/>
              </a:rPr>
              <a:t>contiguous</a:t>
            </a:r>
            <a:r>
              <a:rPr lang="en-US" sz="1400" dirty="0">
                <a:solidFill>
                  <a:srgbClr val="1A1A2E"/>
                </a:solidFill>
                <a:latin typeface="Calibri" pitchFamily="34" charset="0"/>
                <a:ea typeface="Calibri" pitchFamily="34" charset="-122"/>
                <a:cs typeface="Calibri" pitchFamily="34" charset="-120"/>
              </a:rPr>
              <a:t> block of elements — nothing in between can be skipped.</a:t>
            </a:r>
            <a:endParaRPr lang="en-US" sz="1400" dirty="0"/>
          </a:p>
        </p:txBody>
      </p:sp>
      <p:sp>
        <p:nvSpPr>
          <p:cNvPr id="19" name="Text 15"/>
          <p:cNvSpPr/>
          <p:nvPr/>
        </p:nvSpPr>
        <p:spPr>
          <a:xfrm>
            <a:off x="6565392" y="3246120"/>
            <a:ext cx="4754880" cy="914400"/>
          </a:xfrm>
          <a:prstGeom prst="rect">
            <a:avLst/>
          </a:prstGeom>
          <a:noFill/>
          <a:ln/>
        </p:spPr>
        <p:txBody>
          <a:bodyPr wrap="square" rtlCol="0" anchor="ctr"/>
          <a:lstStyle/>
          <a:p>
            <a:pPr marL="0" indent="0">
              <a:lnSpc>
                <a:spcPct val="150000"/>
              </a:lnSpc>
              <a:buNone/>
            </a:pPr>
            <a:r>
              <a:rPr lang="en-US" sz="1350" dirty="0">
                <a:solidFill>
                  <a:srgbClr val="1A1A2E"/>
                </a:solidFill>
                <a:latin typeface="Calibri" pitchFamily="34" charset="0"/>
                <a:ea typeface="Calibri" pitchFamily="34" charset="-122"/>
                <a:cs typeface="Calibri" pitchFamily="34" charset="-120"/>
              </a:rPr>
              <a:t>• No element may be skipped</a:t>
            </a:r>
            <a:endParaRPr lang="en-US" sz="1350" dirty="0"/>
          </a:p>
          <a:p>
            <a:pPr marL="0" indent="0">
              <a:lnSpc>
                <a:spcPct val="150000"/>
              </a:lnSpc>
              <a:buNone/>
            </a:pPr>
            <a:r>
              <a:rPr lang="en-US" sz="1350" dirty="0">
                <a:solidFill>
                  <a:srgbClr val="1A1A2E"/>
                </a:solidFill>
                <a:latin typeface="Calibri" pitchFamily="34" charset="0"/>
                <a:ea typeface="Calibri" pitchFamily="34" charset="-122"/>
                <a:cs typeface="Calibri" pitchFamily="34" charset="-120"/>
              </a:rPr>
              <a:t>• Must stay side-by-side</a:t>
            </a:r>
            <a:endParaRPr lang="en-US" sz="1350" dirty="0"/>
          </a:p>
          <a:p>
            <a:pPr marL="0" indent="0">
              <a:lnSpc>
                <a:spcPct val="150000"/>
              </a:lnSpc>
              <a:buNone/>
            </a:pPr>
            <a:r>
              <a:rPr lang="en-US" sz="1350" dirty="0">
                <a:solidFill>
                  <a:srgbClr val="1A1A2E"/>
                </a:solidFill>
                <a:latin typeface="Calibri" pitchFamily="34" charset="0"/>
                <a:ea typeface="Calibri" pitchFamily="34" charset="-122"/>
                <a:cs typeface="Calibri" pitchFamily="34" charset="-120"/>
              </a:rPr>
              <a:t>• Always contiguous in memory</a:t>
            </a:r>
            <a:endParaRPr lang="en-US" sz="1350" dirty="0"/>
          </a:p>
        </p:txBody>
      </p:sp>
      <p:sp>
        <p:nvSpPr>
          <p:cNvPr id="20" name="Shape 16"/>
          <p:cNvSpPr/>
          <p:nvPr/>
        </p:nvSpPr>
        <p:spPr>
          <a:xfrm>
            <a:off x="6565392" y="4251960"/>
            <a:ext cx="4754880" cy="1554480"/>
          </a:xfrm>
          <a:prstGeom prst="roundRect">
            <a:avLst>
              <a:gd name="adj" fmla="val 4706"/>
            </a:avLst>
          </a:prstGeom>
          <a:solidFill>
            <a:srgbClr val="4B5568"/>
          </a:solidFill>
          <a:ln/>
        </p:spPr>
      </p:sp>
      <p:sp>
        <p:nvSpPr>
          <p:cNvPr id="21" name="Text 17"/>
          <p:cNvSpPr/>
          <p:nvPr/>
        </p:nvSpPr>
        <p:spPr>
          <a:xfrm>
            <a:off x="6748272" y="4434840"/>
            <a:ext cx="4389120" cy="457200"/>
          </a:xfrm>
          <a:prstGeom prst="rect">
            <a:avLst/>
          </a:prstGeom>
          <a:noFill/>
          <a:ln/>
        </p:spPr>
        <p:txBody>
          <a:bodyPr wrap="square" rtlCol="0" anchor="ctr"/>
          <a:lstStyle/>
          <a:p>
            <a:pPr marL="0" indent="0" algn="ctr">
              <a:buNone/>
            </a:pPr>
            <a:r>
              <a:rPr lang="en-US" sz="1500" dirty="0">
                <a:solidFill>
                  <a:srgbClr val="CADCFC"/>
                </a:solidFill>
                <a:latin typeface="Courier New" pitchFamily="34" charset="0"/>
                <a:ea typeface="Courier New" pitchFamily="34" charset="-122"/>
                <a:cs typeface="Courier New" pitchFamily="34" charset="-120"/>
              </a:rPr>
              <a:t>10  22  9  33  21  50</a:t>
            </a:r>
            <a:endParaRPr lang="en-US" sz="1500" dirty="0"/>
          </a:p>
        </p:txBody>
      </p:sp>
      <p:sp>
        <p:nvSpPr>
          <p:cNvPr id="22" name="Text 18"/>
          <p:cNvSpPr/>
          <p:nvPr/>
        </p:nvSpPr>
        <p:spPr>
          <a:xfrm>
            <a:off x="6748272" y="4846320"/>
            <a:ext cx="4389120" cy="365760"/>
          </a:xfrm>
          <a:prstGeom prst="rect">
            <a:avLst/>
          </a:prstGeom>
          <a:noFill/>
          <a:ln/>
        </p:spPr>
        <p:txBody>
          <a:bodyPr wrap="square" rtlCol="0" anchor="ctr"/>
          <a:lstStyle/>
          <a:p>
            <a:pPr marL="0" indent="0" algn="ctr">
              <a:buNone/>
            </a:pPr>
            <a:r>
              <a:rPr lang="en-US" sz="1150" i="1" dirty="0">
                <a:solidFill>
                  <a:srgbClr val="C9CFDB"/>
                </a:solidFill>
                <a:latin typeface="Calibri" pitchFamily="34" charset="0"/>
                <a:ea typeface="Calibri" pitchFamily="34" charset="-122"/>
                <a:cs typeface="Calibri" pitchFamily="34" charset="-120"/>
              </a:rPr>
              <a:t>↓  keep positions 2–4 only</a:t>
            </a:r>
            <a:endParaRPr lang="en-US" sz="1150" dirty="0"/>
          </a:p>
        </p:txBody>
      </p:sp>
      <p:sp>
        <p:nvSpPr>
          <p:cNvPr id="23" name="Text 19"/>
          <p:cNvSpPr/>
          <p:nvPr/>
        </p:nvSpPr>
        <p:spPr>
          <a:xfrm>
            <a:off x="6748272" y="5212080"/>
            <a:ext cx="4389120" cy="457200"/>
          </a:xfrm>
          <a:prstGeom prst="rect">
            <a:avLst/>
          </a:prstGeom>
          <a:noFill/>
          <a:ln/>
        </p:spPr>
        <p:txBody>
          <a:bodyPr wrap="square" rtlCol="0" anchor="ctr"/>
          <a:lstStyle/>
          <a:p>
            <a:pPr marL="0" indent="0" algn="ctr">
              <a:buNone/>
            </a:pPr>
            <a:r>
              <a:rPr lang="en-US" sz="1700" b="1" dirty="0">
                <a:solidFill>
                  <a:srgbClr val="E8A33D"/>
                </a:solidFill>
                <a:latin typeface="Courier New" pitchFamily="34" charset="0"/>
                <a:ea typeface="Courier New" pitchFamily="34" charset="-122"/>
                <a:cs typeface="Courier New" pitchFamily="34" charset="-120"/>
              </a:rPr>
              <a:t>9  33  21</a:t>
            </a:r>
            <a:endParaRPr lang="en-US" sz="1700" dirty="0"/>
          </a:p>
        </p:txBody>
      </p:sp>
      <p:sp>
        <p:nvSpPr>
          <p:cNvPr id="24" name="Text 20"/>
          <p:cNvSpPr/>
          <p:nvPr/>
        </p:nvSpPr>
        <p:spPr>
          <a:xfrm>
            <a:off x="548640" y="6510528"/>
            <a:ext cx="8229600" cy="274320"/>
          </a:xfrm>
          <a:prstGeom prst="rect">
            <a:avLst/>
          </a:prstGeom>
          <a:noFill/>
          <a:ln/>
        </p:spPr>
        <p:txBody>
          <a:bodyPr wrap="square" rtlCol="0" anchor="ctr"/>
          <a:lstStyle/>
          <a:p>
            <a:pPr marL="0" indent="0">
              <a:buNone/>
            </a:pPr>
            <a:r>
              <a:rPr lang="en-US" sz="850" kern="0" spc="100" dirty="0">
                <a:solidFill>
                  <a:srgbClr val="5B6472"/>
                </a:solidFill>
                <a:latin typeface="Calibri" pitchFamily="34" charset="0"/>
                <a:ea typeface="Calibri" pitchFamily="34" charset="-122"/>
                <a:cs typeface="Calibri" pitchFamily="34" charset="-120"/>
              </a:rPr>
              <a:t>LONGEST INCREASING SUBSEQUENCE  ·  DYNAMIC PROGRAMMING</a:t>
            </a:r>
            <a:endParaRPr lang="en-US" sz="850" dirty="0"/>
          </a:p>
        </p:txBody>
      </p:sp>
      <p:sp>
        <p:nvSpPr>
          <p:cNvPr id="25" name="Text 21"/>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09728"/>
            <a:ext cx="9144000" cy="274320"/>
          </a:xfrm>
          <a:prstGeom prst="rect">
            <a:avLst/>
          </a:prstGeom>
          <a:noFill/>
          <a:ln/>
        </p:spPr>
        <p:txBody>
          <a:bodyPr wrap="square" rtlCol="0" anchor="ctr"/>
          <a:lstStyle/>
          <a:p>
            <a:pPr marL="0" indent="0">
              <a:buNone/>
            </a:pPr>
            <a:r>
              <a:rPr lang="en-US" sz="1100" b="1" kern="0" spc="200" dirty="0">
                <a:solidFill>
                  <a:srgbClr val="E8A33D"/>
                </a:solidFill>
                <a:latin typeface="Calibri" pitchFamily="34" charset="0"/>
                <a:ea typeface="Calibri" pitchFamily="34" charset="-122"/>
                <a:cs typeface="Calibri" pitchFamily="34" charset="-120"/>
              </a:rPr>
              <a:t>FORMAL DEFINITION</a:t>
            </a:r>
            <a:endParaRPr lang="en-US" sz="1100" dirty="0"/>
          </a:p>
        </p:txBody>
      </p:sp>
      <p:sp>
        <p:nvSpPr>
          <p:cNvPr id="3" name="Text 1"/>
          <p:cNvSpPr/>
          <p:nvPr/>
        </p:nvSpPr>
        <p:spPr>
          <a:xfrm>
            <a:off x="548640" y="384048"/>
            <a:ext cx="1106424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The Problem</a:t>
            </a:r>
            <a:endParaRPr lang="en-US" sz="3000" dirty="0"/>
          </a:p>
        </p:txBody>
      </p:sp>
      <p:sp>
        <p:nvSpPr>
          <p:cNvPr id="4" name="Shape 2"/>
          <p:cNvSpPr/>
          <p:nvPr/>
        </p:nvSpPr>
        <p:spPr>
          <a:xfrm>
            <a:off x="548640" y="1463040"/>
            <a:ext cx="11091672" cy="1417320"/>
          </a:xfrm>
          <a:prstGeom prst="roundRect">
            <a:avLst>
              <a:gd name="adj" fmla="val 5161"/>
            </a:avLst>
          </a:prstGeom>
          <a:solidFill>
            <a:srgbClr val="F3F6FC"/>
          </a:solidFill>
          <a:ln/>
        </p:spPr>
      </p:sp>
      <p:sp>
        <p:nvSpPr>
          <p:cNvPr id="5" name="Shape 3"/>
          <p:cNvSpPr/>
          <p:nvPr/>
        </p:nvSpPr>
        <p:spPr>
          <a:xfrm>
            <a:off x="822960" y="1709928"/>
            <a:ext cx="548640" cy="548640"/>
          </a:xfrm>
          <a:prstGeom prst="ellipse">
            <a:avLst/>
          </a:prstGeom>
          <a:solidFill>
            <a:srgbClr val="1E2761"/>
          </a:solidFill>
          <a:ln/>
        </p:spPr>
      </p:sp>
      <p:pic>
        <p:nvPicPr>
          <p:cNvPr id="6" name="Image 0" descr="preencoded.png"/>
          <p:cNvPicPr>
            <a:picLocks noChangeAspect="1"/>
          </p:cNvPicPr>
          <p:nvPr/>
        </p:nvPicPr>
        <p:blipFill>
          <a:blip r:embed="rId3"/>
          <a:stretch>
            <a:fillRect/>
          </a:stretch>
        </p:blipFill>
        <p:spPr>
          <a:xfrm>
            <a:off x="1042416" y="1929384"/>
            <a:ext cx="109728" cy="109728"/>
          </a:xfrm>
          <a:prstGeom prst="rect">
            <a:avLst/>
          </a:prstGeom>
        </p:spPr>
      </p:pic>
      <p:sp>
        <p:nvSpPr>
          <p:cNvPr id="7" name="Text 4"/>
          <p:cNvSpPr/>
          <p:nvPr/>
        </p:nvSpPr>
        <p:spPr>
          <a:xfrm>
            <a:off x="1600200" y="1600200"/>
            <a:ext cx="9829800" cy="1097280"/>
          </a:xfrm>
          <a:prstGeom prst="rect">
            <a:avLst/>
          </a:prstGeom>
          <a:noFill/>
          <a:ln/>
        </p:spPr>
        <p:txBody>
          <a:bodyPr wrap="square" rtlCol="0" anchor="ctr"/>
          <a:lstStyle/>
          <a:p>
            <a:pPr marL="0" indent="0">
              <a:lnSpc>
                <a:spcPct val="130000"/>
              </a:lnSpc>
              <a:buNone/>
            </a:pPr>
            <a:r>
              <a:rPr lang="en-US" sz="1550" dirty="0">
                <a:solidFill>
                  <a:srgbClr val="1A1A2E"/>
                </a:solidFill>
                <a:latin typeface="Calibri" pitchFamily="34" charset="0"/>
                <a:ea typeface="Calibri" pitchFamily="34" charset="-122"/>
                <a:cs typeface="Calibri" pitchFamily="34" charset="-120"/>
              </a:rPr>
              <a:t>Given an array of </a:t>
            </a:r>
            <a:r>
              <a:rPr lang="en-US" sz="1550" b="1" i="1" dirty="0">
                <a:solidFill>
                  <a:srgbClr val="1A1A2E"/>
                </a:solidFill>
                <a:latin typeface="Calibri" pitchFamily="34" charset="0"/>
                <a:ea typeface="Calibri" pitchFamily="34" charset="-122"/>
                <a:cs typeface="Calibri" pitchFamily="34" charset="-120"/>
              </a:rPr>
              <a:t>n</a:t>
            </a:r>
            <a:r>
              <a:rPr lang="en-US" sz="1550" dirty="0">
                <a:solidFill>
                  <a:srgbClr val="1A1A2E"/>
                </a:solidFill>
                <a:latin typeface="Calibri" pitchFamily="34" charset="0"/>
                <a:ea typeface="Calibri" pitchFamily="34" charset="-122"/>
                <a:cs typeface="Calibri" pitchFamily="34" charset="-120"/>
              </a:rPr>
              <a:t> integers, find the length of the longest </a:t>
            </a:r>
            <a:r>
              <a:rPr lang="en-US" sz="1550" b="1" dirty="0">
                <a:solidFill>
                  <a:srgbClr val="1E2761"/>
                </a:solidFill>
                <a:latin typeface="Calibri" pitchFamily="34" charset="0"/>
                <a:ea typeface="Calibri" pitchFamily="34" charset="-122"/>
                <a:cs typeface="Calibri" pitchFamily="34" charset="-120"/>
              </a:rPr>
              <a:t>strictly increasing</a:t>
            </a:r>
            <a:r>
              <a:rPr lang="en-US" sz="1550" dirty="0">
                <a:solidFill>
                  <a:srgbClr val="1A1A2E"/>
                </a:solidFill>
                <a:latin typeface="Calibri" pitchFamily="34" charset="0"/>
                <a:ea typeface="Calibri" pitchFamily="34" charset="-122"/>
                <a:cs typeface="Calibri" pitchFamily="34" charset="-120"/>
              </a:rPr>
              <a:t> subsequence (LIS) — a subsequence whose elements are sorted in increasing order.</a:t>
            </a:r>
            <a:endParaRPr lang="en-US" sz="1550" dirty="0"/>
          </a:p>
        </p:txBody>
      </p:sp>
      <p:sp>
        <p:nvSpPr>
          <p:cNvPr id="8" name="Shape 5"/>
          <p:cNvSpPr/>
          <p:nvPr/>
        </p:nvSpPr>
        <p:spPr>
          <a:xfrm>
            <a:off x="548640" y="3108960"/>
            <a:ext cx="5394960" cy="3017520"/>
          </a:xfrm>
          <a:prstGeom prst="roundRect">
            <a:avLst>
              <a:gd name="adj" fmla="val 2424"/>
            </a:avLst>
          </a:prstGeom>
          <a:solidFill>
            <a:srgbClr val="F3F6FC"/>
          </a:solidFill>
          <a:ln/>
        </p:spPr>
      </p:sp>
      <p:sp>
        <p:nvSpPr>
          <p:cNvPr id="9" name="Text 6"/>
          <p:cNvSpPr/>
          <p:nvPr/>
        </p:nvSpPr>
        <p:spPr>
          <a:xfrm>
            <a:off x="868680" y="3337560"/>
            <a:ext cx="4572000" cy="320040"/>
          </a:xfrm>
          <a:prstGeom prst="rect">
            <a:avLst/>
          </a:prstGeom>
          <a:noFill/>
          <a:ln/>
        </p:spPr>
        <p:txBody>
          <a:bodyPr wrap="square"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INPUT</a:t>
            </a:r>
            <a:endParaRPr lang="en-US" sz="1200" dirty="0"/>
          </a:p>
        </p:txBody>
      </p:sp>
      <p:sp>
        <p:nvSpPr>
          <p:cNvPr id="10" name="Shape 7"/>
          <p:cNvSpPr/>
          <p:nvPr/>
        </p:nvSpPr>
        <p:spPr>
          <a:xfrm>
            <a:off x="868680" y="3703320"/>
            <a:ext cx="4754880" cy="960120"/>
          </a:xfrm>
          <a:prstGeom prst="roundRect">
            <a:avLst>
              <a:gd name="adj" fmla="val 8571"/>
            </a:avLst>
          </a:prstGeom>
          <a:solidFill>
            <a:srgbClr val="17203D"/>
          </a:solidFill>
          <a:ln/>
        </p:spPr>
      </p:sp>
      <p:sp>
        <p:nvSpPr>
          <p:cNvPr id="11" name="Text 8"/>
          <p:cNvSpPr/>
          <p:nvPr/>
        </p:nvSpPr>
        <p:spPr>
          <a:xfrm>
            <a:off x="1124712" y="3886200"/>
            <a:ext cx="4242816" cy="594360"/>
          </a:xfrm>
          <a:prstGeom prst="rect">
            <a:avLst/>
          </a:prstGeom>
          <a:noFill/>
          <a:ln/>
        </p:spPr>
        <p:txBody>
          <a:bodyPr wrap="square" lIns="0" tIns="0" rIns="0" bIns="0" rtlCol="0" anchor="t"/>
          <a:lstStyle/>
          <a:p>
            <a:pPr marL="0" indent="0">
              <a:lnSpc>
                <a:spcPct val="120000"/>
              </a:lnSpc>
              <a:buNone/>
            </a:pPr>
            <a:r>
              <a:rPr lang="en-US" sz="1500" dirty="0">
                <a:solidFill>
                  <a:srgbClr val="CADCFC"/>
                </a:solidFill>
                <a:latin typeface="Courier New" pitchFamily="34" charset="0"/>
                <a:ea typeface="Courier New" pitchFamily="34" charset="-122"/>
                <a:cs typeface="Courier New" pitchFamily="34" charset="-120"/>
              </a:rPr>
              <a:t>arr = [10, 22, 9, 33, 21,</a:t>
            </a:r>
            <a:endParaRPr lang="en-US" sz="1500" dirty="0"/>
          </a:p>
          <a:p>
            <a:pPr marL="0" indent="0">
              <a:lnSpc>
                <a:spcPct val="120000"/>
              </a:lnSpc>
              <a:buNone/>
            </a:pPr>
            <a:r>
              <a:rPr lang="en-US" sz="1500" dirty="0">
                <a:solidFill>
                  <a:srgbClr val="CADCFC"/>
                </a:solidFill>
                <a:latin typeface="Courier New" pitchFamily="34" charset="0"/>
                <a:ea typeface="Courier New" pitchFamily="34" charset="-122"/>
                <a:cs typeface="Courier New" pitchFamily="34" charset="-120"/>
              </a:rPr>
              <a:t>       50, 41, 60, 80]</a:t>
            </a:r>
            <a:endParaRPr lang="en-US" sz="1500" dirty="0"/>
          </a:p>
        </p:txBody>
      </p:sp>
      <p:sp>
        <p:nvSpPr>
          <p:cNvPr id="12" name="Text 9"/>
          <p:cNvSpPr/>
          <p:nvPr/>
        </p:nvSpPr>
        <p:spPr>
          <a:xfrm>
            <a:off x="868680" y="4846320"/>
            <a:ext cx="4572000" cy="320040"/>
          </a:xfrm>
          <a:prstGeom prst="rect">
            <a:avLst/>
          </a:prstGeom>
          <a:noFill/>
          <a:ln/>
        </p:spPr>
        <p:txBody>
          <a:bodyPr wrap="square"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OUTPUT</a:t>
            </a:r>
            <a:endParaRPr lang="en-US" sz="1200" dirty="0"/>
          </a:p>
        </p:txBody>
      </p:sp>
      <p:sp>
        <p:nvSpPr>
          <p:cNvPr id="13" name="Text 10"/>
          <p:cNvSpPr/>
          <p:nvPr/>
        </p:nvSpPr>
        <p:spPr>
          <a:xfrm>
            <a:off x="868680" y="5193792"/>
            <a:ext cx="4754880" cy="777240"/>
          </a:xfrm>
          <a:prstGeom prst="rect">
            <a:avLst/>
          </a:prstGeom>
          <a:noFill/>
          <a:ln/>
        </p:spPr>
        <p:txBody>
          <a:bodyPr wrap="square" rtlCol="0" anchor="ctr"/>
          <a:lstStyle/>
          <a:p>
            <a:pPr marL="0" indent="0">
              <a:lnSpc>
                <a:spcPct val="130000"/>
              </a:lnSpc>
              <a:buNone/>
            </a:pPr>
            <a:r>
              <a:rPr lang="en-US" sz="2000" b="1" dirty="0">
                <a:solidFill>
                  <a:srgbClr val="1E2761"/>
                </a:solidFill>
                <a:latin typeface="Calibri" pitchFamily="34" charset="0"/>
                <a:ea typeface="Calibri" pitchFamily="34" charset="-122"/>
                <a:cs typeface="Calibri" pitchFamily="34" charset="-120"/>
              </a:rPr>
              <a:t>Length = 6</a:t>
            </a:r>
            <a:endParaRPr lang="en-US" sz="2000" dirty="0"/>
          </a:p>
          <a:p>
            <a:pPr marL="0" indent="0">
              <a:lnSpc>
                <a:spcPct val="130000"/>
              </a:lnSpc>
              <a:buNone/>
            </a:pPr>
            <a:r>
              <a:rPr lang="en-US" sz="1400" dirty="0">
                <a:solidFill>
                  <a:srgbClr val="1A1A2E"/>
                </a:solidFill>
                <a:latin typeface="Calibri" pitchFamily="34" charset="0"/>
                <a:ea typeface="Calibri" pitchFamily="34" charset="-122"/>
                <a:cs typeface="Calibri" pitchFamily="34" charset="-120"/>
              </a:rPr>
              <a:t>One LIS = 10, 22, 33, 50, 60, 80</a:t>
            </a:r>
            <a:endParaRPr lang="en-US" sz="2000" dirty="0"/>
          </a:p>
        </p:txBody>
      </p:sp>
      <p:sp>
        <p:nvSpPr>
          <p:cNvPr id="18" name="Text 15"/>
          <p:cNvSpPr/>
          <p:nvPr/>
        </p:nvSpPr>
        <p:spPr>
          <a:xfrm>
            <a:off x="6565392" y="5623560"/>
            <a:ext cx="4892040" cy="36576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turn the page for faster approaches</a:t>
            </a:r>
            <a:endParaRPr lang="en-US" sz="1200" dirty="0"/>
          </a:p>
        </p:txBody>
      </p:sp>
      <p:sp>
        <p:nvSpPr>
          <p:cNvPr id="19" name="Text 16"/>
          <p:cNvSpPr/>
          <p:nvPr/>
        </p:nvSpPr>
        <p:spPr>
          <a:xfrm>
            <a:off x="548640" y="6510528"/>
            <a:ext cx="8229600" cy="274320"/>
          </a:xfrm>
          <a:prstGeom prst="rect">
            <a:avLst/>
          </a:prstGeom>
          <a:noFill/>
          <a:ln/>
        </p:spPr>
        <p:txBody>
          <a:bodyPr wrap="square" rtlCol="0" anchor="ctr"/>
          <a:lstStyle/>
          <a:p>
            <a:pPr marL="0" indent="0">
              <a:buNone/>
            </a:pPr>
            <a:r>
              <a:rPr lang="en-US" sz="850" kern="0" spc="100" dirty="0">
                <a:solidFill>
                  <a:srgbClr val="5B6472"/>
                </a:solidFill>
                <a:latin typeface="Calibri" pitchFamily="34" charset="0"/>
                <a:ea typeface="Calibri" pitchFamily="34" charset="-122"/>
                <a:cs typeface="Calibri" pitchFamily="34" charset="-120"/>
              </a:rPr>
              <a:t>LONGEST INCREASING SUBSEQUENCE  ·  DYNAMIC PROGRAMMING</a:t>
            </a:r>
            <a:endParaRPr lang="en-US" sz="850" dirty="0"/>
          </a:p>
        </p:txBody>
      </p:sp>
      <p:sp>
        <p:nvSpPr>
          <p:cNvPr id="20" name="Text 17"/>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09728"/>
            <a:ext cx="9144000" cy="274320"/>
          </a:xfrm>
          <a:prstGeom prst="rect">
            <a:avLst/>
          </a:prstGeom>
          <a:noFill/>
          <a:ln/>
        </p:spPr>
        <p:txBody>
          <a:bodyPr wrap="square" rtlCol="0" anchor="ctr"/>
          <a:lstStyle/>
          <a:p>
            <a:pPr marL="0" indent="0">
              <a:buNone/>
            </a:pPr>
            <a:r>
              <a:rPr lang="en-US" sz="1100" b="1" kern="0" spc="200" dirty="0">
                <a:solidFill>
                  <a:srgbClr val="E8A33D"/>
                </a:solidFill>
                <a:latin typeface="Calibri" pitchFamily="34" charset="0"/>
                <a:ea typeface="Calibri" pitchFamily="34" charset="-122"/>
                <a:cs typeface="Calibri" pitchFamily="34" charset="-120"/>
              </a:rPr>
              <a:t>NECESSARY CONDITIONS FOR DP</a:t>
            </a:r>
            <a:endParaRPr lang="en-US" sz="1100" dirty="0"/>
          </a:p>
        </p:txBody>
      </p:sp>
      <p:sp>
        <p:nvSpPr>
          <p:cNvPr id="3" name="Text 1"/>
          <p:cNvSpPr/>
          <p:nvPr/>
        </p:nvSpPr>
        <p:spPr>
          <a:xfrm>
            <a:off x="548640" y="384048"/>
            <a:ext cx="1106424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The Two Conditions DP Requires</a:t>
            </a:r>
            <a:endParaRPr lang="en-US" sz="3000" dirty="0"/>
          </a:p>
        </p:txBody>
      </p:sp>
      <p:sp>
        <p:nvSpPr>
          <p:cNvPr id="4" name="Shape 2"/>
          <p:cNvSpPr/>
          <p:nvPr/>
        </p:nvSpPr>
        <p:spPr>
          <a:xfrm>
            <a:off x="548640" y="1417320"/>
            <a:ext cx="5394960" cy="4754880"/>
          </a:xfrm>
          <a:prstGeom prst="roundRect">
            <a:avLst>
              <a:gd name="adj" fmla="val 1538"/>
            </a:avLst>
          </a:prstGeom>
          <a:solidFill>
            <a:srgbClr val="F3F6FC"/>
          </a:solidFill>
          <a:ln/>
        </p:spPr>
      </p:sp>
      <p:sp>
        <p:nvSpPr>
          <p:cNvPr id="5" name="Shape 3"/>
          <p:cNvSpPr/>
          <p:nvPr/>
        </p:nvSpPr>
        <p:spPr>
          <a:xfrm>
            <a:off x="868680" y="1691640"/>
            <a:ext cx="548640" cy="548640"/>
          </a:xfrm>
          <a:prstGeom prst="ellipse">
            <a:avLst/>
          </a:prstGeom>
          <a:solidFill>
            <a:srgbClr val="1E2761"/>
          </a:solidFill>
          <a:ln/>
        </p:spPr>
      </p:sp>
      <p:pic>
        <p:nvPicPr>
          <p:cNvPr id="6" name="Image 0" descr="preencoded.png"/>
          <p:cNvPicPr>
            <a:picLocks noChangeAspect="1"/>
          </p:cNvPicPr>
          <p:nvPr/>
        </p:nvPicPr>
        <p:blipFill>
          <a:blip r:embed="rId3"/>
          <a:stretch>
            <a:fillRect/>
          </a:stretch>
        </p:blipFill>
        <p:spPr>
          <a:xfrm>
            <a:off x="1088136" y="1911096"/>
            <a:ext cx="109728" cy="109728"/>
          </a:xfrm>
          <a:prstGeom prst="rect">
            <a:avLst/>
          </a:prstGeom>
        </p:spPr>
      </p:pic>
      <p:sp>
        <p:nvSpPr>
          <p:cNvPr id="7" name="Text 4"/>
          <p:cNvSpPr/>
          <p:nvPr/>
        </p:nvSpPr>
        <p:spPr>
          <a:xfrm>
            <a:off x="1600200" y="1691640"/>
            <a:ext cx="4206240" cy="548640"/>
          </a:xfrm>
          <a:prstGeom prst="rect">
            <a:avLst/>
          </a:prstGeom>
          <a:noFill/>
          <a:ln/>
        </p:spPr>
        <p:txBody>
          <a:bodyPr wrap="square" rtlCol="0" anchor="ctr"/>
          <a:lstStyle/>
          <a:p>
            <a:pPr marL="0" indent="0">
              <a:buNone/>
            </a:pPr>
            <a:r>
              <a:rPr lang="en-US" sz="1650" b="1" dirty="0">
                <a:solidFill>
                  <a:srgbClr val="1E2761"/>
                </a:solidFill>
                <a:latin typeface="Cambria" pitchFamily="34" charset="0"/>
                <a:ea typeface="Cambria" pitchFamily="34" charset="-122"/>
                <a:cs typeface="Cambria" pitchFamily="34" charset="-120"/>
              </a:rPr>
              <a:t>Optimal Substructure</a:t>
            </a:r>
            <a:endParaRPr lang="en-US" sz="1650" dirty="0"/>
          </a:p>
        </p:txBody>
      </p:sp>
      <p:sp>
        <p:nvSpPr>
          <p:cNvPr id="8" name="Text 5"/>
          <p:cNvSpPr/>
          <p:nvPr/>
        </p:nvSpPr>
        <p:spPr>
          <a:xfrm>
            <a:off x="868680" y="2377440"/>
            <a:ext cx="4754880" cy="777240"/>
          </a:xfrm>
          <a:prstGeom prst="rect">
            <a:avLst/>
          </a:prstGeom>
          <a:noFill/>
          <a:ln/>
        </p:spPr>
        <p:txBody>
          <a:bodyPr wrap="square" rtlCol="0" anchor="ctr"/>
          <a:lstStyle/>
          <a:p>
            <a:pPr marL="0" indent="0">
              <a:lnSpc>
                <a:spcPct val="130000"/>
              </a:lnSpc>
              <a:buNone/>
            </a:pPr>
            <a:r>
              <a:rPr lang="en-US" sz="1300" dirty="0">
                <a:solidFill>
                  <a:srgbClr val="1A1A2E"/>
                </a:solidFill>
                <a:latin typeface="Calibri" pitchFamily="34" charset="0"/>
                <a:ea typeface="Calibri" pitchFamily="34" charset="-122"/>
                <a:cs typeface="Calibri" pitchFamily="34" charset="-120"/>
              </a:rPr>
              <a:t>The best LIS ending at index i is built directly from the best LIS ending at some earlier index j.</a:t>
            </a:r>
            <a:endParaRPr lang="en-US" sz="1300" dirty="0"/>
          </a:p>
        </p:txBody>
      </p:sp>
      <p:sp>
        <p:nvSpPr>
          <p:cNvPr id="9" name="Shape 6"/>
          <p:cNvSpPr/>
          <p:nvPr/>
        </p:nvSpPr>
        <p:spPr>
          <a:xfrm>
            <a:off x="868680" y="3200400"/>
            <a:ext cx="4754880" cy="1051560"/>
          </a:xfrm>
          <a:prstGeom prst="roundRect">
            <a:avLst>
              <a:gd name="adj" fmla="val 7826"/>
            </a:avLst>
          </a:prstGeom>
          <a:solidFill>
            <a:srgbClr val="17203D"/>
          </a:solidFill>
          <a:ln/>
        </p:spPr>
      </p:sp>
      <p:sp>
        <p:nvSpPr>
          <p:cNvPr id="10" name="Text 7"/>
          <p:cNvSpPr/>
          <p:nvPr/>
        </p:nvSpPr>
        <p:spPr>
          <a:xfrm>
            <a:off x="1124712" y="3383280"/>
            <a:ext cx="4242816" cy="685800"/>
          </a:xfrm>
          <a:prstGeom prst="rect">
            <a:avLst/>
          </a:prstGeom>
          <a:noFill/>
          <a:ln/>
        </p:spPr>
        <p:txBody>
          <a:bodyPr wrap="square" lIns="0" tIns="0" rIns="0" bIns="0" rtlCol="0" anchor="t"/>
          <a:lstStyle/>
          <a:p>
            <a:pPr marL="0" indent="0">
              <a:lnSpc>
                <a:spcPct val="120000"/>
              </a:lnSpc>
              <a:buNone/>
            </a:pPr>
            <a:r>
              <a:rPr lang="en-US" sz="1300" dirty="0">
                <a:solidFill>
                  <a:srgbClr val="CADCFC"/>
                </a:solidFill>
                <a:latin typeface="Courier New" pitchFamily="34" charset="0"/>
                <a:ea typeface="Courier New" pitchFamily="34" charset="-122"/>
                <a:cs typeface="Courier New" pitchFamily="34" charset="-120"/>
              </a:rPr>
              <a:t>LIS(i) = 1 + max( LIS(j) )</a:t>
            </a:r>
            <a:endParaRPr lang="en-US" sz="1300" dirty="0"/>
          </a:p>
          <a:p>
            <a:pPr marL="0" indent="0">
              <a:lnSpc>
                <a:spcPct val="120000"/>
              </a:lnSpc>
              <a:buNone/>
            </a:pPr>
            <a:r>
              <a:rPr lang="en-US" sz="1300" dirty="0">
                <a:solidFill>
                  <a:srgbClr val="CADCFC"/>
                </a:solidFill>
                <a:latin typeface="Courier New" pitchFamily="34" charset="0"/>
                <a:ea typeface="Courier New" pitchFamily="34" charset="-122"/>
                <a:cs typeface="Courier New" pitchFamily="34" charset="-120"/>
              </a:rPr>
              <a:t>          for all j &lt; i</a:t>
            </a:r>
            <a:endParaRPr lang="en-US" sz="1300" dirty="0"/>
          </a:p>
          <a:p>
            <a:pPr marL="0" indent="0">
              <a:lnSpc>
                <a:spcPct val="120000"/>
              </a:lnSpc>
              <a:buNone/>
            </a:pPr>
            <a:r>
              <a:rPr lang="en-US" sz="1300" dirty="0">
                <a:solidFill>
                  <a:srgbClr val="CADCFC"/>
                </a:solidFill>
                <a:latin typeface="Courier New" pitchFamily="34" charset="0"/>
                <a:ea typeface="Courier New" pitchFamily="34" charset="-122"/>
                <a:cs typeface="Courier New" pitchFamily="34" charset="-120"/>
              </a:rPr>
              <a:t>          where arr[j] &lt; arr[i]</a:t>
            </a:r>
            <a:endParaRPr lang="en-US" sz="1300" dirty="0"/>
          </a:p>
        </p:txBody>
      </p:sp>
      <p:sp>
        <p:nvSpPr>
          <p:cNvPr id="11" name="Text 8"/>
          <p:cNvSpPr/>
          <p:nvPr/>
        </p:nvSpPr>
        <p:spPr>
          <a:xfrm>
            <a:off x="868680" y="4434840"/>
            <a:ext cx="4754880" cy="685800"/>
          </a:xfrm>
          <a:prstGeom prst="rect">
            <a:avLst/>
          </a:prstGeom>
          <a:noFill/>
          <a:ln/>
        </p:spPr>
        <p:txBody>
          <a:bodyPr wrap="square" rtlCol="0" anchor="ctr"/>
          <a:lstStyle/>
          <a:p>
            <a:pPr marL="0" indent="0">
              <a:lnSpc>
                <a:spcPct val="130000"/>
              </a:lnSpc>
              <a:buNone/>
            </a:pPr>
            <a:r>
              <a:rPr lang="en-US" sz="1200" i="1" dirty="0">
                <a:solidFill>
                  <a:srgbClr val="5B6472"/>
                </a:solidFill>
                <a:latin typeface="Calibri" pitchFamily="34" charset="0"/>
                <a:ea typeface="Calibri" pitchFamily="34" charset="-122"/>
                <a:cs typeface="Calibri" pitchFamily="34" charset="-120"/>
              </a:rPr>
              <a:t>An optimal solution to the whole problem contains optimal solutions to its subproblems.</a:t>
            </a:r>
            <a:endParaRPr lang="en-US" sz="1200" dirty="0"/>
          </a:p>
        </p:txBody>
      </p:sp>
      <p:sp>
        <p:nvSpPr>
          <p:cNvPr id="12" name="Shape 9"/>
          <p:cNvSpPr/>
          <p:nvPr/>
        </p:nvSpPr>
        <p:spPr>
          <a:xfrm>
            <a:off x="6245352" y="1417320"/>
            <a:ext cx="5394960" cy="4754880"/>
          </a:xfrm>
          <a:prstGeom prst="roundRect">
            <a:avLst>
              <a:gd name="adj" fmla="val 1538"/>
            </a:avLst>
          </a:prstGeom>
          <a:solidFill>
            <a:srgbClr val="F3F6FC"/>
          </a:solidFill>
          <a:ln/>
        </p:spPr>
      </p:sp>
      <p:sp>
        <p:nvSpPr>
          <p:cNvPr id="13" name="Shape 10"/>
          <p:cNvSpPr/>
          <p:nvPr/>
        </p:nvSpPr>
        <p:spPr>
          <a:xfrm>
            <a:off x="6565392" y="1691640"/>
            <a:ext cx="548640" cy="548640"/>
          </a:xfrm>
          <a:prstGeom prst="ellipse">
            <a:avLst/>
          </a:prstGeom>
          <a:solidFill>
            <a:srgbClr val="E8A33D"/>
          </a:solidFill>
          <a:ln/>
        </p:spPr>
      </p:sp>
      <p:pic>
        <p:nvPicPr>
          <p:cNvPr id="14" name="Image 1" descr="preencoded.png"/>
          <p:cNvPicPr>
            <a:picLocks noChangeAspect="1"/>
          </p:cNvPicPr>
          <p:nvPr/>
        </p:nvPicPr>
        <p:blipFill>
          <a:blip r:embed="rId4"/>
          <a:stretch>
            <a:fillRect/>
          </a:stretch>
        </p:blipFill>
        <p:spPr>
          <a:xfrm>
            <a:off x="6784848" y="1911096"/>
            <a:ext cx="109728" cy="109728"/>
          </a:xfrm>
          <a:prstGeom prst="rect">
            <a:avLst/>
          </a:prstGeom>
        </p:spPr>
      </p:pic>
      <p:sp>
        <p:nvSpPr>
          <p:cNvPr id="15" name="Text 11"/>
          <p:cNvSpPr/>
          <p:nvPr/>
        </p:nvSpPr>
        <p:spPr>
          <a:xfrm>
            <a:off x="7296912" y="1691640"/>
            <a:ext cx="4206240" cy="548640"/>
          </a:xfrm>
          <a:prstGeom prst="rect">
            <a:avLst/>
          </a:prstGeom>
          <a:noFill/>
          <a:ln/>
        </p:spPr>
        <p:txBody>
          <a:bodyPr wrap="square" rtlCol="0" anchor="ctr"/>
          <a:lstStyle/>
          <a:p>
            <a:pPr marL="0" indent="0">
              <a:buNone/>
            </a:pPr>
            <a:r>
              <a:rPr lang="en-US" sz="1650" b="1" dirty="0">
                <a:solidFill>
                  <a:srgbClr val="1E2761"/>
                </a:solidFill>
                <a:latin typeface="Cambria" pitchFamily="34" charset="0"/>
                <a:ea typeface="Cambria" pitchFamily="34" charset="-122"/>
                <a:cs typeface="Cambria" pitchFamily="34" charset="-120"/>
              </a:rPr>
              <a:t>Overlapping Subproblems</a:t>
            </a:r>
            <a:endParaRPr lang="en-US" sz="1650" dirty="0"/>
          </a:p>
        </p:txBody>
      </p:sp>
      <p:sp>
        <p:nvSpPr>
          <p:cNvPr id="16" name="Text 12"/>
          <p:cNvSpPr/>
          <p:nvPr/>
        </p:nvSpPr>
        <p:spPr>
          <a:xfrm>
            <a:off x="6565392" y="2377440"/>
            <a:ext cx="4754880" cy="777240"/>
          </a:xfrm>
          <a:prstGeom prst="rect">
            <a:avLst/>
          </a:prstGeom>
          <a:noFill/>
          <a:ln/>
        </p:spPr>
        <p:txBody>
          <a:bodyPr wrap="square" rtlCol="0" anchor="ctr"/>
          <a:lstStyle/>
          <a:p>
            <a:pPr marL="0" indent="0">
              <a:lnSpc>
                <a:spcPct val="130000"/>
              </a:lnSpc>
              <a:buNone/>
            </a:pPr>
            <a:r>
              <a:rPr lang="en-US" sz="1300" dirty="0">
                <a:solidFill>
                  <a:srgbClr val="1A1A2E"/>
                </a:solidFill>
                <a:latin typeface="Calibri" pitchFamily="34" charset="0"/>
                <a:ea typeface="Calibri" pitchFamily="34" charset="-122"/>
                <a:cs typeface="Calibri" pitchFamily="34" charset="-120"/>
              </a:rPr>
              <a:t>Plain recursion recomputes LIS(j) again and again for the same index j — huge waste.</a:t>
            </a:r>
            <a:endParaRPr lang="en-US" sz="1300" dirty="0"/>
          </a:p>
        </p:txBody>
      </p:sp>
      <p:sp>
        <p:nvSpPr>
          <p:cNvPr id="17" name="Shape 13"/>
          <p:cNvSpPr/>
          <p:nvPr/>
        </p:nvSpPr>
        <p:spPr>
          <a:xfrm>
            <a:off x="8485632" y="3520440"/>
            <a:ext cx="0" cy="320040"/>
          </a:xfrm>
          <a:prstGeom prst="line">
            <a:avLst/>
          </a:prstGeom>
          <a:noFill/>
          <a:ln w="15875">
            <a:solidFill>
              <a:srgbClr val="AEBBD8"/>
            </a:solidFill>
            <a:prstDash val="solid"/>
          </a:ln>
        </p:spPr>
      </p:sp>
      <p:sp>
        <p:nvSpPr>
          <p:cNvPr id="18" name="Shape 14"/>
          <p:cNvSpPr/>
          <p:nvPr/>
        </p:nvSpPr>
        <p:spPr>
          <a:xfrm>
            <a:off x="8485632" y="3520440"/>
            <a:ext cx="0" cy="320040"/>
          </a:xfrm>
          <a:prstGeom prst="line">
            <a:avLst/>
          </a:prstGeom>
          <a:noFill/>
          <a:ln w="15875">
            <a:solidFill>
              <a:srgbClr val="AEBBD8"/>
            </a:solidFill>
            <a:prstDash val="solid"/>
          </a:ln>
        </p:spPr>
      </p:sp>
      <p:sp>
        <p:nvSpPr>
          <p:cNvPr id="19" name="Shape 15"/>
          <p:cNvSpPr/>
          <p:nvPr/>
        </p:nvSpPr>
        <p:spPr>
          <a:xfrm>
            <a:off x="8485632" y="3520440"/>
            <a:ext cx="1005840" cy="320040"/>
          </a:xfrm>
          <a:prstGeom prst="line">
            <a:avLst/>
          </a:prstGeom>
          <a:noFill/>
          <a:ln w="15875">
            <a:solidFill>
              <a:srgbClr val="AEBBD8"/>
            </a:solidFill>
            <a:prstDash val="solid"/>
          </a:ln>
        </p:spPr>
      </p:sp>
      <p:sp>
        <p:nvSpPr>
          <p:cNvPr id="20" name="Shape 16"/>
          <p:cNvSpPr/>
          <p:nvPr/>
        </p:nvSpPr>
        <p:spPr>
          <a:xfrm>
            <a:off x="8229600" y="3246120"/>
            <a:ext cx="777240" cy="384048"/>
          </a:xfrm>
          <a:prstGeom prst="roundRect">
            <a:avLst>
              <a:gd name="adj" fmla="val 14286"/>
            </a:avLst>
          </a:prstGeom>
          <a:solidFill>
            <a:srgbClr val="1E2761"/>
          </a:solidFill>
          <a:ln/>
        </p:spPr>
      </p:sp>
      <p:sp>
        <p:nvSpPr>
          <p:cNvPr id="21" name="Text 17"/>
          <p:cNvSpPr/>
          <p:nvPr/>
        </p:nvSpPr>
        <p:spPr>
          <a:xfrm>
            <a:off x="8229600" y="3246120"/>
            <a:ext cx="777240" cy="384048"/>
          </a:xfrm>
          <a:prstGeom prst="rect">
            <a:avLst/>
          </a:prstGeom>
          <a:noFill/>
          <a:ln/>
        </p:spPr>
        <p:txBody>
          <a:bodyPr wrap="square"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LIS(4)</a:t>
            </a:r>
            <a:endParaRPr lang="en-US" sz="1100" dirty="0"/>
          </a:p>
        </p:txBody>
      </p:sp>
      <p:sp>
        <p:nvSpPr>
          <p:cNvPr id="22" name="Shape 18"/>
          <p:cNvSpPr/>
          <p:nvPr/>
        </p:nvSpPr>
        <p:spPr>
          <a:xfrm>
            <a:off x="7040880" y="3840480"/>
            <a:ext cx="777240" cy="384048"/>
          </a:xfrm>
          <a:prstGeom prst="roundRect">
            <a:avLst>
              <a:gd name="adj" fmla="val 14286"/>
            </a:avLst>
          </a:prstGeom>
          <a:solidFill>
            <a:srgbClr val="1E2761"/>
          </a:solidFill>
          <a:ln/>
        </p:spPr>
      </p:sp>
      <p:sp>
        <p:nvSpPr>
          <p:cNvPr id="23" name="Text 19"/>
          <p:cNvSpPr/>
          <p:nvPr/>
        </p:nvSpPr>
        <p:spPr>
          <a:xfrm>
            <a:off x="7040880" y="3840480"/>
            <a:ext cx="777240" cy="384048"/>
          </a:xfrm>
          <a:prstGeom prst="rect">
            <a:avLst/>
          </a:prstGeom>
          <a:noFill/>
          <a:ln/>
        </p:spPr>
        <p:txBody>
          <a:bodyPr wrap="square"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LIS(2)</a:t>
            </a:r>
            <a:endParaRPr lang="en-US" sz="1100" dirty="0"/>
          </a:p>
        </p:txBody>
      </p:sp>
      <p:sp>
        <p:nvSpPr>
          <p:cNvPr id="24" name="Shape 20"/>
          <p:cNvSpPr/>
          <p:nvPr/>
        </p:nvSpPr>
        <p:spPr>
          <a:xfrm>
            <a:off x="8138160" y="3840480"/>
            <a:ext cx="777240" cy="384048"/>
          </a:xfrm>
          <a:prstGeom prst="roundRect">
            <a:avLst>
              <a:gd name="adj" fmla="val 14286"/>
            </a:avLst>
          </a:prstGeom>
          <a:solidFill>
            <a:srgbClr val="E8A33D"/>
          </a:solidFill>
          <a:ln/>
        </p:spPr>
      </p:sp>
      <p:sp>
        <p:nvSpPr>
          <p:cNvPr id="25" name="Text 21"/>
          <p:cNvSpPr/>
          <p:nvPr/>
        </p:nvSpPr>
        <p:spPr>
          <a:xfrm>
            <a:off x="8138160" y="3840480"/>
            <a:ext cx="777240" cy="384048"/>
          </a:xfrm>
          <a:prstGeom prst="rect">
            <a:avLst/>
          </a:prstGeom>
          <a:noFill/>
          <a:ln/>
        </p:spPr>
        <p:txBody>
          <a:bodyPr wrap="square"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LIS(3)</a:t>
            </a:r>
            <a:endParaRPr lang="en-US" sz="1100" dirty="0"/>
          </a:p>
        </p:txBody>
      </p:sp>
      <p:sp>
        <p:nvSpPr>
          <p:cNvPr id="26" name="Shape 22"/>
          <p:cNvSpPr/>
          <p:nvPr/>
        </p:nvSpPr>
        <p:spPr>
          <a:xfrm>
            <a:off x="9235440" y="3840480"/>
            <a:ext cx="777240" cy="384048"/>
          </a:xfrm>
          <a:prstGeom prst="roundRect">
            <a:avLst>
              <a:gd name="adj" fmla="val 14286"/>
            </a:avLst>
          </a:prstGeom>
          <a:solidFill>
            <a:srgbClr val="E8A33D"/>
          </a:solidFill>
          <a:ln/>
        </p:spPr>
      </p:sp>
      <p:sp>
        <p:nvSpPr>
          <p:cNvPr id="27" name="Text 23"/>
          <p:cNvSpPr/>
          <p:nvPr/>
        </p:nvSpPr>
        <p:spPr>
          <a:xfrm>
            <a:off x="9235440" y="3840480"/>
            <a:ext cx="777240" cy="384048"/>
          </a:xfrm>
          <a:prstGeom prst="rect">
            <a:avLst/>
          </a:prstGeom>
          <a:noFill/>
          <a:ln/>
        </p:spPr>
        <p:txBody>
          <a:bodyPr wrap="square"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LIS(3)</a:t>
            </a:r>
            <a:endParaRPr lang="en-US" sz="1100" dirty="0"/>
          </a:p>
        </p:txBody>
      </p:sp>
      <p:sp>
        <p:nvSpPr>
          <p:cNvPr id="28" name="Text 24"/>
          <p:cNvSpPr/>
          <p:nvPr/>
        </p:nvSpPr>
        <p:spPr>
          <a:xfrm>
            <a:off x="6565392" y="4480560"/>
            <a:ext cx="4754880" cy="685800"/>
          </a:xfrm>
          <a:prstGeom prst="rect">
            <a:avLst/>
          </a:prstGeom>
          <a:noFill/>
          <a:ln/>
        </p:spPr>
        <p:txBody>
          <a:bodyPr wrap="square" rtlCol="0" anchor="ctr"/>
          <a:lstStyle/>
          <a:p>
            <a:pPr marL="0" indent="0">
              <a:lnSpc>
                <a:spcPct val="130000"/>
              </a:lnSpc>
              <a:buNone/>
            </a:pPr>
            <a:r>
              <a:rPr lang="en-US" sz="1200" i="1" dirty="0">
                <a:solidFill>
                  <a:srgbClr val="5B6472"/>
                </a:solidFill>
                <a:latin typeface="Calibri" pitchFamily="34" charset="0"/>
                <a:ea typeface="Calibri" pitchFamily="34" charset="-122"/>
                <a:cs typeface="Calibri" pitchFamily="34" charset="-120"/>
              </a:rPr>
              <a:t>LIS(3) is requested twice — memoization solves it once and reuses the result.</a:t>
            </a:r>
            <a:endParaRPr lang="en-US" sz="1200" dirty="0"/>
          </a:p>
        </p:txBody>
      </p:sp>
      <p:sp>
        <p:nvSpPr>
          <p:cNvPr id="29" name="Text 25"/>
          <p:cNvSpPr/>
          <p:nvPr/>
        </p:nvSpPr>
        <p:spPr>
          <a:xfrm>
            <a:off x="548640" y="6510528"/>
            <a:ext cx="8229600" cy="274320"/>
          </a:xfrm>
          <a:prstGeom prst="rect">
            <a:avLst/>
          </a:prstGeom>
          <a:noFill/>
          <a:ln/>
        </p:spPr>
        <p:txBody>
          <a:bodyPr wrap="square" rtlCol="0" anchor="ctr"/>
          <a:lstStyle/>
          <a:p>
            <a:pPr marL="0" indent="0">
              <a:buNone/>
            </a:pPr>
            <a:r>
              <a:rPr lang="en-US" sz="850" kern="0" spc="100" dirty="0">
                <a:solidFill>
                  <a:srgbClr val="5B6472"/>
                </a:solidFill>
                <a:latin typeface="Calibri" pitchFamily="34" charset="0"/>
                <a:ea typeface="Calibri" pitchFamily="34" charset="-122"/>
                <a:cs typeface="Calibri" pitchFamily="34" charset="-120"/>
              </a:rPr>
              <a:t>LONGEST INCREASING SUBSEQUENCE  ·  DYNAMIC PROGRAMMING</a:t>
            </a:r>
            <a:endParaRPr lang="en-US" sz="850" dirty="0"/>
          </a:p>
        </p:txBody>
      </p:sp>
      <p:sp>
        <p:nvSpPr>
          <p:cNvPr id="30" name="Text 26"/>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5</a:t>
            </a:r>
            <a:endParaRPr lang="en-US" sz="900" dirty="0"/>
          </a:p>
        </p:txBody>
      </p:sp>
      <p:pic>
        <p:nvPicPr>
          <p:cNvPr id="32" name="Picture 31">
            <a:extLst>
              <a:ext uri="{FF2B5EF4-FFF2-40B4-BE49-F238E27FC236}">
                <a16:creationId xmlns:a16="http://schemas.microsoft.com/office/drawing/2014/main" id="{59B70AC5-B735-9B51-48A9-1616C0A293C6}"/>
              </a:ext>
            </a:extLst>
          </p:cNvPr>
          <p:cNvPicPr>
            <a:picLocks noChangeAspect="1"/>
          </p:cNvPicPr>
          <p:nvPr/>
        </p:nvPicPr>
        <p:blipFill>
          <a:blip r:embed="rId5"/>
          <a:stretch>
            <a:fillRect/>
          </a:stretch>
        </p:blipFill>
        <p:spPr>
          <a:xfrm>
            <a:off x="6565392" y="3183864"/>
            <a:ext cx="4307101" cy="298833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09728"/>
            <a:ext cx="9144000" cy="274320"/>
          </a:xfrm>
          <a:prstGeom prst="rect">
            <a:avLst/>
          </a:prstGeom>
          <a:noFill/>
          <a:ln/>
        </p:spPr>
        <p:txBody>
          <a:bodyPr wrap="square" rtlCol="0" anchor="ctr"/>
          <a:lstStyle/>
          <a:p>
            <a:pPr marL="0" indent="0">
              <a:buNone/>
            </a:pPr>
            <a:r>
              <a:rPr lang="en-US" sz="1100" b="1" kern="0" spc="200" dirty="0">
                <a:solidFill>
                  <a:srgbClr val="E8A33D"/>
                </a:solidFill>
                <a:latin typeface="Calibri" pitchFamily="34" charset="0"/>
                <a:ea typeface="Calibri" pitchFamily="34" charset="-122"/>
                <a:cs typeface="Calibri" pitchFamily="34" charset="-120"/>
              </a:rPr>
              <a:t>THE PAYOFF</a:t>
            </a:r>
            <a:endParaRPr lang="en-US" sz="1100" dirty="0"/>
          </a:p>
        </p:txBody>
      </p:sp>
      <p:sp>
        <p:nvSpPr>
          <p:cNvPr id="3" name="Text 1"/>
          <p:cNvSpPr/>
          <p:nvPr/>
        </p:nvSpPr>
        <p:spPr>
          <a:xfrm>
            <a:off x="548640" y="384048"/>
            <a:ext cx="1106424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Why DP Instead of Brute Force</a:t>
            </a:r>
            <a:endParaRPr lang="en-US" sz="3000" dirty="0"/>
          </a:p>
        </p:txBody>
      </p:sp>
      <p:sp>
        <p:nvSpPr>
          <p:cNvPr id="4" name="Shape 2"/>
          <p:cNvSpPr/>
          <p:nvPr/>
        </p:nvSpPr>
        <p:spPr>
          <a:xfrm>
            <a:off x="548640" y="1463040"/>
            <a:ext cx="11091672" cy="1417320"/>
          </a:xfrm>
          <a:prstGeom prst="roundRect">
            <a:avLst>
              <a:gd name="adj" fmla="val 5161"/>
            </a:avLst>
          </a:prstGeom>
          <a:solidFill>
            <a:srgbClr val="F3F6FC"/>
          </a:solidFill>
          <a:ln/>
        </p:spPr>
      </p:sp>
      <p:sp>
        <p:nvSpPr>
          <p:cNvPr id="5" name="Shape 3"/>
          <p:cNvSpPr/>
          <p:nvPr/>
        </p:nvSpPr>
        <p:spPr>
          <a:xfrm>
            <a:off x="822960" y="1709928"/>
            <a:ext cx="548640" cy="548640"/>
          </a:xfrm>
          <a:prstGeom prst="ellipse">
            <a:avLst/>
          </a:prstGeom>
          <a:solidFill>
            <a:srgbClr val="1E2761"/>
          </a:solidFill>
          <a:ln/>
        </p:spPr>
      </p:sp>
      <p:pic>
        <p:nvPicPr>
          <p:cNvPr id="6" name="Image 0" descr="preencoded.png"/>
          <p:cNvPicPr>
            <a:picLocks noChangeAspect="1"/>
          </p:cNvPicPr>
          <p:nvPr/>
        </p:nvPicPr>
        <p:blipFill>
          <a:blip r:embed="rId2"/>
          <a:stretch>
            <a:fillRect/>
          </a:stretch>
        </p:blipFill>
        <p:spPr>
          <a:xfrm>
            <a:off x="1042416" y="1929384"/>
            <a:ext cx="109728" cy="109728"/>
          </a:xfrm>
          <a:prstGeom prst="rect">
            <a:avLst/>
          </a:prstGeom>
        </p:spPr>
      </p:pic>
      <p:sp>
        <p:nvSpPr>
          <p:cNvPr id="7" name="Text 4"/>
          <p:cNvSpPr/>
          <p:nvPr/>
        </p:nvSpPr>
        <p:spPr>
          <a:xfrm>
            <a:off x="1600200" y="1600200"/>
            <a:ext cx="9829800" cy="1097280"/>
          </a:xfrm>
          <a:prstGeom prst="rect">
            <a:avLst/>
          </a:prstGeom>
          <a:noFill/>
          <a:ln/>
        </p:spPr>
        <p:txBody>
          <a:bodyPr wrap="square" rtlCol="0" anchor="ctr"/>
          <a:lstStyle/>
          <a:p>
            <a:pPr marL="0" indent="0">
              <a:lnSpc>
                <a:spcPct val="130000"/>
              </a:lnSpc>
              <a:buNone/>
            </a:pPr>
            <a:r>
              <a:rPr lang="en-US" sz="1550" dirty="0">
                <a:solidFill>
                  <a:srgbClr val="1A1A2E"/>
                </a:solidFill>
                <a:latin typeface="Calibri" pitchFamily="34" charset="0"/>
                <a:ea typeface="Calibri" pitchFamily="34" charset="-122"/>
                <a:cs typeface="Calibri" pitchFamily="34" charset="-120"/>
              </a:rPr>
              <a:t>Brute force and Dynamic Programming both explore the same </a:t>
            </a:r>
            <a:r>
              <a:rPr lang="en-US" sz="1550" b="1" i="1" dirty="0">
                <a:solidFill>
                  <a:srgbClr val="1E2761"/>
                </a:solidFill>
                <a:latin typeface="Calibri" pitchFamily="34" charset="0"/>
                <a:ea typeface="Calibri" pitchFamily="34" charset="-122"/>
                <a:cs typeface="Calibri" pitchFamily="34" charset="-120"/>
              </a:rPr>
              <a:t>keep-or-skip</a:t>
            </a:r>
            <a:r>
              <a:rPr lang="en-US" sz="1550" dirty="0">
                <a:solidFill>
                  <a:srgbClr val="1A1A2E"/>
                </a:solidFill>
                <a:latin typeface="Calibri" pitchFamily="34" charset="0"/>
                <a:ea typeface="Calibri" pitchFamily="34" charset="-122"/>
                <a:cs typeface="Calibri" pitchFamily="34" charset="-120"/>
              </a:rPr>
              <a:t> choices for every element — the difference is whether </a:t>
            </a:r>
            <a:r>
              <a:rPr lang="en-US" sz="1550" b="1" dirty="0">
                <a:solidFill>
                  <a:srgbClr val="1E2761"/>
                </a:solidFill>
                <a:latin typeface="Calibri" pitchFamily="34" charset="0"/>
                <a:ea typeface="Calibri" pitchFamily="34" charset="-122"/>
                <a:cs typeface="Calibri" pitchFamily="34" charset="-120"/>
              </a:rPr>
              <a:t>identical subproblems</a:t>
            </a:r>
            <a:r>
              <a:rPr lang="en-US" sz="1550" dirty="0">
                <a:solidFill>
                  <a:srgbClr val="1A1A2E"/>
                </a:solidFill>
                <a:latin typeface="Calibri" pitchFamily="34" charset="0"/>
                <a:ea typeface="Calibri" pitchFamily="34" charset="-122"/>
                <a:cs typeface="Calibri" pitchFamily="34" charset="-120"/>
              </a:rPr>
              <a:t> get solved fresh every single time, or only once.</a:t>
            </a:r>
            <a:endParaRPr lang="en-US" sz="1300" dirty="0"/>
          </a:p>
        </p:txBody>
      </p:sp>
      <p:sp>
        <p:nvSpPr>
          <p:cNvPr id="8" name="Shape 5"/>
          <p:cNvSpPr/>
          <p:nvPr/>
        </p:nvSpPr>
        <p:spPr>
          <a:xfrm>
            <a:off x="548640" y="3108960"/>
            <a:ext cx="5394960" cy="3017520"/>
          </a:xfrm>
          <a:prstGeom prst="roundRect">
            <a:avLst>
              <a:gd name="adj" fmla="val 2424"/>
            </a:avLst>
          </a:prstGeom>
          <a:solidFill>
            <a:srgbClr val="F3F6FC"/>
          </a:solidFill>
          <a:ln/>
        </p:spPr>
      </p:sp>
      <p:sp>
        <p:nvSpPr>
          <p:cNvPr id="12" name="Text 9"/>
          <p:cNvSpPr/>
          <p:nvPr/>
        </p:nvSpPr>
        <p:spPr>
          <a:xfrm>
            <a:off x="868680" y="5029200"/>
            <a:ext cx="4572000" cy="320040"/>
          </a:xfrm>
          <a:prstGeom prst="rect">
            <a:avLst/>
          </a:prstGeom>
          <a:noFill/>
          <a:ln/>
        </p:spPr>
        <p:txBody>
          <a:bodyPr wrap="square"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COST</a:t>
            </a:r>
            <a:endParaRPr lang="en-US" sz="1200" dirty="0"/>
          </a:p>
        </p:txBody>
      </p:sp>
      <p:sp>
        <p:nvSpPr>
          <p:cNvPr id="13" name="Text 10"/>
          <p:cNvSpPr/>
          <p:nvPr/>
        </p:nvSpPr>
        <p:spPr>
          <a:xfrm>
            <a:off x="868680" y="5349240"/>
            <a:ext cx="4754880" cy="777240"/>
          </a:xfrm>
          <a:prstGeom prst="rect">
            <a:avLst/>
          </a:prstGeom>
          <a:noFill/>
          <a:ln/>
        </p:spPr>
        <p:txBody>
          <a:bodyPr wrap="square" rtlCol="0" anchor="ctr"/>
          <a:lstStyle/>
          <a:p>
            <a:pPr marL="0" indent="0">
              <a:lnSpc>
                <a:spcPct val="130000"/>
              </a:lnSpc>
              <a:buNone/>
            </a:pPr>
            <a:r>
              <a:rPr lang="en-US" sz="2200" b="1" dirty="0">
                <a:solidFill>
                  <a:srgbClr val="1E2761"/>
                </a:solidFill>
                <a:latin typeface="Calibri" pitchFamily="34" charset="0"/>
                <a:ea typeface="Calibri" pitchFamily="34" charset="-122"/>
                <a:cs typeface="Calibri" pitchFamily="34" charset="-120"/>
              </a:rPr>
              <a:t>O(2</a:t>
            </a:r>
            <a:r>
              <a:rPr lang="en-US" sz="2200" b="1" baseline="30000" dirty="0">
                <a:solidFill>
                  <a:srgbClr val="1E2761"/>
                </a:solidFill>
                <a:latin typeface="Calibri" pitchFamily="34" charset="0"/>
                <a:ea typeface="Calibri" pitchFamily="34" charset="-122"/>
                <a:cs typeface="Calibri" pitchFamily="34" charset="-120"/>
              </a:rPr>
              <a:t>n</a:t>
            </a:r>
            <a:r>
              <a:rPr lang="en-US" sz="2200" b="1" dirty="0">
                <a:solidFill>
                  <a:srgbClr val="1E2761"/>
                </a:solidFill>
                <a:latin typeface="Calibri" pitchFamily="34" charset="0"/>
                <a:ea typeface="Calibri" pitchFamily="34" charset="-122"/>
                <a:cs typeface="Calibri" pitchFamily="34" charset="-120"/>
              </a:rPr>
              <a:t>)</a:t>
            </a:r>
            <a:endParaRPr lang="en-US" sz="1300" dirty="0"/>
          </a:p>
          <a:p>
            <a:pPr marL="0" indent="0">
              <a:lnSpc>
                <a:spcPct val="130000"/>
              </a:lnSpc>
              <a:buNone/>
            </a:pPr>
            <a:r>
              <a:rPr lang="en-US" sz="1350" dirty="0">
                <a:solidFill>
                  <a:srgbClr val="1A1A2E"/>
                </a:solidFill>
                <a:latin typeface="Calibri" pitchFamily="34" charset="0"/>
                <a:ea typeface="Calibri" pitchFamily="34" charset="-122"/>
                <a:cs typeface="Calibri" pitchFamily="34" charset="-120"/>
              </a:rPr>
              <a:t>n = 40  →  over a trillion candidate subsequences</a:t>
            </a:r>
            <a:endParaRPr lang="en-US" sz="1300" dirty="0"/>
          </a:p>
        </p:txBody>
      </p:sp>
      <p:sp>
        <p:nvSpPr>
          <p:cNvPr id="14" name="Shape 11"/>
          <p:cNvSpPr/>
          <p:nvPr/>
        </p:nvSpPr>
        <p:spPr>
          <a:xfrm>
            <a:off x="6245352" y="3108960"/>
            <a:ext cx="5394960" cy="3017520"/>
          </a:xfrm>
          <a:prstGeom prst="roundRect">
            <a:avLst>
              <a:gd name="adj" fmla="val 2424"/>
            </a:avLst>
          </a:prstGeom>
          <a:solidFill>
            <a:srgbClr val="1E2761"/>
          </a:solidFill>
          <a:ln/>
        </p:spPr>
      </p:sp>
      <p:sp>
        <p:nvSpPr>
          <p:cNvPr id="15" name="Text 12"/>
          <p:cNvSpPr/>
          <p:nvPr/>
        </p:nvSpPr>
        <p:spPr>
          <a:xfrm>
            <a:off x="6565392" y="3337560"/>
            <a:ext cx="4754880" cy="320040"/>
          </a:xfrm>
          <a:prstGeom prst="rect">
            <a:avLst/>
          </a:prstGeom>
          <a:noFill/>
          <a:ln/>
        </p:spPr>
        <p:txBody>
          <a:bodyPr wrap="square" rtlCol="0" anchor="ctr"/>
          <a:lstStyle/>
          <a:p>
            <a:pPr marL="0" indent="0">
              <a:buNone/>
            </a:pPr>
            <a:r>
              <a:rPr lang="en-US" sz="1200" b="1" kern="0" spc="100" dirty="0">
                <a:solidFill>
                  <a:srgbClr val="E8A33D"/>
                </a:solidFill>
                <a:latin typeface="Calibri" pitchFamily="34" charset="0"/>
                <a:ea typeface="Calibri" pitchFamily="34" charset="-122"/>
                <a:cs typeface="Calibri" pitchFamily="34" charset="-120"/>
              </a:rPr>
              <a:t>DYNAMIC PROGRAMMING</a:t>
            </a:r>
            <a:endParaRPr lang="en-US" sz="1200" dirty="0"/>
          </a:p>
        </p:txBody>
      </p:sp>
      <p:sp>
        <p:nvSpPr>
          <p:cNvPr id="16" name="Text 13"/>
          <p:cNvSpPr/>
          <p:nvPr/>
        </p:nvSpPr>
        <p:spPr>
          <a:xfrm>
            <a:off x="6565392" y="3703320"/>
            <a:ext cx="4892040" cy="777240"/>
          </a:xfrm>
          <a:prstGeom prst="rect">
            <a:avLst/>
          </a:prstGeom>
          <a:noFill/>
          <a:ln/>
        </p:spPr>
        <p:txBody>
          <a:bodyPr wrap="square" rtlCol="0" anchor="ctr"/>
          <a:lstStyle/>
          <a:p>
            <a:pPr marL="0" indent="0">
              <a:lnSpc>
                <a:spcPct val="128000"/>
              </a:lnSpc>
              <a:buNone/>
            </a:pPr>
            <a:r>
              <a:rPr lang="en-US" sz="1400" dirty="0">
                <a:solidFill>
                  <a:srgbClr val="CADCFC"/>
                </a:solidFill>
                <a:latin typeface="Calibri" pitchFamily="34" charset="0"/>
                <a:ea typeface="Calibri" pitchFamily="34" charset="-122"/>
                <a:cs typeface="Calibri" pitchFamily="34" charset="-120"/>
              </a:rPr>
              <a:t>Optimal substructure lets LIS(i) reuse the answer already found for LIS(j). Overlapping subproblems mean each LIS(j) is computed once, cached, and reused.</a:t>
            </a:r>
            <a:endParaRPr lang="en-US" sz="1300" dirty="0"/>
          </a:p>
        </p:txBody>
      </p:sp>
      <p:sp>
        <p:nvSpPr>
          <p:cNvPr id="17" name="Text 14"/>
          <p:cNvSpPr/>
          <p:nvPr/>
        </p:nvSpPr>
        <p:spPr>
          <a:xfrm>
            <a:off x="6565392" y="4709160"/>
            <a:ext cx="4892040" cy="777240"/>
          </a:xfrm>
          <a:prstGeom prst="rect">
            <a:avLst/>
          </a:prstGeom>
          <a:noFill/>
          <a:ln/>
        </p:spPr>
        <p:txBody>
          <a:bodyPr wrap="square" rtlCol="0" anchor="ctr"/>
          <a:lstStyle/>
          <a:p>
            <a:pPr marL="0" indent="0">
              <a:lnSpc>
                <a:spcPct val="130000"/>
              </a:lnSpc>
              <a:buNone/>
            </a:pPr>
            <a:r>
              <a:rPr lang="en-US" sz="1350" i="1" dirty="0">
                <a:solidFill>
                  <a:srgbClr val="AEC2ED"/>
                </a:solidFill>
                <a:latin typeface="Calibri" pitchFamily="34" charset="0"/>
                <a:ea typeface="Calibri" pitchFamily="34" charset="-122"/>
                <a:cs typeface="Calibri" pitchFamily="34" charset="-120"/>
              </a:rPr>
              <a:t>For n = 40, that reuse shrinks 2</a:t>
            </a:r>
            <a:r>
              <a:rPr lang="en-US" sz="1350" i="1" baseline="30000" dirty="0">
                <a:solidFill>
                  <a:srgbClr val="AEC2ED"/>
                </a:solidFill>
                <a:latin typeface="Calibri" pitchFamily="34" charset="0"/>
                <a:ea typeface="Calibri" pitchFamily="34" charset="-122"/>
                <a:cs typeface="Calibri" pitchFamily="34" charset="-120"/>
              </a:rPr>
              <a:t>40</a:t>
            </a:r>
            <a:r>
              <a:rPr lang="en-US" sz="1350" i="1" dirty="0">
                <a:solidFill>
                  <a:srgbClr val="AEC2ED"/>
                </a:solidFill>
                <a:latin typeface="Calibri" pitchFamily="34" charset="0"/>
                <a:ea typeface="Calibri" pitchFamily="34" charset="-122"/>
                <a:cs typeface="Calibri" pitchFamily="34" charset="-120"/>
              </a:rPr>
              <a:t> down to just 40</a:t>
            </a:r>
            <a:r>
              <a:rPr lang="en-US" sz="1350" i="1" baseline="30000" dirty="0">
                <a:solidFill>
                  <a:srgbClr val="AEC2ED"/>
                </a:solidFill>
                <a:latin typeface="Calibri" pitchFamily="34" charset="0"/>
                <a:ea typeface="Calibri" pitchFamily="34" charset="-122"/>
                <a:cs typeface="Calibri" pitchFamily="34" charset="-120"/>
              </a:rPr>
              <a:t>2</a:t>
            </a:r>
            <a:r>
              <a:rPr lang="en-US" sz="1350" i="1" dirty="0">
                <a:solidFill>
                  <a:srgbClr val="AEC2ED"/>
                </a:solidFill>
                <a:latin typeface="Calibri" pitchFamily="34" charset="0"/>
                <a:ea typeface="Calibri" pitchFamily="34" charset="-122"/>
                <a:cs typeface="Calibri" pitchFamily="34" charset="-120"/>
              </a:rPr>
              <a:t> ≈ 1,600 table lookups.</a:t>
            </a:r>
            <a:endParaRPr lang="en-US" sz="1300" dirty="0"/>
          </a:p>
        </p:txBody>
      </p:sp>
      <p:sp>
        <p:nvSpPr>
          <p:cNvPr id="18" name="Text 15"/>
          <p:cNvSpPr/>
          <p:nvPr/>
        </p:nvSpPr>
        <p:spPr>
          <a:xfrm>
            <a:off x="6565392" y="5623560"/>
            <a:ext cx="4892040" cy="36576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that reuse is exactly what makes Dynamic Programming possible</a:t>
            </a:r>
            <a:endParaRPr lang="en-US" sz="1200" dirty="0"/>
          </a:p>
        </p:txBody>
      </p:sp>
      <p:sp>
        <p:nvSpPr>
          <p:cNvPr id="19" name="Text 16"/>
          <p:cNvSpPr/>
          <p:nvPr/>
        </p:nvSpPr>
        <p:spPr>
          <a:xfrm>
            <a:off x="548640" y="6510528"/>
            <a:ext cx="8229600" cy="274320"/>
          </a:xfrm>
          <a:prstGeom prst="rect">
            <a:avLst/>
          </a:prstGeom>
          <a:noFill/>
          <a:ln/>
        </p:spPr>
        <p:txBody>
          <a:bodyPr wrap="square" rtlCol="0" anchor="ctr"/>
          <a:lstStyle/>
          <a:p>
            <a:pPr marL="0" indent="0">
              <a:buNone/>
            </a:pPr>
            <a:r>
              <a:rPr lang="en-US" sz="850" kern="0" spc="100" dirty="0">
                <a:solidFill>
                  <a:srgbClr val="5B6472"/>
                </a:solidFill>
                <a:latin typeface="Calibri" pitchFamily="34" charset="0"/>
                <a:ea typeface="Calibri" pitchFamily="34" charset="-122"/>
                <a:cs typeface="Calibri" pitchFamily="34" charset="-120"/>
              </a:rPr>
              <a:t>LONGEST INCREASING SUBSEQUENCE  ·  DYNAMIC PROGRAMMING</a:t>
            </a:r>
            <a:endParaRPr lang="en-US" sz="850" dirty="0"/>
          </a:p>
        </p:txBody>
      </p:sp>
      <p:sp>
        <p:nvSpPr>
          <p:cNvPr id="20" name="Text 17"/>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6</a:t>
            </a:r>
            <a:endParaRPr lang="en-US" sz="900" dirty="0"/>
          </a:p>
        </p:txBody>
      </p:sp>
      <p:pic>
        <p:nvPicPr>
          <p:cNvPr id="22" name="Picture 21">
            <a:extLst>
              <a:ext uri="{FF2B5EF4-FFF2-40B4-BE49-F238E27FC236}">
                <a16:creationId xmlns:a16="http://schemas.microsoft.com/office/drawing/2014/main" id="{292BB876-0AB0-DAEF-7CB4-706AE9F5CCCC}"/>
              </a:ext>
            </a:extLst>
          </p:cNvPr>
          <p:cNvPicPr>
            <a:picLocks noChangeAspect="1"/>
          </p:cNvPicPr>
          <p:nvPr/>
        </p:nvPicPr>
        <p:blipFill>
          <a:blip r:embed="rId3"/>
          <a:stretch>
            <a:fillRect/>
          </a:stretch>
        </p:blipFill>
        <p:spPr>
          <a:xfrm>
            <a:off x="977625" y="2811647"/>
            <a:ext cx="4354109" cy="219482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09728"/>
            <a:ext cx="9144000" cy="274320"/>
          </a:xfrm>
          <a:prstGeom prst="rect">
            <a:avLst/>
          </a:prstGeom>
          <a:noFill/>
          <a:ln/>
        </p:spPr>
        <p:txBody>
          <a:bodyPr wrap="square" rtlCol="0" anchor="ctr"/>
          <a:lstStyle/>
          <a:p>
            <a:pPr marL="0" indent="0">
              <a:buNone/>
            </a:pPr>
            <a:r>
              <a:rPr lang="en-US" sz="1100" b="1" kern="0" spc="200" dirty="0">
                <a:solidFill>
                  <a:srgbClr val="E8A33D"/>
                </a:solidFill>
                <a:latin typeface="Calibri" pitchFamily="34" charset="0"/>
                <a:ea typeface="Calibri" pitchFamily="34" charset="-122"/>
                <a:cs typeface="Calibri" pitchFamily="34" charset="-120"/>
              </a:rPr>
              <a:t>TWO DIRECTIONS, ONE RECURRENCE</a:t>
            </a:r>
            <a:endParaRPr lang="en-US" sz="1100" dirty="0"/>
          </a:p>
        </p:txBody>
      </p:sp>
      <p:sp>
        <p:nvSpPr>
          <p:cNvPr id="3" name="Text 1"/>
          <p:cNvSpPr/>
          <p:nvPr/>
        </p:nvSpPr>
        <p:spPr>
          <a:xfrm>
            <a:off x="548640" y="384048"/>
            <a:ext cx="1106424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Top-Down vs. Bottom-Up</a:t>
            </a:r>
            <a:endParaRPr lang="en-US" sz="3000" dirty="0"/>
          </a:p>
        </p:txBody>
      </p:sp>
      <p:sp>
        <p:nvSpPr>
          <p:cNvPr id="4" name="Shape 2"/>
          <p:cNvSpPr/>
          <p:nvPr/>
        </p:nvSpPr>
        <p:spPr>
          <a:xfrm>
            <a:off x="548640" y="1463040"/>
            <a:ext cx="5394960" cy="4663440"/>
          </a:xfrm>
          <a:prstGeom prst="roundRect">
            <a:avLst>
              <a:gd name="adj" fmla="val 1569"/>
            </a:avLst>
          </a:prstGeom>
          <a:solidFill>
            <a:srgbClr val="F3F6FC"/>
          </a:solidFill>
          <a:ln/>
        </p:spPr>
      </p:sp>
      <p:sp>
        <p:nvSpPr>
          <p:cNvPr id="5" name="Shape 3"/>
          <p:cNvSpPr/>
          <p:nvPr/>
        </p:nvSpPr>
        <p:spPr>
          <a:xfrm>
            <a:off x="868680" y="1737360"/>
            <a:ext cx="548640" cy="548640"/>
          </a:xfrm>
          <a:prstGeom prst="ellipse">
            <a:avLst/>
          </a:prstGeom>
          <a:solidFill>
            <a:srgbClr val="1E2761"/>
          </a:solidFill>
          <a:ln/>
        </p:spPr>
      </p:sp>
      <p:pic>
        <p:nvPicPr>
          <p:cNvPr id="6" name="Image 0" descr="preencoded.png"/>
          <p:cNvPicPr>
            <a:picLocks noChangeAspect="1"/>
          </p:cNvPicPr>
          <p:nvPr/>
        </p:nvPicPr>
        <p:blipFill>
          <a:blip r:embed="rId3"/>
          <a:stretch>
            <a:fillRect/>
          </a:stretch>
        </p:blipFill>
        <p:spPr>
          <a:xfrm>
            <a:off x="1088136" y="1956816"/>
            <a:ext cx="109728" cy="109728"/>
          </a:xfrm>
          <a:prstGeom prst="rect">
            <a:avLst/>
          </a:prstGeom>
        </p:spPr>
      </p:pic>
      <p:sp>
        <p:nvSpPr>
          <p:cNvPr id="7" name="Text 4"/>
          <p:cNvSpPr/>
          <p:nvPr/>
        </p:nvSpPr>
        <p:spPr>
          <a:xfrm>
            <a:off x="1600200" y="1737360"/>
            <a:ext cx="4206240" cy="54864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Top-Down (Memoization)</a:t>
            </a:r>
            <a:endParaRPr lang="en-US" sz="1600" dirty="0"/>
          </a:p>
        </p:txBody>
      </p:sp>
      <p:sp>
        <p:nvSpPr>
          <p:cNvPr id="8" name="Text 5"/>
          <p:cNvSpPr/>
          <p:nvPr/>
        </p:nvSpPr>
        <p:spPr>
          <a:xfrm>
            <a:off x="868680" y="2423160"/>
            <a:ext cx="4754880" cy="731520"/>
          </a:xfrm>
          <a:prstGeom prst="rect">
            <a:avLst/>
          </a:prstGeom>
          <a:noFill/>
          <a:ln/>
        </p:spPr>
        <p:txBody>
          <a:bodyPr wrap="square" rtlCol="0" anchor="ctr"/>
          <a:lstStyle/>
          <a:p>
            <a:pPr marL="0" indent="0">
              <a:lnSpc>
                <a:spcPct val="130000"/>
              </a:lnSpc>
              <a:buNone/>
            </a:pPr>
            <a:r>
              <a:rPr lang="en-US" sz="1300" dirty="0">
                <a:solidFill>
                  <a:srgbClr val="1A1A2E"/>
                </a:solidFill>
                <a:latin typeface="Calibri" pitchFamily="34" charset="0"/>
                <a:ea typeface="Calibri" pitchFamily="34" charset="-122"/>
                <a:cs typeface="Calibri" pitchFamily="34" charset="-120"/>
              </a:rPr>
              <a:t>Start from the full problem and recurse downward, caching each answer the first time it's computed.</a:t>
            </a:r>
            <a:endParaRPr lang="en-US" sz="1300" dirty="0"/>
          </a:p>
        </p:txBody>
      </p:sp>
      <p:sp>
        <p:nvSpPr>
          <p:cNvPr id="9" name="Text 6"/>
          <p:cNvSpPr/>
          <p:nvPr/>
        </p:nvSpPr>
        <p:spPr>
          <a:xfrm>
            <a:off x="868680" y="3200400"/>
            <a:ext cx="4754880" cy="914400"/>
          </a:xfrm>
          <a:prstGeom prst="rect">
            <a:avLst/>
          </a:prstGeom>
          <a:noFill/>
          <a:ln/>
        </p:spPr>
        <p:txBody>
          <a:bodyPr wrap="square" rtlCol="0" anchor="ctr"/>
          <a:lstStyle/>
          <a:p>
            <a:pPr marL="0" indent="0">
              <a:lnSpc>
                <a:spcPct val="140000"/>
              </a:lnSpc>
              <a:buNone/>
            </a:pPr>
            <a:r>
              <a:rPr lang="en-US" sz="1250" dirty="0">
                <a:solidFill>
                  <a:srgbClr val="1A1A2E"/>
                </a:solidFill>
                <a:latin typeface="Calibri" pitchFamily="34" charset="0"/>
                <a:ea typeface="Calibri" pitchFamily="34" charset="-122"/>
                <a:cs typeface="Calibri" pitchFamily="34" charset="-120"/>
              </a:rPr>
              <a:t>• Recursive, feels natural to write</a:t>
            </a:r>
            <a:endParaRPr lang="en-US" sz="1250" dirty="0"/>
          </a:p>
          <a:p>
            <a:pPr marL="0" indent="0">
              <a:lnSpc>
                <a:spcPct val="140000"/>
              </a:lnSpc>
              <a:buNone/>
            </a:pPr>
            <a:r>
              <a:rPr lang="en-US" sz="1250" dirty="0">
                <a:solidFill>
                  <a:srgbClr val="1A1A2E"/>
                </a:solidFill>
                <a:latin typeface="Calibri" pitchFamily="34" charset="0"/>
                <a:ea typeface="Calibri" pitchFamily="34" charset="-122"/>
                <a:cs typeface="Calibri" pitchFamily="34" charset="-120"/>
              </a:rPr>
              <a:t>• Only computes states it actually needs</a:t>
            </a:r>
            <a:endParaRPr lang="en-US" sz="1250" dirty="0"/>
          </a:p>
          <a:p>
            <a:pPr marL="0" indent="0">
              <a:lnSpc>
                <a:spcPct val="140000"/>
              </a:lnSpc>
              <a:buNone/>
            </a:pPr>
            <a:r>
              <a:rPr lang="en-US" sz="1250" dirty="0">
                <a:solidFill>
                  <a:srgbClr val="1A1A2E"/>
                </a:solidFill>
                <a:latin typeface="Calibri" pitchFamily="34" charset="0"/>
                <a:ea typeface="Calibri" pitchFamily="34" charset="-122"/>
                <a:cs typeface="Calibri" pitchFamily="34" charset="-120"/>
              </a:rPr>
              <a:t>• Uses call-stack space (risk on huge n)</a:t>
            </a:r>
            <a:endParaRPr lang="en-US" sz="1250" dirty="0"/>
          </a:p>
        </p:txBody>
      </p:sp>
      <p:sp>
        <p:nvSpPr>
          <p:cNvPr id="10" name="Shape 7"/>
          <p:cNvSpPr/>
          <p:nvPr/>
        </p:nvSpPr>
        <p:spPr>
          <a:xfrm>
            <a:off x="868680" y="4206240"/>
            <a:ext cx="4754880" cy="1691640"/>
          </a:xfrm>
          <a:prstGeom prst="roundRect">
            <a:avLst>
              <a:gd name="adj" fmla="val 4324"/>
            </a:avLst>
          </a:prstGeom>
          <a:solidFill>
            <a:srgbClr val="17203D"/>
          </a:solidFill>
          <a:ln/>
        </p:spPr>
      </p:sp>
      <p:sp>
        <p:nvSpPr>
          <p:cNvPr id="11" name="Text 8"/>
          <p:cNvSpPr/>
          <p:nvPr/>
        </p:nvSpPr>
        <p:spPr>
          <a:xfrm>
            <a:off x="1051560" y="4315968"/>
            <a:ext cx="4389120" cy="1463040"/>
          </a:xfrm>
          <a:prstGeom prst="rect">
            <a:avLst/>
          </a:prstGeom>
          <a:noFill/>
          <a:ln/>
        </p:spPr>
        <p:txBody>
          <a:bodyPr wrap="square" rtlCol="0" anchor="t"/>
          <a:lstStyle/>
          <a:p>
            <a:pPr marL="0" indent="0">
              <a:lnSpc>
                <a:spcPct val="115000"/>
              </a:lnSpc>
              <a:buNone/>
            </a:pPr>
            <a:r>
              <a:rPr lang="en-US" sz="1050" b="1" dirty="0">
                <a:solidFill>
                  <a:srgbClr val="E8A33D"/>
                </a:solidFill>
                <a:latin typeface="Calibri" pitchFamily="34" charset="0"/>
                <a:ea typeface="Calibri" pitchFamily="34" charset="-122"/>
                <a:cs typeface="Calibri" pitchFamily="34" charset="-120"/>
              </a:rPr>
              <a:t>HOW IT WORKS</a:t>
            </a:r>
            <a:endParaRPr lang="en-US" sz="1050" dirty="0"/>
          </a:p>
          <a:p>
            <a:pPr marL="0" indent="0">
              <a:lnSpc>
                <a:spcPct val="118000"/>
              </a:lnSpc>
              <a:buNone/>
            </a:pPr>
            <a:r>
              <a:rPr lang="en-US" sz="1100" dirty="0">
                <a:solidFill>
                  <a:srgbClr val="CADCFC"/>
                </a:solidFill>
                <a:latin typeface="Calibri" pitchFamily="34" charset="0"/>
                <a:ea typeface="Calibri" pitchFamily="34" charset="-122"/>
                <a:cs typeface="Calibri" pitchFamily="34" charset="-120"/>
              </a:rPr>
              <a:t>• Ask: “what’s the LIS ending at index i?”</a:t>
            </a:r>
            <a:endParaRPr lang="en-US" sz="1100" dirty="0"/>
          </a:p>
          <a:p>
            <a:pPr marL="0" indent="0">
              <a:lnSpc>
                <a:spcPct val="118000"/>
              </a:lnSpc>
              <a:buNone/>
            </a:pPr>
            <a:r>
              <a:rPr lang="en-US" sz="1100" dirty="0">
                <a:solidFill>
                  <a:srgbClr val="CADCFC"/>
                </a:solidFill>
                <a:latin typeface="Calibri" pitchFamily="34" charset="0"/>
                <a:ea typeface="Calibri" pitchFamily="34" charset="-122"/>
                <a:cs typeface="Calibri" pitchFamily="34" charset="-120"/>
              </a:rPr>
              <a:t>• Already answered before? Return the cached value — no recompute.</a:t>
            </a:r>
            <a:endParaRPr lang="en-US" sz="1100" dirty="0"/>
          </a:p>
          <a:p>
            <a:pPr marL="0" indent="0">
              <a:lnSpc>
                <a:spcPct val="118000"/>
              </a:lnSpc>
              <a:buNone/>
            </a:pPr>
            <a:r>
              <a:rPr lang="en-US" sz="1100" dirty="0">
                <a:solidFill>
                  <a:srgbClr val="CADCFC"/>
                </a:solidFill>
                <a:latin typeface="Calibri" pitchFamily="34" charset="0"/>
                <a:ea typeface="Calibri" pitchFamily="34" charset="-122"/>
                <a:cs typeface="Calibri" pitchFamily="34" charset="-120"/>
              </a:rPr>
              <a:t>• Otherwise, recurse on every earlier index j, take the best result, cache it, then return.</a:t>
            </a:r>
            <a:endParaRPr lang="en-US" sz="1100" dirty="0"/>
          </a:p>
        </p:txBody>
      </p:sp>
      <p:sp>
        <p:nvSpPr>
          <p:cNvPr id="12" name="Shape 9"/>
          <p:cNvSpPr/>
          <p:nvPr/>
        </p:nvSpPr>
        <p:spPr>
          <a:xfrm>
            <a:off x="6245352" y="1463040"/>
            <a:ext cx="5394960" cy="4663440"/>
          </a:xfrm>
          <a:prstGeom prst="roundRect">
            <a:avLst>
              <a:gd name="adj" fmla="val 1569"/>
            </a:avLst>
          </a:prstGeom>
          <a:solidFill>
            <a:srgbClr val="F3F6FC"/>
          </a:solidFill>
          <a:ln/>
        </p:spPr>
      </p:sp>
      <p:sp>
        <p:nvSpPr>
          <p:cNvPr id="13" name="Shape 10"/>
          <p:cNvSpPr/>
          <p:nvPr/>
        </p:nvSpPr>
        <p:spPr>
          <a:xfrm>
            <a:off x="6565392" y="1737360"/>
            <a:ext cx="548640" cy="548640"/>
          </a:xfrm>
          <a:prstGeom prst="ellipse">
            <a:avLst/>
          </a:prstGeom>
          <a:solidFill>
            <a:srgbClr val="E8A33D"/>
          </a:solidFill>
          <a:ln/>
        </p:spPr>
      </p:sp>
      <p:pic>
        <p:nvPicPr>
          <p:cNvPr id="14" name="Image 1" descr="preencoded.png"/>
          <p:cNvPicPr>
            <a:picLocks noChangeAspect="1"/>
          </p:cNvPicPr>
          <p:nvPr/>
        </p:nvPicPr>
        <p:blipFill>
          <a:blip r:embed="rId4"/>
          <a:stretch>
            <a:fillRect/>
          </a:stretch>
        </p:blipFill>
        <p:spPr>
          <a:xfrm>
            <a:off x="6784848" y="1956816"/>
            <a:ext cx="109728" cy="109728"/>
          </a:xfrm>
          <a:prstGeom prst="rect">
            <a:avLst/>
          </a:prstGeom>
        </p:spPr>
      </p:pic>
      <p:sp>
        <p:nvSpPr>
          <p:cNvPr id="15" name="Text 11"/>
          <p:cNvSpPr/>
          <p:nvPr/>
        </p:nvSpPr>
        <p:spPr>
          <a:xfrm>
            <a:off x="7296912" y="1737360"/>
            <a:ext cx="4206240" cy="54864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Bottom-Up (Tabulation)</a:t>
            </a:r>
            <a:endParaRPr lang="en-US" sz="1600" dirty="0"/>
          </a:p>
        </p:txBody>
      </p:sp>
      <p:sp>
        <p:nvSpPr>
          <p:cNvPr id="16" name="Text 12"/>
          <p:cNvSpPr/>
          <p:nvPr/>
        </p:nvSpPr>
        <p:spPr>
          <a:xfrm>
            <a:off x="6565392" y="2423160"/>
            <a:ext cx="4754880" cy="731520"/>
          </a:xfrm>
          <a:prstGeom prst="rect">
            <a:avLst/>
          </a:prstGeom>
          <a:noFill/>
          <a:ln/>
        </p:spPr>
        <p:txBody>
          <a:bodyPr wrap="square" rtlCol="0" anchor="ctr"/>
          <a:lstStyle/>
          <a:p>
            <a:pPr marL="0" indent="0">
              <a:lnSpc>
                <a:spcPct val="130000"/>
              </a:lnSpc>
              <a:buNone/>
            </a:pPr>
            <a:r>
              <a:rPr lang="en-US" sz="1300" dirty="0">
                <a:solidFill>
                  <a:srgbClr val="1A1A2E"/>
                </a:solidFill>
                <a:latin typeface="Calibri" pitchFamily="34" charset="0"/>
                <a:ea typeface="Calibri" pitchFamily="34" charset="-122"/>
                <a:cs typeface="Calibri" pitchFamily="34" charset="-120"/>
              </a:rPr>
              <a:t>Start from the smallest subproblem and iteratively build up dp[] until the full array is covered.</a:t>
            </a:r>
            <a:endParaRPr lang="en-US" sz="1300" dirty="0"/>
          </a:p>
        </p:txBody>
      </p:sp>
      <p:sp>
        <p:nvSpPr>
          <p:cNvPr id="17" name="Text 13"/>
          <p:cNvSpPr/>
          <p:nvPr/>
        </p:nvSpPr>
        <p:spPr>
          <a:xfrm>
            <a:off x="6565392" y="3200400"/>
            <a:ext cx="4754880" cy="914400"/>
          </a:xfrm>
          <a:prstGeom prst="rect">
            <a:avLst/>
          </a:prstGeom>
          <a:noFill/>
          <a:ln/>
        </p:spPr>
        <p:txBody>
          <a:bodyPr wrap="square" rtlCol="0" anchor="ctr"/>
          <a:lstStyle/>
          <a:p>
            <a:pPr marL="0" indent="0">
              <a:lnSpc>
                <a:spcPct val="140000"/>
              </a:lnSpc>
              <a:buNone/>
            </a:pPr>
            <a:r>
              <a:rPr lang="en-US" sz="1250" dirty="0">
                <a:solidFill>
                  <a:srgbClr val="1A1A2E"/>
                </a:solidFill>
                <a:latin typeface="Calibri" pitchFamily="34" charset="0"/>
                <a:ea typeface="Calibri" pitchFamily="34" charset="-122"/>
                <a:cs typeface="Calibri" pitchFamily="34" charset="-120"/>
              </a:rPr>
              <a:t>• Iterative loops, no recursion overhead</a:t>
            </a:r>
            <a:endParaRPr lang="en-US" sz="1250" dirty="0"/>
          </a:p>
          <a:p>
            <a:pPr marL="0" indent="0">
              <a:lnSpc>
                <a:spcPct val="140000"/>
              </a:lnSpc>
              <a:buNone/>
            </a:pPr>
            <a:r>
              <a:rPr lang="en-US" sz="1250" dirty="0">
                <a:solidFill>
                  <a:srgbClr val="1A1A2E"/>
                </a:solidFill>
                <a:latin typeface="Calibri" pitchFamily="34" charset="0"/>
                <a:ea typeface="Calibri" pitchFamily="34" charset="-122"/>
                <a:cs typeface="Calibri" pitchFamily="34" charset="-120"/>
              </a:rPr>
              <a:t>• Computes every state exactly once</a:t>
            </a:r>
            <a:endParaRPr lang="en-US" sz="1250" dirty="0"/>
          </a:p>
          <a:p>
            <a:pPr marL="0" indent="0">
              <a:lnSpc>
                <a:spcPct val="140000"/>
              </a:lnSpc>
              <a:buNone/>
            </a:pPr>
            <a:r>
              <a:rPr lang="en-US" sz="1250" dirty="0">
                <a:solidFill>
                  <a:srgbClr val="1A1A2E"/>
                </a:solidFill>
                <a:latin typeface="Calibri" pitchFamily="34" charset="0"/>
                <a:ea typeface="Calibri" pitchFamily="34" charset="-122"/>
                <a:cs typeface="Calibri" pitchFamily="34" charset="-120"/>
              </a:rPr>
              <a:t>• Predictable O(n) auxiliary space</a:t>
            </a:r>
            <a:endParaRPr lang="en-US" sz="1250" dirty="0"/>
          </a:p>
        </p:txBody>
      </p:sp>
      <p:sp>
        <p:nvSpPr>
          <p:cNvPr id="18" name="Shape 14"/>
          <p:cNvSpPr/>
          <p:nvPr/>
        </p:nvSpPr>
        <p:spPr>
          <a:xfrm>
            <a:off x="6565392" y="4206240"/>
            <a:ext cx="4754880" cy="1691640"/>
          </a:xfrm>
          <a:prstGeom prst="roundRect">
            <a:avLst>
              <a:gd name="adj" fmla="val 4324"/>
            </a:avLst>
          </a:prstGeom>
          <a:solidFill>
            <a:srgbClr val="17203D"/>
          </a:solidFill>
          <a:ln/>
        </p:spPr>
      </p:sp>
      <p:sp>
        <p:nvSpPr>
          <p:cNvPr id="19" name="Text 15"/>
          <p:cNvSpPr/>
          <p:nvPr/>
        </p:nvSpPr>
        <p:spPr>
          <a:xfrm>
            <a:off x="6748272" y="4315968"/>
            <a:ext cx="4389120" cy="1463040"/>
          </a:xfrm>
          <a:prstGeom prst="rect">
            <a:avLst/>
          </a:prstGeom>
          <a:noFill/>
          <a:ln/>
        </p:spPr>
        <p:txBody>
          <a:bodyPr wrap="square" rtlCol="0" anchor="t"/>
          <a:lstStyle/>
          <a:p>
            <a:pPr marL="0" indent="0">
              <a:lnSpc>
                <a:spcPct val="115000"/>
              </a:lnSpc>
              <a:buNone/>
            </a:pPr>
            <a:r>
              <a:rPr lang="en-US" sz="1050" b="1" dirty="0">
                <a:solidFill>
                  <a:srgbClr val="E8A33D"/>
                </a:solidFill>
                <a:latin typeface="Calibri" pitchFamily="34" charset="0"/>
                <a:ea typeface="Calibri" pitchFamily="34" charset="-122"/>
                <a:cs typeface="Calibri" pitchFamily="34" charset="-120"/>
              </a:rPr>
              <a:t>WHY WE USE BOTTOM-UP HERE</a:t>
            </a:r>
            <a:endParaRPr lang="en-US" sz="1050" dirty="0"/>
          </a:p>
          <a:p>
            <a:pPr marL="0" indent="0">
              <a:lnSpc>
                <a:spcPct val="118000"/>
              </a:lnSpc>
              <a:buNone/>
            </a:pPr>
            <a:r>
              <a:rPr lang="en-US" sz="1100" dirty="0">
                <a:solidFill>
                  <a:srgbClr val="CADCFC"/>
                </a:solidFill>
                <a:latin typeface="Calibri" pitchFamily="34" charset="0"/>
                <a:ea typeface="Calibri" pitchFamily="34" charset="-122"/>
                <a:cs typeface="Calibri" pitchFamily="34" charset="-120"/>
              </a:rPr>
              <a:t>• This is the version we’ll code — an iterative dp[] table, no recursion to reason about.</a:t>
            </a:r>
            <a:endParaRPr lang="en-US" sz="1100" dirty="0"/>
          </a:p>
          <a:p>
            <a:pPr marL="0" indent="0">
              <a:lnSpc>
                <a:spcPct val="118000"/>
              </a:lnSpc>
              <a:buNone/>
            </a:pPr>
            <a:r>
              <a:rPr lang="en-US" sz="1100" dirty="0">
                <a:solidFill>
                  <a:srgbClr val="CADCFC"/>
                </a:solidFill>
                <a:latin typeface="Calibri" pitchFamily="34" charset="0"/>
                <a:ea typeface="Calibri" pitchFamily="34" charset="-122"/>
                <a:cs typeface="Calibri" pitchFamily="34" charset="-120"/>
              </a:rPr>
              <a:t>• Easy to trace by hand: fill dp[] left to right, one index at a time — perfect for a board walkthrough.</a:t>
            </a:r>
            <a:endParaRPr lang="en-US" sz="1100" dirty="0"/>
          </a:p>
          <a:p>
            <a:pPr marL="0" indent="0">
              <a:lnSpc>
                <a:spcPct val="118000"/>
              </a:lnSpc>
              <a:buNone/>
            </a:pPr>
            <a:r>
              <a:rPr lang="en-US" sz="1100" dirty="0">
                <a:solidFill>
                  <a:srgbClr val="CADCFC"/>
                </a:solidFill>
                <a:latin typeface="Calibri" pitchFamily="34" charset="0"/>
                <a:ea typeface="Calibri" pitchFamily="34" charset="-122"/>
                <a:cs typeface="Calibri" pitchFamily="34" charset="-120"/>
              </a:rPr>
              <a:t>• No call-stack risk, so it scales safely to large arrays.</a:t>
            </a:r>
            <a:endParaRPr lang="en-US" sz="1100" dirty="0"/>
          </a:p>
        </p:txBody>
      </p:sp>
      <p:sp>
        <p:nvSpPr>
          <p:cNvPr id="20" name="Text 16"/>
          <p:cNvSpPr/>
          <p:nvPr/>
        </p:nvSpPr>
        <p:spPr>
          <a:xfrm>
            <a:off x="548640" y="6510528"/>
            <a:ext cx="8229600" cy="274320"/>
          </a:xfrm>
          <a:prstGeom prst="rect">
            <a:avLst/>
          </a:prstGeom>
          <a:noFill/>
          <a:ln/>
        </p:spPr>
        <p:txBody>
          <a:bodyPr wrap="square" rtlCol="0" anchor="ctr"/>
          <a:lstStyle/>
          <a:p>
            <a:pPr marL="0" indent="0">
              <a:buNone/>
            </a:pPr>
            <a:r>
              <a:rPr lang="en-US" sz="850" kern="0" spc="100" dirty="0">
                <a:solidFill>
                  <a:srgbClr val="5B6472"/>
                </a:solidFill>
                <a:latin typeface="Calibri" pitchFamily="34" charset="0"/>
                <a:ea typeface="Calibri" pitchFamily="34" charset="-122"/>
                <a:cs typeface="Calibri" pitchFamily="34" charset="-120"/>
              </a:rPr>
              <a:t>LONGEST INCREASING SUBSEQUENCE  ·  DYNAMIC PROGRAMMING</a:t>
            </a:r>
            <a:endParaRPr lang="en-US" sz="850" dirty="0"/>
          </a:p>
        </p:txBody>
      </p:sp>
      <p:sp>
        <p:nvSpPr>
          <p:cNvPr id="21" name="Text 17"/>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0DBA355-6000-75D8-DAC2-C7831A551D69}"/>
              </a:ext>
            </a:extLst>
          </p:cNvPr>
          <p:cNvPicPr>
            <a:picLocks noChangeAspect="1"/>
          </p:cNvPicPr>
          <p:nvPr/>
        </p:nvPicPr>
        <p:blipFill>
          <a:blip r:embed="rId2"/>
          <a:stretch>
            <a:fillRect/>
          </a:stretch>
        </p:blipFill>
        <p:spPr>
          <a:xfrm>
            <a:off x="89649" y="66205"/>
            <a:ext cx="12012701" cy="6725589"/>
          </a:xfrm>
          <a:prstGeom prst="rect">
            <a:avLst/>
          </a:prstGeom>
        </p:spPr>
      </p:pic>
    </p:spTree>
    <p:extLst>
      <p:ext uri="{BB962C8B-B14F-4D97-AF65-F5344CB8AC3E}">
        <p14:creationId xmlns:p14="http://schemas.microsoft.com/office/powerpoint/2010/main" val="344766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01A4CC-FFD8-C0E7-1777-40B56A55ACDF}"/>
              </a:ext>
            </a:extLst>
          </p:cNvPr>
          <p:cNvPicPr>
            <a:picLocks noChangeAspect="1"/>
          </p:cNvPicPr>
          <p:nvPr/>
        </p:nvPicPr>
        <p:blipFill>
          <a:blip r:embed="rId2"/>
          <a:stretch>
            <a:fillRect/>
          </a:stretch>
        </p:blipFill>
        <p:spPr>
          <a:xfrm>
            <a:off x="371928" y="0"/>
            <a:ext cx="11448143" cy="6858000"/>
          </a:xfrm>
          <a:prstGeom prst="rect">
            <a:avLst/>
          </a:prstGeom>
        </p:spPr>
      </p:pic>
    </p:spTree>
    <p:extLst>
      <p:ext uri="{BB962C8B-B14F-4D97-AF65-F5344CB8AC3E}">
        <p14:creationId xmlns:p14="http://schemas.microsoft.com/office/powerpoint/2010/main" val="2716720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5BACCC-DB95-CC37-4ABA-A2DFD5EE856C}"/>
              </a:ext>
            </a:extLst>
          </p:cNvPr>
          <p:cNvPicPr>
            <a:picLocks noChangeAspect="1"/>
          </p:cNvPicPr>
          <p:nvPr/>
        </p:nvPicPr>
        <p:blipFill>
          <a:blip r:embed="rId2"/>
          <a:stretch>
            <a:fillRect/>
          </a:stretch>
        </p:blipFill>
        <p:spPr>
          <a:xfrm>
            <a:off x="84886" y="4284"/>
            <a:ext cx="12022228" cy="6849431"/>
          </a:xfrm>
          <a:prstGeom prst="rect">
            <a:avLst/>
          </a:prstGeom>
        </p:spPr>
      </p:pic>
    </p:spTree>
    <p:extLst>
      <p:ext uri="{BB962C8B-B14F-4D97-AF65-F5344CB8AC3E}">
        <p14:creationId xmlns:p14="http://schemas.microsoft.com/office/powerpoint/2010/main" val="1962080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7AAE9C-2AC0-80EF-E4CD-FF78BC52C0E0}"/>
              </a:ext>
            </a:extLst>
          </p:cNvPr>
          <p:cNvPicPr>
            <a:picLocks noChangeAspect="1"/>
          </p:cNvPicPr>
          <p:nvPr/>
        </p:nvPicPr>
        <p:blipFill>
          <a:blip r:embed="rId2"/>
          <a:stretch>
            <a:fillRect/>
          </a:stretch>
        </p:blipFill>
        <p:spPr>
          <a:xfrm>
            <a:off x="46781" y="123363"/>
            <a:ext cx="12098438" cy="6611273"/>
          </a:xfrm>
          <a:prstGeom prst="rect">
            <a:avLst/>
          </a:prstGeom>
        </p:spPr>
      </p:pic>
    </p:spTree>
    <p:extLst>
      <p:ext uri="{BB962C8B-B14F-4D97-AF65-F5344CB8AC3E}">
        <p14:creationId xmlns:p14="http://schemas.microsoft.com/office/powerpoint/2010/main" val="2305266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DB08AB-2597-6CB0-D4CC-C2153FB4C107}"/>
              </a:ext>
            </a:extLst>
          </p:cNvPr>
          <p:cNvPicPr>
            <a:picLocks noChangeAspect="1"/>
          </p:cNvPicPr>
          <p:nvPr/>
        </p:nvPicPr>
        <p:blipFill>
          <a:blip r:embed="rId2"/>
          <a:stretch>
            <a:fillRect/>
          </a:stretch>
        </p:blipFill>
        <p:spPr>
          <a:xfrm>
            <a:off x="270437" y="0"/>
            <a:ext cx="11651125" cy="6858000"/>
          </a:xfrm>
          <a:prstGeom prst="rect">
            <a:avLst/>
          </a:prstGeom>
        </p:spPr>
      </p:pic>
    </p:spTree>
    <p:extLst>
      <p:ext uri="{BB962C8B-B14F-4D97-AF65-F5344CB8AC3E}">
        <p14:creationId xmlns:p14="http://schemas.microsoft.com/office/powerpoint/2010/main" val="10199650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384048"/>
            <a:ext cx="1106424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Bottom-Up Approach Dry Run: Filling the dp[] Table</a:t>
            </a:r>
            <a:endParaRPr lang="en-US" sz="3000" dirty="0"/>
          </a:p>
        </p:txBody>
      </p:sp>
      <p:sp>
        <p:nvSpPr>
          <p:cNvPr id="4" name="Text 2"/>
          <p:cNvSpPr/>
          <p:nvPr/>
        </p:nvSpPr>
        <p:spPr>
          <a:xfrm>
            <a:off x="548640" y="960120"/>
            <a:ext cx="11064240" cy="320040"/>
          </a:xfrm>
          <a:prstGeom prst="rect">
            <a:avLst/>
          </a:prstGeom>
          <a:noFill/>
          <a:ln/>
        </p:spPr>
        <p:txBody>
          <a:bodyPr wrap="square"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Tracing the bottom-up algorithm on arr = [10, 22, 9, 33, 21, 50, 41, 60, 80]</a:t>
            </a:r>
            <a:endParaRPr lang="en-US" sz="1250" dirty="0"/>
          </a:p>
        </p:txBody>
      </p:sp>
      <p:sp>
        <p:nvSpPr>
          <p:cNvPr id="5" name="Shape 3"/>
          <p:cNvSpPr/>
          <p:nvPr/>
        </p:nvSpPr>
        <p:spPr>
          <a:xfrm>
            <a:off x="548640" y="1463040"/>
            <a:ext cx="1109167" cy="566928"/>
          </a:xfrm>
          <a:prstGeom prst="rect">
            <a:avLst/>
          </a:prstGeom>
          <a:solidFill>
            <a:srgbClr val="1E2761"/>
          </a:solidFill>
          <a:ln w="6350">
            <a:solidFill>
              <a:srgbClr val="D8DEEA"/>
            </a:solidFill>
            <a:prstDash val="solid"/>
          </a:ln>
        </p:spPr>
      </p:sp>
      <p:sp>
        <p:nvSpPr>
          <p:cNvPr id="6" name="Text 4"/>
          <p:cNvSpPr/>
          <p:nvPr/>
        </p:nvSpPr>
        <p:spPr>
          <a:xfrm>
            <a:off x="548640" y="1463040"/>
            <a:ext cx="1109167" cy="56692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a:t>
            </a:r>
            <a:endParaRPr lang="en-US" sz="1200" dirty="0"/>
          </a:p>
        </p:txBody>
      </p:sp>
      <p:sp>
        <p:nvSpPr>
          <p:cNvPr id="7" name="Shape 5"/>
          <p:cNvSpPr/>
          <p:nvPr/>
        </p:nvSpPr>
        <p:spPr>
          <a:xfrm>
            <a:off x="1657807" y="1463040"/>
            <a:ext cx="1109167" cy="566928"/>
          </a:xfrm>
          <a:prstGeom prst="rect">
            <a:avLst/>
          </a:prstGeom>
          <a:solidFill>
            <a:srgbClr val="1E2761"/>
          </a:solidFill>
          <a:ln w="6350">
            <a:solidFill>
              <a:srgbClr val="D8DEEA"/>
            </a:solidFill>
            <a:prstDash val="solid"/>
          </a:ln>
        </p:spPr>
      </p:sp>
      <p:sp>
        <p:nvSpPr>
          <p:cNvPr id="8" name="Text 6"/>
          <p:cNvSpPr/>
          <p:nvPr/>
        </p:nvSpPr>
        <p:spPr>
          <a:xfrm>
            <a:off x="1657807" y="1463040"/>
            <a:ext cx="1109167" cy="566928"/>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0</a:t>
            </a:r>
            <a:endParaRPr lang="en-US" sz="1300" dirty="0"/>
          </a:p>
        </p:txBody>
      </p:sp>
      <p:sp>
        <p:nvSpPr>
          <p:cNvPr id="9" name="Shape 7"/>
          <p:cNvSpPr/>
          <p:nvPr/>
        </p:nvSpPr>
        <p:spPr>
          <a:xfrm>
            <a:off x="2766974" y="1463040"/>
            <a:ext cx="1109167" cy="566928"/>
          </a:xfrm>
          <a:prstGeom prst="rect">
            <a:avLst/>
          </a:prstGeom>
          <a:solidFill>
            <a:srgbClr val="1E2761"/>
          </a:solidFill>
          <a:ln w="6350">
            <a:solidFill>
              <a:srgbClr val="D8DEEA"/>
            </a:solidFill>
            <a:prstDash val="solid"/>
          </a:ln>
        </p:spPr>
      </p:sp>
      <p:sp>
        <p:nvSpPr>
          <p:cNvPr id="10" name="Text 8"/>
          <p:cNvSpPr/>
          <p:nvPr/>
        </p:nvSpPr>
        <p:spPr>
          <a:xfrm>
            <a:off x="2766974" y="1463040"/>
            <a:ext cx="1109167" cy="566928"/>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1</a:t>
            </a:r>
            <a:endParaRPr lang="en-US" sz="1300" dirty="0"/>
          </a:p>
        </p:txBody>
      </p:sp>
      <p:sp>
        <p:nvSpPr>
          <p:cNvPr id="11" name="Shape 9"/>
          <p:cNvSpPr/>
          <p:nvPr/>
        </p:nvSpPr>
        <p:spPr>
          <a:xfrm>
            <a:off x="3876142" y="1463040"/>
            <a:ext cx="1109167" cy="566928"/>
          </a:xfrm>
          <a:prstGeom prst="rect">
            <a:avLst/>
          </a:prstGeom>
          <a:solidFill>
            <a:srgbClr val="1E2761"/>
          </a:solidFill>
          <a:ln w="6350">
            <a:solidFill>
              <a:srgbClr val="D8DEEA"/>
            </a:solidFill>
            <a:prstDash val="solid"/>
          </a:ln>
        </p:spPr>
      </p:sp>
      <p:sp>
        <p:nvSpPr>
          <p:cNvPr id="12" name="Text 10"/>
          <p:cNvSpPr/>
          <p:nvPr/>
        </p:nvSpPr>
        <p:spPr>
          <a:xfrm>
            <a:off x="3876142" y="1463040"/>
            <a:ext cx="1109167" cy="566928"/>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2</a:t>
            </a:r>
            <a:endParaRPr lang="en-US" sz="1300" dirty="0"/>
          </a:p>
        </p:txBody>
      </p:sp>
      <p:sp>
        <p:nvSpPr>
          <p:cNvPr id="13" name="Shape 11"/>
          <p:cNvSpPr/>
          <p:nvPr/>
        </p:nvSpPr>
        <p:spPr>
          <a:xfrm>
            <a:off x="4985309" y="1463040"/>
            <a:ext cx="1109167" cy="566928"/>
          </a:xfrm>
          <a:prstGeom prst="rect">
            <a:avLst/>
          </a:prstGeom>
          <a:solidFill>
            <a:srgbClr val="1E2761"/>
          </a:solidFill>
          <a:ln w="6350">
            <a:solidFill>
              <a:srgbClr val="D8DEEA"/>
            </a:solidFill>
            <a:prstDash val="solid"/>
          </a:ln>
        </p:spPr>
      </p:sp>
      <p:sp>
        <p:nvSpPr>
          <p:cNvPr id="14" name="Text 12"/>
          <p:cNvSpPr/>
          <p:nvPr/>
        </p:nvSpPr>
        <p:spPr>
          <a:xfrm>
            <a:off x="4985309" y="1463040"/>
            <a:ext cx="1109167" cy="566928"/>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3</a:t>
            </a:r>
            <a:endParaRPr lang="en-US" sz="1300" dirty="0"/>
          </a:p>
        </p:txBody>
      </p:sp>
      <p:sp>
        <p:nvSpPr>
          <p:cNvPr id="15" name="Shape 13"/>
          <p:cNvSpPr/>
          <p:nvPr/>
        </p:nvSpPr>
        <p:spPr>
          <a:xfrm>
            <a:off x="6094476" y="1463040"/>
            <a:ext cx="1109167" cy="566928"/>
          </a:xfrm>
          <a:prstGeom prst="rect">
            <a:avLst/>
          </a:prstGeom>
          <a:solidFill>
            <a:srgbClr val="1E2761"/>
          </a:solidFill>
          <a:ln w="6350">
            <a:solidFill>
              <a:srgbClr val="D8DEEA"/>
            </a:solidFill>
            <a:prstDash val="solid"/>
          </a:ln>
        </p:spPr>
      </p:sp>
      <p:sp>
        <p:nvSpPr>
          <p:cNvPr id="16" name="Text 14"/>
          <p:cNvSpPr/>
          <p:nvPr/>
        </p:nvSpPr>
        <p:spPr>
          <a:xfrm>
            <a:off x="6094476" y="1463040"/>
            <a:ext cx="1109167" cy="566928"/>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4</a:t>
            </a:r>
            <a:endParaRPr lang="en-US" sz="1300" dirty="0"/>
          </a:p>
        </p:txBody>
      </p:sp>
      <p:sp>
        <p:nvSpPr>
          <p:cNvPr id="17" name="Shape 15"/>
          <p:cNvSpPr/>
          <p:nvPr/>
        </p:nvSpPr>
        <p:spPr>
          <a:xfrm>
            <a:off x="7203643" y="1463040"/>
            <a:ext cx="1109167" cy="566928"/>
          </a:xfrm>
          <a:prstGeom prst="rect">
            <a:avLst/>
          </a:prstGeom>
          <a:solidFill>
            <a:srgbClr val="1E2761"/>
          </a:solidFill>
          <a:ln w="6350">
            <a:solidFill>
              <a:srgbClr val="D8DEEA"/>
            </a:solidFill>
            <a:prstDash val="solid"/>
          </a:ln>
        </p:spPr>
      </p:sp>
      <p:sp>
        <p:nvSpPr>
          <p:cNvPr id="18" name="Text 16"/>
          <p:cNvSpPr/>
          <p:nvPr/>
        </p:nvSpPr>
        <p:spPr>
          <a:xfrm>
            <a:off x="7203643" y="1463040"/>
            <a:ext cx="1109167" cy="566928"/>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5</a:t>
            </a:r>
            <a:endParaRPr lang="en-US" sz="1300" dirty="0"/>
          </a:p>
        </p:txBody>
      </p:sp>
      <p:sp>
        <p:nvSpPr>
          <p:cNvPr id="19" name="Shape 17"/>
          <p:cNvSpPr/>
          <p:nvPr/>
        </p:nvSpPr>
        <p:spPr>
          <a:xfrm>
            <a:off x="8312810" y="1463040"/>
            <a:ext cx="1109167" cy="566928"/>
          </a:xfrm>
          <a:prstGeom prst="rect">
            <a:avLst/>
          </a:prstGeom>
          <a:solidFill>
            <a:srgbClr val="1E2761"/>
          </a:solidFill>
          <a:ln w="6350">
            <a:solidFill>
              <a:srgbClr val="D8DEEA"/>
            </a:solidFill>
            <a:prstDash val="solid"/>
          </a:ln>
        </p:spPr>
      </p:sp>
      <p:sp>
        <p:nvSpPr>
          <p:cNvPr id="20" name="Text 18"/>
          <p:cNvSpPr/>
          <p:nvPr/>
        </p:nvSpPr>
        <p:spPr>
          <a:xfrm>
            <a:off x="8312810" y="1463040"/>
            <a:ext cx="1109167" cy="566928"/>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6</a:t>
            </a:r>
            <a:endParaRPr lang="en-US" sz="1300" dirty="0"/>
          </a:p>
        </p:txBody>
      </p:sp>
      <p:sp>
        <p:nvSpPr>
          <p:cNvPr id="21" name="Shape 19"/>
          <p:cNvSpPr/>
          <p:nvPr/>
        </p:nvSpPr>
        <p:spPr>
          <a:xfrm>
            <a:off x="9421978" y="1463040"/>
            <a:ext cx="1109167" cy="566928"/>
          </a:xfrm>
          <a:prstGeom prst="rect">
            <a:avLst/>
          </a:prstGeom>
          <a:solidFill>
            <a:srgbClr val="1E2761"/>
          </a:solidFill>
          <a:ln w="6350">
            <a:solidFill>
              <a:srgbClr val="D8DEEA"/>
            </a:solidFill>
            <a:prstDash val="solid"/>
          </a:ln>
        </p:spPr>
      </p:sp>
      <p:sp>
        <p:nvSpPr>
          <p:cNvPr id="22" name="Text 20"/>
          <p:cNvSpPr/>
          <p:nvPr/>
        </p:nvSpPr>
        <p:spPr>
          <a:xfrm>
            <a:off x="9421978" y="1463040"/>
            <a:ext cx="1109167" cy="566928"/>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7</a:t>
            </a:r>
            <a:endParaRPr lang="en-US" sz="1300" dirty="0"/>
          </a:p>
        </p:txBody>
      </p:sp>
      <p:sp>
        <p:nvSpPr>
          <p:cNvPr id="23" name="Shape 21"/>
          <p:cNvSpPr/>
          <p:nvPr/>
        </p:nvSpPr>
        <p:spPr>
          <a:xfrm>
            <a:off x="10531145" y="1463040"/>
            <a:ext cx="1109167" cy="566928"/>
          </a:xfrm>
          <a:prstGeom prst="rect">
            <a:avLst/>
          </a:prstGeom>
          <a:solidFill>
            <a:srgbClr val="1E2761"/>
          </a:solidFill>
          <a:ln w="6350">
            <a:solidFill>
              <a:srgbClr val="D8DEEA"/>
            </a:solidFill>
            <a:prstDash val="solid"/>
          </a:ln>
        </p:spPr>
      </p:sp>
      <p:sp>
        <p:nvSpPr>
          <p:cNvPr id="24" name="Text 22"/>
          <p:cNvSpPr/>
          <p:nvPr/>
        </p:nvSpPr>
        <p:spPr>
          <a:xfrm>
            <a:off x="10531145" y="1463040"/>
            <a:ext cx="1109167" cy="566928"/>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8</a:t>
            </a:r>
            <a:endParaRPr lang="en-US" sz="1300" dirty="0"/>
          </a:p>
        </p:txBody>
      </p:sp>
      <p:sp>
        <p:nvSpPr>
          <p:cNvPr id="25" name="Shape 23"/>
          <p:cNvSpPr/>
          <p:nvPr/>
        </p:nvSpPr>
        <p:spPr>
          <a:xfrm>
            <a:off x="548640" y="2029968"/>
            <a:ext cx="1109167" cy="566928"/>
          </a:xfrm>
          <a:prstGeom prst="rect">
            <a:avLst/>
          </a:prstGeom>
          <a:solidFill>
            <a:srgbClr val="E7ECF7"/>
          </a:solidFill>
          <a:ln w="6350">
            <a:solidFill>
              <a:srgbClr val="D8DEEA"/>
            </a:solidFill>
            <a:prstDash val="solid"/>
          </a:ln>
        </p:spPr>
      </p:sp>
      <p:sp>
        <p:nvSpPr>
          <p:cNvPr id="26" name="Text 24"/>
          <p:cNvSpPr/>
          <p:nvPr/>
        </p:nvSpPr>
        <p:spPr>
          <a:xfrm>
            <a:off x="548640" y="2029968"/>
            <a:ext cx="1109167" cy="566928"/>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arr[i]</a:t>
            </a:r>
            <a:endParaRPr lang="en-US" sz="1200" dirty="0"/>
          </a:p>
        </p:txBody>
      </p:sp>
      <p:sp>
        <p:nvSpPr>
          <p:cNvPr id="27" name="Shape 25"/>
          <p:cNvSpPr/>
          <p:nvPr/>
        </p:nvSpPr>
        <p:spPr>
          <a:xfrm>
            <a:off x="1657807" y="2029968"/>
            <a:ext cx="1109167" cy="566928"/>
          </a:xfrm>
          <a:prstGeom prst="rect">
            <a:avLst/>
          </a:prstGeom>
          <a:solidFill>
            <a:srgbClr val="FFFFFF"/>
          </a:solidFill>
          <a:ln w="6350">
            <a:solidFill>
              <a:srgbClr val="D8DEEA"/>
            </a:solidFill>
            <a:prstDash val="solid"/>
          </a:ln>
        </p:spPr>
      </p:sp>
      <p:sp>
        <p:nvSpPr>
          <p:cNvPr id="28" name="Text 26"/>
          <p:cNvSpPr/>
          <p:nvPr/>
        </p:nvSpPr>
        <p:spPr>
          <a:xfrm>
            <a:off x="1657807" y="2029968"/>
            <a:ext cx="1109167" cy="566928"/>
          </a:xfrm>
          <a:prstGeom prst="rect">
            <a:avLst/>
          </a:prstGeom>
          <a:noFill/>
          <a:ln/>
        </p:spPr>
        <p:txBody>
          <a:bodyPr wrap="square" rtlCol="0" anchor="ctr"/>
          <a:lstStyle/>
          <a:p>
            <a:pPr marL="0" indent="0" algn="ctr">
              <a:buNone/>
            </a:pPr>
            <a:r>
              <a:rPr lang="en-US" sz="1300" dirty="0">
                <a:solidFill>
                  <a:srgbClr val="1A1A2E"/>
                </a:solidFill>
                <a:latin typeface="Courier New" pitchFamily="34" charset="0"/>
                <a:ea typeface="Courier New" pitchFamily="34" charset="-122"/>
                <a:cs typeface="Courier New" pitchFamily="34" charset="-120"/>
              </a:rPr>
              <a:t>10</a:t>
            </a:r>
            <a:endParaRPr lang="en-US" sz="1300" dirty="0"/>
          </a:p>
        </p:txBody>
      </p:sp>
      <p:sp>
        <p:nvSpPr>
          <p:cNvPr id="29" name="Shape 27"/>
          <p:cNvSpPr/>
          <p:nvPr/>
        </p:nvSpPr>
        <p:spPr>
          <a:xfrm>
            <a:off x="2766974" y="2029968"/>
            <a:ext cx="1109167" cy="566928"/>
          </a:xfrm>
          <a:prstGeom prst="rect">
            <a:avLst/>
          </a:prstGeom>
          <a:solidFill>
            <a:srgbClr val="FFFFFF"/>
          </a:solidFill>
          <a:ln w="6350">
            <a:solidFill>
              <a:srgbClr val="D8DEEA"/>
            </a:solidFill>
            <a:prstDash val="solid"/>
          </a:ln>
        </p:spPr>
      </p:sp>
      <p:sp>
        <p:nvSpPr>
          <p:cNvPr id="30" name="Text 28"/>
          <p:cNvSpPr/>
          <p:nvPr/>
        </p:nvSpPr>
        <p:spPr>
          <a:xfrm>
            <a:off x="2766974" y="2029968"/>
            <a:ext cx="1109167" cy="566928"/>
          </a:xfrm>
          <a:prstGeom prst="rect">
            <a:avLst/>
          </a:prstGeom>
          <a:noFill/>
          <a:ln/>
        </p:spPr>
        <p:txBody>
          <a:bodyPr wrap="square" rtlCol="0" anchor="ctr"/>
          <a:lstStyle/>
          <a:p>
            <a:pPr marL="0" indent="0" algn="ctr">
              <a:buNone/>
            </a:pPr>
            <a:r>
              <a:rPr lang="en-US" sz="1300" dirty="0">
                <a:solidFill>
                  <a:srgbClr val="1A1A2E"/>
                </a:solidFill>
                <a:latin typeface="Courier New" pitchFamily="34" charset="0"/>
                <a:ea typeface="Courier New" pitchFamily="34" charset="-122"/>
                <a:cs typeface="Courier New" pitchFamily="34" charset="-120"/>
              </a:rPr>
              <a:t>22</a:t>
            </a:r>
            <a:endParaRPr lang="en-US" sz="1300" dirty="0"/>
          </a:p>
        </p:txBody>
      </p:sp>
      <p:sp>
        <p:nvSpPr>
          <p:cNvPr id="31" name="Shape 29"/>
          <p:cNvSpPr/>
          <p:nvPr/>
        </p:nvSpPr>
        <p:spPr>
          <a:xfrm>
            <a:off x="3876142" y="2029968"/>
            <a:ext cx="1109167" cy="566928"/>
          </a:xfrm>
          <a:prstGeom prst="rect">
            <a:avLst/>
          </a:prstGeom>
          <a:solidFill>
            <a:srgbClr val="FFFFFF"/>
          </a:solidFill>
          <a:ln w="6350">
            <a:solidFill>
              <a:srgbClr val="D8DEEA"/>
            </a:solidFill>
            <a:prstDash val="solid"/>
          </a:ln>
        </p:spPr>
      </p:sp>
      <p:sp>
        <p:nvSpPr>
          <p:cNvPr id="32" name="Text 30"/>
          <p:cNvSpPr/>
          <p:nvPr/>
        </p:nvSpPr>
        <p:spPr>
          <a:xfrm>
            <a:off x="3876142" y="2029968"/>
            <a:ext cx="1109167" cy="566928"/>
          </a:xfrm>
          <a:prstGeom prst="rect">
            <a:avLst/>
          </a:prstGeom>
          <a:noFill/>
          <a:ln/>
        </p:spPr>
        <p:txBody>
          <a:bodyPr wrap="square" rtlCol="0" anchor="ctr"/>
          <a:lstStyle/>
          <a:p>
            <a:pPr marL="0" indent="0" algn="ctr">
              <a:buNone/>
            </a:pPr>
            <a:r>
              <a:rPr lang="en-US" sz="1300" dirty="0">
                <a:solidFill>
                  <a:srgbClr val="1A1A2E"/>
                </a:solidFill>
                <a:latin typeface="Courier New" pitchFamily="34" charset="0"/>
                <a:ea typeface="Courier New" pitchFamily="34" charset="-122"/>
                <a:cs typeface="Courier New" pitchFamily="34" charset="-120"/>
              </a:rPr>
              <a:t>9</a:t>
            </a:r>
            <a:endParaRPr lang="en-US" sz="1300" dirty="0"/>
          </a:p>
        </p:txBody>
      </p:sp>
      <p:sp>
        <p:nvSpPr>
          <p:cNvPr id="33" name="Shape 31"/>
          <p:cNvSpPr/>
          <p:nvPr/>
        </p:nvSpPr>
        <p:spPr>
          <a:xfrm>
            <a:off x="4985309" y="2029968"/>
            <a:ext cx="1109167" cy="566928"/>
          </a:xfrm>
          <a:prstGeom prst="rect">
            <a:avLst/>
          </a:prstGeom>
          <a:solidFill>
            <a:srgbClr val="FFFFFF"/>
          </a:solidFill>
          <a:ln w="6350">
            <a:solidFill>
              <a:srgbClr val="D8DEEA"/>
            </a:solidFill>
            <a:prstDash val="solid"/>
          </a:ln>
        </p:spPr>
      </p:sp>
      <p:sp>
        <p:nvSpPr>
          <p:cNvPr id="34" name="Text 32"/>
          <p:cNvSpPr/>
          <p:nvPr/>
        </p:nvSpPr>
        <p:spPr>
          <a:xfrm>
            <a:off x="4985309" y="2029968"/>
            <a:ext cx="1109167" cy="566928"/>
          </a:xfrm>
          <a:prstGeom prst="rect">
            <a:avLst/>
          </a:prstGeom>
          <a:noFill/>
          <a:ln/>
        </p:spPr>
        <p:txBody>
          <a:bodyPr wrap="square" rtlCol="0" anchor="ctr"/>
          <a:lstStyle/>
          <a:p>
            <a:pPr marL="0" indent="0" algn="ctr">
              <a:buNone/>
            </a:pPr>
            <a:r>
              <a:rPr lang="en-US" sz="1300" dirty="0">
                <a:solidFill>
                  <a:srgbClr val="1A1A2E"/>
                </a:solidFill>
                <a:latin typeface="Courier New" pitchFamily="34" charset="0"/>
                <a:ea typeface="Courier New" pitchFamily="34" charset="-122"/>
                <a:cs typeface="Courier New" pitchFamily="34" charset="-120"/>
              </a:rPr>
              <a:t>33</a:t>
            </a:r>
            <a:endParaRPr lang="en-US" sz="1300" dirty="0"/>
          </a:p>
        </p:txBody>
      </p:sp>
      <p:sp>
        <p:nvSpPr>
          <p:cNvPr id="35" name="Shape 33"/>
          <p:cNvSpPr/>
          <p:nvPr/>
        </p:nvSpPr>
        <p:spPr>
          <a:xfrm>
            <a:off x="6094476" y="2029968"/>
            <a:ext cx="1109167" cy="566928"/>
          </a:xfrm>
          <a:prstGeom prst="rect">
            <a:avLst/>
          </a:prstGeom>
          <a:solidFill>
            <a:srgbClr val="FFFFFF"/>
          </a:solidFill>
          <a:ln w="6350">
            <a:solidFill>
              <a:srgbClr val="D8DEEA"/>
            </a:solidFill>
            <a:prstDash val="solid"/>
          </a:ln>
        </p:spPr>
      </p:sp>
      <p:sp>
        <p:nvSpPr>
          <p:cNvPr id="36" name="Text 34"/>
          <p:cNvSpPr/>
          <p:nvPr/>
        </p:nvSpPr>
        <p:spPr>
          <a:xfrm>
            <a:off x="6094476" y="2029968"/>
            <a:ext cx="1109167" cy="566928"/>
          </a:xfrm>
          <a:prstGeom prst="rect">
            <a:avLst/>
          </a:prstGeom>
          <a:noFill/>
          <a:ln/>
        </p:spPr>
        <p:txBody>
          <a:bodyPr wrap="square" rtlCol="0" anchor="ctr"/>
          <a:lstStyle/>
          <a:p>
            <a:pPr marL="0" indent="0" algn="ctr">
              <a:buNone/>
            </a:pPr>
            <a:r>
              <a:rPr lang="en-US" sz="1300" dirty="0">
                <a:solidFill>
                  <a:srgbClr val="1A1A2E"/>
                </a:solidFill>
                <a:latin typeface="Courier New" pitchFamily="34" charset="0"/>
                <a:ea typeface="Courier New" pitchFamily="34" charset="-122"/>
                <a:cs typeface="Courier New" pitchFamily="34" charset="-120"/>
              </a:rPr>
              <a:t>21</a:t>
            </a:r>
            <a:endParaRPr lang="en-US" sz="1300" dirty="0"/>
          </a:p>
        </p:txBody>
      </p:sp>
      <p:sp>
        <p:nvSpPr>
          <p:cNvPr id="37" name="Shape 35"/>
          <p:cNvSpPr/>
          <p:nvPr/>
        </p:nvSpPr>
        <p:spPr>
          <a:xfrm>
            <a:off x="7203643" y="2029968"/>
            <a:ext cx="1109167" cy="566928"/>
          </a:xfrm>
          <a:prstGeom prst="rect">
            <a:avLst/>
          </a:prstGeom>
          <a:solidFill>
            <a:srgbClr val="FFFFFF"/>
          </a:solidFill>
          <a:ln w="6350">
            <a:solidFill>
              <a:srgbClr val="D8DEEA"/>
            </a:solidFill>
            <a:prstDash val="solid"/>
          </a:ln>
        </p:spPr>
      </p:sp>
      <p:sp>
        <p:nvSpPr>
          <p:cNvPr id="38" name="Text 36"/>
          <p:cNvSpPr/>
          <p:nvPr/>
        </p:nvSpPr>
        <p:spPr>
          <a:xfrm>
            <a:off x="7203643" y="2029968"/>
            <a:ext cx="1109167" cy="566928"/>
          </a:xfrm>
          <a:prstGeom prst="rect">
            <a:avLst/>
          </a:prstGeom>
          <a:noFill/>
          <a:ln/>
        </p:spPr>
        <p:txBody>
          <a:bodyPr wrap="square" rtlCol="0" anchor="ctr"/>
          <a:lstStyle/>
          <a:p>
            <a:pPr marL="0" indent="0" algn="ctr">
              <a:buNone/>
            </a:pPr>
            <a:r>
              <a:rPr lang="en-US" sz="1300" dirty="0">
                <a:solidFill>
                  <a:srgbClr val="1A1A2E"/>
                </a:solidFill>
                <a:latin typeface="Courier New" pitchFamily="34" charset="0"/>
                <a:ea typeface="Courier New" pitchFamily="34" charset="-122"/>
                <a:cs typeface="Courier New" pitchFamily="34" charset="-120"/>
              </a:rPr>
              <a:t>50</a:t>
            </a:r>
            <a:endParaRPr lang="en-US" sz="1300" dirty="0"/>
          </a:p>
        </p:txBody>
      </p:sp>
      <p:sp>
        <p:nvSpPr>
          <p:cNvPr id="39" name="Shape 37"/>
          <p:cNvSpPr/>
          <p:nvPr/>
        </p:nvSpPr>
        <p:spPr>
          <a:xfrm>
            <a:off x="8312810" y="2029968"/>
            <a:ext cx="1109167" cy="566928"/>
          </a:xfrm>
          <a:prstGeom prst="rect">
            <a:avLst/>
          </a:prstGeom>
          <a:solidFill>
            <a:srgbClr val="FFFFFF"/>
          </a:solidFill>
          <a:ln w="6350">
            <a:solidFill>
              <a:srgbClr val="D8DEEA"/>
            </a:solidFill>
            <a:prstDash val="solid"/>
          </a:ln>
        </p:spPr>
      </p:sp>
      <p:sp>
        <p:nvSpPr>
          <p:cNvPr id="40" name="Text 38"/>
          <p:cNvSpPr/>
          <p:nvPr/>
        </p:nvSpPr>
        <p:spPr>
          <a:xfrm>
            <a:off x="8312810" y="2029968"/>
            <a:ext cx="1109167" cy="566928"/>
          </a:xfrm>
          <a:prstGeom prst="rect">
            <a:avLst/>
          </a:prstGeom>
          <a:noFill/>
          <a:ln/>
        </p:spPr>
        <p:txBody>
          <a:bodyPr wrap="square" rtlCol="0" anchor="ctr"/>
          <a:lstStyle/>
          <a:p>
            <a:pPr marL="0" indent="0" algn="ctr">
              <a:buNone/>
            </a:pPr>
            <a:r>
              <a:rPr lang="en-US" sz="1300" dirty="0">
                <a:solidFill>
                  <a:srgbClr val="1A1A2E"/>
                </a:solidFill>
                <a:latin typeface="Courier New" pitchFamily="34" charset="0"/>
                <a:ea typeface="Courier New" pitchFamily="34" charset="-122"/>
                <a:cs typeface="Courier New" pitchFamily="34" charset="-120"/>
              </a:rPr>
              <a:t>41</a:t>
            </a:r>
            <a:endParaRPr lang="en-US" sz="1300" dirty="0"/>
          </a:p>
        </p:txBody>
      </p:sp>
      <p:sp>
        <p:nvSpPr>
          <p:cNvPr id="41" name="Shape 39"/>
          <p:cNvSpPr/>
          <p:nvPr/>
        </p:nvSpPr>
        <p:spPr>
          <a:xfrm>
            <a:off x="9421978" y="2029968"/>
            <a:ext cx="1109167" cy="566928"/>
          </a:xfrm>
          <a:prstGeom prst="rect">
            <a:avLst/>
          </a:prstGeom>
          <a:solidFill>
            <a:srgbClr val="FFFFFF"/>
          </a:solidFill>
          <a:ln w="6350">
            <a:solidFill>
              <a:srgbClr val="D8DEEA"/>
            </a:solidFill>
            <a:prstDash val="solid"/>
          </a:ln>
        </p:spPr>
      </p:sp>
      <p:sp>
        <p:nvSpPr>
          <p:cNvPr id="42" name="Text 40"/>
          <p:cNvSpPr/>
          <p:nvPr/>
        </p:nvSpPr>
        <p:spPr>
          <a:xfrm>
            <a:off x="9421978" y="2029968"/>
            <a:ext cx="1109167" cy="566928"/>
          </a:xfrm>
          <a:prstGeom prst="rect">
            <a:avLst/>
          </a:prstGeom>
          <a:noFill/>
          <a:ln/>
        </p:spPr>
        <p:txBody>
          <a:bodyPr wrap="square" rtlCol="0" anchor="ctr"/>
          <a:lstStyle/>
          <a:p>
            <a:pPr marL="0" indent="0" algn="ctr">
              <a:buNone/>
            </a:pPr>
            <a:r>
              <a:rPr lang="en-US" sz="1300" dirty="0">
                <a:solidFill>
                  <a:srgbClr val="1A1A2E"/>
                </a:solidFill>
                <a:latin typeface="Courier New" pitchFamily="34" charset="0"/>
                <a:ea typeface="Courier New" pitchFamily="34" charset="-122"/>
                <a:cs typeface="Courier New" pitchFamily="34" charset="-120"/>
              </a:rPr>
              <a:t>60</a:t>
            </a:r>
            <a:endParaRPr lang="en-US" sz="1300" dirty="0"/>
          </a:p>
        </p:txBody>
      </p:sp>
      <p:sp>
        <p:nvSpPr>
          <p:cNvPr id="43" name="Shape 41"/>
          <p:cNvSpPr/>
          <p:nvPr/>
        </p:nvSpPr>
        <p:spPr>
          <a:xfrm>
            <a:off x="10531145" y="2029968"/>
            <a:ext cx="1109167" cy="566928"/>
          </a:xfrm>
          <a:prstGeom prst="rect">
            <a:avLst/>
          </a:prstGeom>
          <a:solidFill>
            <a:srgbClr val="FFFFFF"/>
          </a:solidFill>
          <a:ln w="6350">
            <a:solidFill>
              <a:srgbClr val="D8DEEA"/>
            </a:solidFill>
            <a:prstDash val="solid"/>
          </a:ln>
        </p:spPr>
      </p:sp>
      <p:sp>
        <p:nvSpPr>
          <p:cNvPr id="44" name="Text 42"/>
          <p:cNvSpPr/>
          <p:nvPr/>
        </p:nvSpPr>
        <p:spPr>
          <a:xfrm>
            <a:off x="10531145" y="2029968"/>
            <a:ext cx="1109167" cy="566928"/>
          </a:xfrm>
          <a:prstGeom prst="rect">
            <a:avLst/>
          </a:prstGeom>
          <a:noFill/>
          <a:ln/>
        </p:spPr>
        <p:txBody>
          <a:bodyPr wrap="square" rtlCol="0" anchor="ctr"/>
          <a:lstStyle/>
          <a:p>
            <a:pPr marL="0" indent="0" algn="ctr">
              <a:buNone/>
            </a:pPr>
            <a:r>
              <a:rPr lang="en-US" sz="1300" dirty="0">
                <a:solidFill>
                  <a:srgbClr val="1A1A2E"/>
                </a:solidFill>
                <a:latin typeface="Courier New" pitchFamily="34" charset="0"/>
                <a:ea typeface="Courier New" pitchFamily="34" charset="-122"/>
                <a:cs typeface="Courier New" pitchFamily="34" charset="-120"/>
              </a:rPr>
              <a:t>80</a:t>
            </a:r>
            <a:endParaRPr lang="en-US" sz="1300" dirty="0"/>
          </a:p>
        </p:txBody>
      </p:sp>
      <p:sp>
        <p:nvSpPr>
          <p:cNvPr id="45" name="Shape 43"/>
          <p:cNvSpPr/>
          <p:nvPr/>
        </p:nvSpPr>
        <p:spPr>
          <a:xfrm>
            <a:off x="548640" y="2596896"/>
            <a:ext cx="1109167" cy="566928"/>
          </a:xfrm>
          <a:prstGeom prst="rect">
            <a:avLst/>
          </a:prstGeom>
          <a:solidFill>
            <a:srgbClr val="E7ECF7"/>
          </a:solidFill>
          <a:ln w="6350">
            <a:solidFill>
              <a:srgbClr val="D8DEEA"/>
            </a:solidFill>
            <a:prstDash val="solid"/>
          </a:ln>
        </p:spPr>
      </p:sp>
      <p:sp>
        <p:nvSpPr>
          <p:cNvPr id="46" name="Text 44"/>
          <p:cNvSpPr/>
          <p:nvPr/>
        </p:nvSpPr>
        <p:spPr>
          <a:xfrm>
            <a:off x="548640" y="2596896"/>
            <a:ext cx="1109167" cy="566928"/>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dp[i]</a:t>
            </a:r>
            <a:endParaRPr lang="en-US" sz="1200" dirty="0"/>
          </a:p>
        </p:txBody>
      </p:sp>
      <p:sp>
        <p:nvSpPr>
          <p:cNvPr id="47" name="Shape 45"/>
          <p:cNvSpPr/>
          <p:nvPr/>
        </p:nvSpPr>
        <p:spPr>
          <a:xfrm>
            <a:off x="1657807" y="2596896"/>
            <a:ext cx="1109167" cy="566928"/>
          </a:xfrm>
          <a:prstGeom prst="rect">
            <a:avLst/>
          </a:prstGeom>
          <a:solidFill>
            <a:srgbClr val="E8A33D"/>
          </a:solidFill>
          <a:ln w="6350">
            <a:solidFill>
              <a:srgbClr val="D8DEEA"/>
            </a:solidFill>
            <a:prstDash val="solid"/>
          </a:ln>
        </p:spPr>
      </p:sp>
      <p:sp>
        <p:nvSpPr>
          <p:cNvPr id="48" name="Text 46"/>
          <p:cNvSpPr/>
          <p:nvPr/>
        </p:nvSpPr>
        <p:spPr>
          <a:xfrm>
            <a:off x="1657807" y="2596896"/>
            <a:ext cx="1109167" cy="566928"/>
          </a:xfrm>
          <a:prstGeom prst="rect">
            <a:avLst/>
          </a:prstGeom>
          <a:noFill/>
          <a:ln/>
        </p:spPr>
        <p:txBody>
          <a:bodyPr wrap="square" rtlCol="0" anchor="ctr"/>
          <a:lstStyle/>
          <a:p>
            <a:pPr marL="0" indent="0" algn="ctr">
              <a:buNone/>
            </a:pPr>
            <a:r>
              <a:rPr lang="en-US" sz="1300" b="1" dirty="0">
                <a:solidFill>
                  <a:srgbClr val="141A45"/>
                </a:solidFill>
                <a:latin typeface="Courier New" pitchFamily="34" charset="0"/>
                <a:ea typeface="Courier New" pitchFamily="34" charset="-122"/>
                <a:cs typeface="Courier New" pitchFamily="34" charset="-120"/>
              </a:rPr>
              <a:t>1</a:t>
            </a:r>
            <a:endParaRPr lang="en-US" sz="1300" dirty="0"/>
          </a:p>
        </p:txBody>
      </p:sp>
      <p:sp>
        <p:nvSpPr>
          <p:cNvPr id="49" name="Shape 47"/>
          <p:cNvSpPr/>
          <p:nvPr/>
        </p:nvSpPr>
        <p:spPr>
          <a:xfrm>
            <a:off x="2766974" y="2596896"/>
            <a:ext cx="1109167" cy="566928"/>
          </a:xfrm>
          <a:prstGeom prst="rect">
            <a:avLst/>
          </a:prstGeom>
          <a:solidFill>
            <a:srgbClr val="E8A33D"/>
          </a:solidFill>
          <a:ln w="6350">
            <a:solidFill>
              <a:srgbClr val="D8DEEA"/>
            </a:solidFill>
            <a:prstDash val="solid"/>
          </a:ln>
        </p:spPr>
      </p:sp>
      <p:sp>
        <p:nvSpPr>
          <p:cNvPr id="50" name="Text 48"/>
          <p:cNvSpPr/>
          <p:nvPr/>
        </p:nvSpPr>
        <p:spPr>
          <a:xfrm>
            <a:off x="2766974" y="2596896"/>
            <a:ext cx="1109167" cy="566928"/>
          </a:xfrm>
          <a:prstGeom prst="rect">
            <a:avLst/>
          </a:prstGeom>
          <a:noFill/>
          <a:ln/>
        </p:spPr>
        <p:txBody>
          <a:bodyPr wrap="square" rtlCol="0" anchor="ctr"/>
          <a:lstStyle/>
          <a:p>
            <a:pPr marL="0" indent="0" algn="ctr">
              <a:buNone/>
            </a:pPr>
            <a:r>
              <a:rPr lang="en-US" sz="1300" b="1" dirty="0">
                <a:solidFill>
                  <a:srgbClr val="141A45"/>
                </a:solidFill>
                <a:latin typeface="Courier New" pitchFamily="34" charset="0"/>
                <a:ea typeface="Courier New" pitchFamily="34" charset="-122"/>
                <a:cs typeface="Courier New" pitchFamily="34" charset="-120"/>
              </a:rPr>
              <a:t>2</a:t>
            </a:r>
            <a:endParaRPr lang="en-US" sz="1300" dirty="0"/>
          </a:p>
        </p:txBody>
      </p:sp>
      <p:sp>
        <p:nvSpPr>
          <p:cNvPr id="51" name="Shape 49"/>
          <p:cNvSpPr/>
          <p:nvPr/>
        </p:nvSpPr>
        <p:spPr>
          <a:xfrm>
            <a:off x="3876142" y="2596896"/>
            <a:ext cx="1109167" cy="566928"/>
          </a:xfrm>
          <a:prstGeom prst="rect">
            <a:avLst/>
          </a:prstGeom>
          <a:solidFill>
            <a:srgbClr val="F3F6FC"/>
          </a:solidFill>
          <a:ln w="6350">
            <a:solidFill>
              <a:srgbClr val="D8DEEA"/>
            </a:solidFill>
            <a:prstDash val="solid"/>
          </a:ln>
        </p:spPr>
      </p:sp>
      <p:sp>
        <p:nvSpPr>
          <p:cNvPr id="52" name="Text 50"/>
          <p:cNvSpPr/>
          <p:nvPr/>
        </p:nvSpPr>
        <p:spPr>
          <a:xfrm>
            <a:off x="3876142" y="2596896"/>
            <a:ext cx="1109167" cy="566928"/>
          </a:xfrm>
          <a:prstGeom prst="rect">
            <a:avLst/>
          </a:prstGeom>
          <a:noFill/>
          <a:ln/>
        </p:spPr>
        <p:txBody>
          <a:bodyPr wrap="square" rtlCol="0" anchor="ctr"/>
          <a:lstStyle/>
          <a:p>
            <a:pPr marL="0" indent="0" algn="ctr">
              <a:buNone/>
            </a:pPr>
            <a:r>
              <a:rPr lang="en-US" sz="1300" dirty="0">
                <a:solidFill>
                  <a:srgbClr val="1A1A2E"/>
                </a:solidFill>
                <a:latin typeface="Courier New" pitchFamily="34" charset="0"/>
                <a:ea typeface="Courier New" pitchFamily="34" charset="-122"/>
                <a:cs typeface="Courier New" pitchFamily="34" charset="-120"/>
              </a:rPr>
              <a:t>1</a:t>
            </a:r>
            <a:endParaRPr lang="en-US" sz="1300" dirty="0"/>
          </a:p>
        </p:txBody>
      </p:sp>
      <p:sp>
        <p:nvSpPr>
          <p:cNvPr id="53" name="Shape 51"/>
          <p:cNvSpPr/>
          <p:nvPr/>
        </p:nvSpPr>
        <p:spPr>
          <a:xfrm>
            <a:off x="4985309" y="2596896"/>
            <a:ext cx="1109167" cy="566928"/>
          </a:xfrm>
          <a:prstGeom prst="rect">
            <a:avLst/>
          </a:prstGeom>
          <a:solidFill>
            <a:srgbClr val="E8A33D"/>
          </a:solidFill>
          <a:ln w="6350">
            <a:solidFill>
              <a:srgbClr val="D8DEEA"/>
            </a:solidFill>
            <a:prstDash val="solid"/>
          </a:ln>
        </p:spPr>
      </p:sp>
      <p:sp>
        <p:nvSpPr>
          <p:cNvPr id="54" name="Text 52"/>
          <p:cNvSpPr/>
          <p:nvPr/>
        </p:nvSpPr>
        <p:spPr>
          <a:xfrm>
            <a:off x="4985309" y="2596896"/>
            <a:ext cx="1109167" cy="566928"/>
          </a:xfrm>
          <a:prstGeom prst="rect">
            <a:avLst/>
          </a:prstGeom>
          <a:noFill/>
          <a:ln/>
        </p:spPr>
        <p:txBody>
          <a:bodyPr wrap="square" rtlCol="0" anchor="ctr"/>
          <a:lstStyle/>
          <a:p>
            <a:pPr marL="0" indent="0" algn="ctr">
              <a:buNone/>
            </a:pPr>
            <a:r>
              <a:rPr lang="en-US" sz="1300" b="1" dirty="0">
                <a:solidFill>
                  <a:srgbClr val="141A45"/>
                </a:solidFill>
                <a:latin typeface="Courier New" pitchFamily="34" charset="0"/>
                <a:ea typeface="Courier New" pitchFamily="34" charset="-122"/>
                <a:cs typeface="Courier New" pitchFamily="34" charset="-120"/>
              </a:rPr>
              <a:t>3</a:t>
            </a:r>
            <a:endParaRPr lang="en-US" sz="1300" dirty="0"/>
          </a:p>
        </p:txBody>
      </p:sp>
      <p:sp>
        <p:nvSpPr>
          <p:cNvPr id="55" name="Shape 53"/>
          <p:cNvSpPr/>
          <p:nvPr/>
        </p:nvSpPr>
        <p:spPr>
          <a:xfrm>
            <a:off x="6094476" y="2596896"/>
            <a:ext cx="1109167" cy="566928"/>
          </a:xfrm>
          <a:prstGeom prst="rect">
            <a:avLst/>
          </a:prstGeom>
          <a:solidFill>
            <a:srgbClr val="F3F6FC"/>
          </a:solidFill>
          <a:ln w="6350">
            <a:solidFill>
              <a:srgbClr val="D8DEEA"/>
            </a:solidFill>
            <a:prstDash val="solid"/>
          </a:ln>
        </p:spPr>
      </p:sp>
      <p:sp>
        <p:nvSpPr>
          <p:cNvPr id="56" name="Text 54"/>
          <p:cNvSpPr/>
          <p:nvPr/>
        </p:nvSpPr>
        <p:spPr>
          <a:xfrm>
            <a:off x="6094476" y="2596896"/>
            <a:ext cx="1109167" cy="566928"/>
          </a:xfrm>
          <a:prstGeom prst="rect">
            <a:avLst/>
          </a:prstGeom>
          <a:noFill/>
          <a:ln/>
        </p:spPr>
        <p:txBody>
          <a:bodyPr wrap="square" rtlCol="0" anchor="ctr"/>
          <a:lstStyle/>
          <a:p>
            <a:pPr marL="0" indent="0" algn="ctr">
              <a:buNone/>
            </a:pPr>
            <a:r>
              <a:rPr lang="en-US" sz="1300" dirty="0">
                <a:solidFill>
                  <a:srgbClr val="1A1A2E"/>
                </a:solidFill>
                <a:latin typeface="Courier New" pitchFamily="34" charset="0"/>
                <a:ea typeface="Courier New" pitchFamily="34" charset="-122"/>
                <a:cs typeface="Courier New" pitchFamily="34" charset="-120"/>
              </a:rPr>
              <a:t>2</a:t>
            </a:r>
            <a:endParaRPr lang="en-US" sz="1300" dirty="0"/>
          </a:p>
        </p:txBody>
      </p:sp>
      <p:sp>
        <p:nvSpPr>
          <p:cNvPr id="57" name="Shape 55"/>
          <p:cNvSpPr/>
          <p:nvPr/>
        </p:nvSpPr>
        <p:spPr>
          <a:xfrm>
            <a:off x="7203643" y="2596896"/>
            <a:ext cx="1109167" cy="566928"/>
          </a:xfrm>
          <a:prstGeom prst="rect">
            <a:avLst/>
          </a:prstGeom>
          <a:solidFill>
            <a:srgbClr val="E8A33D"/>
          </a:solidFill>
          <a:ln w="6350">
            <a:solidFill>
              <a:srgbClr val="D8DEEA"/>
            </a:solidFill>
            <a:prstDash val="solid"/>
          </a:ln>
        </p:spPr>
      </p:sp>
      <p:sp>
        <p:nvSpPr>
          <p:cNvPr id="58" name="Text 56"/>
          <p:cNvSpPr/>
          <p:nvPr/>
        </p:nvSpPr>
        <p:spPr>
          <a:xfrm>
            <a:off x="7203643" y="2596896"/>
            <a:ext cx="1109167" cy="566928"/>
          </a:xfrm>
          <a:prstGeom prst="rect">
            <a:avLst/>
          </a:prstGeom>
          <a:noFill/>
          <a:ln/>
        </p:spPr>
        <p:txBody>
          <a:bodyPr wrap="square" rtlCol="0" anchor="ctr"/>
          <a:lstStyle/>
          <a:p>
            <a:pPr marL="0" indent="0" algn="ctr">
              <a:buNone/>
            </a:pPr>
            <a:r>
              <a:rPr lang="en-US" sz="1300" b="1" dirty="0">
                <a:solidFill>
                  <a:srgbClr val="141A45"/>
                </a:solidFill>
                <a:latin typeface="Courier New" pitchFamily="34" charset="0"/>
                <a:ea typeface="Courier New" pitchFamily="34" charset="-122"/>
                <a:cs typeface="Courier New" pitchFamily="34" charset="-120"/>
              </a:rPr>
              <a:t>4</a:t>
            </a:r>
            <a:endParaRPr lang="en-US" sz="1300" dirty="0"/>
          </a:p>
        </p:txBody>
      </p:sp>
      <p:sp>
        <p:nvSpPr>
          <p:cNvPr id="59" name="Shape 57"/>
          <p:cNvSpPr/>
          <p:nvPr/>
        </p:nvSpPr>
        <p:spPr>
          <a:xfrm>
            <a:off x="8312810" y="2596896"/>
            <a:ext cx="1109167" cy="566928"/>
          </a:xfrm>
          <a:prstGeom prst="rect">
            <a:avLst/>
          </a:prstGeom>
          <a:solidFill>
            <a:srgbClr val="F3F6FC"/>
          </a:solidFill>
          <a:ln w="6350">
            <a:solidFill>
              <a:srgbClr val="D8DEEA"/>
            </a:solidFill>
            <a:prstDash val="solid"/>
          </a:ln>
        </p:spPr>
      </p:sp>
      <p:sp>
        <p:nvSpPr>
          <p:cNvPr id="60" name="Text 58"/>
          <p:cNvSpPr/>
          <p:nvPr/>
        </p:nvSpPr>
        <p:spPr>
          <a:xfrm>
            <a:off x="8312810" y="2596896"/>
            <a:ext cx="1109167" cy="566928"/>
          </a:xfrm>
          <a:prstGeom prst="rect">
            <a:avLst/>
          </a:prstGeom>
          <a:noFill/>
          <a:ln/>
        </p:spPr>
        <p:txBody>
          <a:bodyPr wrap="square" rtlCol="0" anchor="ctr"/>
          <a:lstStyle/>
          <a:p>
            <a:pPr marL="0" indent="0" algn="ctr">
              <a:buNone/>
            </a:pPr>
            <a:r>
              <a:rPr lang="en-US" sz="1300" dirty="0">
                <a:solidFill>
                  <a:srgbClr val="1A1A2E"/>
                </a:solidFill>
                <a:latin typeface="Courier New" pitchFamily="34" charset="0"/>
                <a:ea typeface="Courier New" pitchFamily="34" charset="-122"/>
                <a:cs typeface="Courier New" pitchFamily="34" charset="-120"/>
              </a:rPr>
              <a:t>4</a:t>
            </a:r>
            <a:endParaRPr lang="en-US" sz="1300" dirty="0"/>
          </a:p>
        </p:txBody>
      </p:sp>
      <p:sp>
        <p:nvSpPr>
          <p:cNvPr id="61" name="Shape 59"/>
          <p:cNvSpPr/>
          <p:nvPr/>
        </p:nvSpPr>
        <p:spPr>
          <a:xfrm>
            <a:off x="9421978" y="2596896"/>
            <a:ext cx="1109167" cy="566928"/>
          </a:xfrm>
          <a:prstGeom prst="rect">
            <a:avLst/>
          </a:prstGeom>
          <a:solidFill>
            <a:srgbClr val="E8A33D"/>
          </a:solidFill>
          <a:ln w="6350">
            <a:solidFill>
              <a:srgbClr val="D8DEEA"/>
            </a:solidFill>
            <a:prstDash val="solid"/>
          </a:ln>
        </p:spPr>
      </p:sp>
      <p:sp>
        <p:nvSpPr>
          <p:cNvPr id="62" name="Text 60"/>
          <p:cNvSpPr/>
          <p:nvPr/>
        </p:nvSpPr>
        <p:spPr>
          <a:xfrm>
            <a:off x="9421978" y="2596896"/>
            <a:ext cx="1109167" cy="566928"/>
          </a:xfrm>
          <a:prstGeom prst="rect">
            <a:avLst/>
          </a:prstGeom>
          <a:noFill/>
          <a:ln/>
        </p:spPr>
        <p:txBody>
          <a:bodyPr wrap="square" rtlCol="0" anchor="ctr"/>
          <a:lstStyle/>
          <a:p>
            <a:pPr marL="0" indent="0" algn="ctr">
              <a:buNone/>
            </a:pPr>
            <a:r>
              <a:rPr lang="en-US" sz="1300" b="1" dirty="0">
                <a:solidFill>
                  <a:srgbClr val="141A45"/>
                </a:solidFill>
                <a:latin typeface="Courier New" pitchFamily="34" charset="0"/>
                <a:ea typeface="Courier New" pitchFamily="34" charset="-122"/>
                <a:cs typeface="Courier New" pitchFamily="34" charset="-120"/>
              </a:rPr>
              <a:t>5</a:t>
            </a:r>
            <a:endParaRPr lang="en-US" sz="1300" dirty="0"/>
          </a:p>
        </p:txBody>
      </p:sp>
      <p:sp>
        <p:nvSpPr>
          <p:cNvPr id="63" name="Shape 61"/>
          <p:cNvSpPr/>
          <p:nvPr/>
        </p:nvSpPr>
        <p:spPr>
          <a:xfrm>
            <a:off x="10531145" y="2596896"/>
            <a:ext cx="1109167" cy="566928"/>
          </a:xfrm>
          <a:prstGeom prst="rect">
            <a:avLst/>
          </a:prstGeom>
          <a:solidFill>
            <a:srgbClr val="E8A33D"/>
          </a:solidFill>
          <a:ln w="6350">
            <a:solidFill>
              <a:srgbClr val="D8DEEA"/>
            </a:solidFill>
            <a:prstDash val="solid"/>
          </a:ln>
        </p:spPr>
      </p:sp>
      <p:sp>
        <p:nvSpPr>
          <p:cNvPr id="64" name="Text 62"/>
          <p:cNvSpPr/>
          <p:nvPr/>
        </p:nvSpPr>
        <p:spPr>
          <a:xfrm>
            <a:off x="10531145" y="2596896"/>
            <a:ext cx="1109167" cy="566928"/>
          </a:xfrm>
          <a:prstGeom prst="rect">
            <a:avLst/>
          </a:prstGeom>
          <a:noFill/>
          <a:ln/>
        </p:spPr>
        <p:txBody>
          <a:bodyPr wrap="square" rtlCol="0" anchor="ctr"/>
          <a:lstStyle/>
          <a:p>
            <a:pPr marL="0" indent="0" algn="ctr">
              <a:buNone/>
            </a:pPr>
            <a:r>
              <a:rPr lang="en-US" sz="1300" b="1" dirty="0">
                <a:solidFill>
                  <a:srgbClr val="141A45"/>
                </a:solidFill>
                <a:latin typeface="Courier New" pitchFamily="34" charset="0"/>
                <a:ea typeface="Courier New" pitchFamily="34" charset="-122"/>
                <a:cs typeface="Courier New" pitchFamily="34" charset="-120"/>
              </a:rPr>
              <a:t>6</a:t>
            </a:r>
            <a:endParaRPr lang="en-US" sz="1300" dirty="0"/>
          </a:p>
        </p:txBody>
      </p:sp>
      <p:sp>
        <p:nvSpPr>
          <p:cNvPr id="65" name="Shape 63"/>
          <p:cNvSpPr/>
          <p:nvPr/>
        </p:nvSpPr>
        <p:spPr>
          <a:xfrm>
            <a:off x="548640" y="3163824"/>
            <a:ext cx="1109167" cy="566928"/>
          </a:xfrm>
          <a:prstGeom prst="rect">
            <a:avLst/>
          </a:prstGeom>
          <a:solidFill>
            <a:srgbClr val="E7ECF7"/>
          </a:solidFill>
          <a:ln w="6350">
            <a:solidFill>
              <a:srgbClr val="D8DEEA"/>
            </a:solidFill>
            <a:prstDash val="solid"/>
          </a:ln>
        </p:spPr>
      </p:sp>
      <p:sp>
        <p:nvSpPr>
          <p:cNvPr id="66" name="Text 64"/>
          <p:cNvSpPr/>
          <p:nvPr/>
        </p:nvSpPr>
        <p:spPr>
          <a:xfrm>
            <a:off x="548640" y="3163824"/>
            <a:ext cx="1109167" cy="566928"/>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parent[i]</a:t>
            </a:r>
            <a:endParaRPr lang="en-US" sz="1200" dirty="0"/>
          </a:p>
        </p:txBody>
      </p:sp>
      <p:sp>
        <p:nvSpPr>
          <p:cNvPr id="67" name="Shape 65"/>
          <p:cNvSpPr/>
          <p:nvPr/>
        </p:nvSpPr>
        <p:spPr>
          <a:xfrm>
            <a:off x="1657807" y="3163824"/>
            <a:ext cx="1109167" cy="566928"/>
          </a:xfrm>
          <a:prstGeom prst="rect">
            <a:avLst/>
          </a:prstGeom>
          <a:solidFill>
            <a:srgbClr val="FFFFFF"/>
          </a:solidFill>
          <a:ln w="6350">
            <a:solidFill>
              <a:srgbClr val="D8DEEA"/>
            </a:solidFill>
            <a:prstDash val="solid"/>
          </a:ln>
        </p:spPr>
      </p:sp>
      <p:sp>
        <p:nvSpPr>
          <p:cNvPr id="68" name="Text 66"/>
          <p:cNvSpPr/>
          <p:nvPr/>
        </p:nvSpPr>
        <p:spPr>
          <a:xfrm>
            <a:off x="1657807" y="3163824"/>
            <a:ext cx="1109167" cy="566928"/>
          </a:xfrm>
          <a:prstGeom prst="rect">
            <a:avLst/>
          </a:prstGeom>
          <a:noFill/>
          <a:ln/>
        </p:spPr>
        <p:txBody>
          <a:bodyPr wrap="square" rtlCol="0" anchor="ctr"/>
          <a:lstStyle/>
          <a:p>
            <a:pPr marL="0" indent="0" algn="ctr">
              <a:buNone/>
            </a:pPr>
            <a:r>
              <a:rPr lang="en-US" sz="1300" dirty="0">
                <a:solidFill>
                  <a:srgbClr val="1A1A2E"/>
                </a:solidFill>
                <a:latin typeface="Courier New" pitchFamily="34" charset="0"/>
                <a:ea typeface="Courier New" pitchFamily="34" charset="-122"/>
                <a:cs typeface="Courier New" pitchFamily="34" charset="-120"/>
              </a:rPr>
              <a:t>–1</a:t>
            </a:r>
            <a:endParaRPr lang="en-US" sz="1300" dirty="0"/>
          </a:p>
        </p:txBody>
      </p:sp>
      <p:sp>
        <p:nvSpPr>
          <p:cNvPr id="69" name="Shape 67"/>
          <p:cNvSpPr/>
          <p:nvPr/>
        </p:nvSpPr>
        <p:spPr>
          <a:xfrm>
            <a:off x="2766974" y="3163824"/>
            <a:ext cx="1109167" cy="566928"/>
          </a:xfrm>
          <a:prstGeom prst="rect">
            <a:avLst/>
          </a:prstGeom>
          <a:solidFill>
            <a:srgbClr val="FFFFFF"/>
          </a:solidFill>
          <a:ln w="6350">
            <a:solidFill>
              <a:srgbClr val="D8DEEA"/>
            </a:solidFill>
            <a:prstDash val="solid"/>
          </a:ln>
        </p:spPr>
      </p:sp>
      <p:sp>
        <p:nvSpPr>
          <p:cNvPr id="70" name="Text 68"/>
          <p:cNvSpPr/>
          <p:nvPr/>
        </p:nvSpPr>
        <p:spPr>
          <a:xfrm>
            <a:off x="2766974" y="3163824"/>
            <a:ext cx="1109167" cy="566928"/>
          </a:xfrm>
          <a:prstGeom prst="rect">
            <a:avLst/>
          </a:prstGeom>
          <a:noFill/>
          <a:ln/>
        </p:spPr>
        <p:txBody>
          <a:bodyPr wrap="square" rtlCol="0" anchor="ctr"/>
          <a:lstStyle/>
          <a:p>
            <a:pPr marL="0" indent="0" algn="ctr">
              <a:buNone/>
            </a:pPr>
            <a:r>
              <a:rPr lang="en-US" sz="1300" dirty="0">
                <a:solidFill>
                  <a:srgbClr val="1A1A2E"/>
                </a:solidFill>
                <a:latin typeface="Courier New" pitchFamily="34" charset="0"/>
                <a:ea typeface="Courier New" pitchFamily="34" charset="-122"/>
                <a:cs typeface="Courier New" pitchFamily="34" charset="-120"/>
              </a:rPr>
              <a:t>0</a:t>
            </a:r>
            <a:endParaRPr lang="en-US" sz="1300" dirty="0"/>
          </a:p>
        </p:txBody>
      </p:sp>
      <p:sp>
        <p:nvSpPr>
          <p:cNvPr id="71" name="Shape 69"/>
          <p:cNvSpPr/>
          <p:nvPr/>
        </p:nvSpPr>
        <p:spPr>
          <a:xfrm>
            <a:off x="3876142" y="3163824"/>
            <a:ext cx="1109167" cy="566928"/>
          </a:xfrm>
          <a:prstGeom prst="rect">
            <a:avLst/>
          </a:prstGeom>
          <a:solidFill>
            <a:srgbClr val="FFFFFF"/>
          </a:solidFill>
          <a:ln w="6350">
            <a:solidFill>
              <a:srgbClr val="D8DEEA"/>
            </a:solidFill>
            <a:prstDash val="solid"/>
          </a:ln>
        </p:spPr>
      </p:sp>
      <p:sp>
        <p:nvSpPr>
          <p:cNvPr id="72" name="Text 70"/>
          <p:cNvSpPr/>
          <p:nvPr/>
        </p:nvSpPr>
        <p:spPr>
          <a:xfrm>
            <a:off x="3876142" y="3163824"/>
            <a:ext cx="1109167" cy="566928"/>
          </a:xfrm>
          <a:prstGeom prst="rect">
            <a:avLst/>
          </a:prstGeom>
          <a:noFill/>
          <a:ln/>
        </p:spPr>
        <p:txBody>
          <a:bodyPr wrap="square" rtlCol="0" anchor="ctr"/>
          <a:lstStyle/>
          <a:p>
            <a:pPr marL="0" indent="0" algn="ctr">
              <a:buNone/>
            </a:pPr>
            <a:r>
              <a:rPr lang="en-US" sz="1300" dirty="0">
                <a:solidFill>
                  <a:srgbClr val="1A1A2E"/>
                </a:solidFill>
                <a:latin typeface="Courier New" pitchFamily="34" charset="0"/>
                <a:ea typeface="Courier New" pitchFamily="34" charset="-122"/>
                <a:cs typeface="Courier New" pitchFamily="34" charset="-120"/>
              </a:rPr>
              <a:t>–1</a:t>
            </a:r>
            <a:endParaRPr lang="en-US" sz="1300" dirty="0"/>
          </a:p>
        </p:txBody>
      </p:sp>
      <p:sp>
        <p:nvSpPr>
          <p:cNvPr id="73" name="Shape 71"/>
          <p:cNvSpPr/>
          <p:nvPr/>
        </p:nvSpPr>
        <p:spPr>
          <a:xfrm>
            <a:off x="4985309" y="3163824"/>
            <a:ext cx="1109167" cy="566928"/>
          </a:xfrm>
          <a:prstGeom prst="rect">
            <a:avLst/>
          </a:prstGeom>
          <a:solidFill>
            <a:srgbClr val="FFFFFF"/>
          </a:solidFill>
          <a:ln w="6350">
            <a:solidFill>
              <a:srgbClr val="D8DEEA"/>
            </a:solidFill>
            <a:prstDash val="solid"/>
          </a:ln>
        </p:spPr>
      </p:sp>
      <p:sp>
        <p:nvSpPr>
          <p:cNvPr id="74" name="Text 72"/>
          <p:cNvSpPr/>
          <p:nvPr/>
        </p:nvSpPr>
        <p:spPr>
          <a:xfrm>
            <a:off x="4985309" y="3163824"/>
            <a:ext cx="1109167" cy="566928"/>
          </a:xfrm>
          <a:prstGeom prst="rect">
            <a:avLst/>
          </a:prstGeom>
          <a:noFill/>
          <a:ln/>
        </p:spPr>
        <p:txBody>
          <a:bodyPr wrap="square" rtlCol="0" anchor="ctr"/>
          <a:lstStyle/>
          <a:p>
            <a:pPr marL="0" indent="0" algn="ctr">
              <a:buNone/>
            </a:pPr>
            <a:r>
              <a:rPr lang="en-US" sz="1300" dirty="0">
                <a:solidFill>
                  <a:srgbClr val="1A1A2E"/>
                </a:solidFill>
                <a:latin typeface="Courier New" pitchFamily="34" charset="0"/>
                <a:ea typeface="Courier New" pitchFamily="34" charset="-122"/>
                <a:cs typeface="Courier New" pitchFamily="34" charset="-120"/>
              </a:rPr>
              <a:t>1</a:t>
            </a:r>
            <a:endParaRPr lang="en-US" sz="1300" dirty="0"/>
          </a:p>
        </p:txBody>
      </p:sp>
      <p:sp>
        <p:nvSpPr>
          <p:cNvPr id="75" name="Shape 73"/>
          <p:cNvSpPr/>
          <p:nvPr/>
        </p:nvSpPr>
        <p:spPr>
          <a:xfrm>
            <a:off x="6094476" y="3163824"/>
            <a:ext cx="1109167" cy="566928"/>
          </a:xfrm>
          <a:prstGeom prst="rect">
            <a:avLst/>
          </a:prstGeom>
          <a:solidFill>
            <a:srgbClr val="FFFFFF"/>
          </a:solidFill>
          <a:ln w="6350">
            <a:solidFill>
              <a:srgbClr val="D8DEEA"/>
            </a:solidFill>
            <a:prstDash val="solid"/>
          </a:ln>
        </p:spPr>
      </p:sp>
      <p:sp>
        <p:nvSpPr>
          <p:cNvPr id="76" name="Text 74"/>
          <p:cNvSpPr/>
          <p:nvPr/>
        </p:nvSpPr>
        <p:spPr>
          <a:xfrm>
            <a:off x="6094476" y="3163824"/>
            <a:ext cx="1109167" cy="566928"/>
          </a:xfrm>
          <a:prstGeom prst="rect">
            <a:avLst/>
          </a:prstGeom>
          <a:noFill/>
          <a:ln/>
        </p:spPr>
        <p:txBody>
          <a:bodyPr wrap="square" rtlCol="0" anchor="ctr"/>
          <a:lstStyle/>
          <a:p>
            <a:pPr marL="0" indent="0" algn="ctr">
              <a:buNone/>
            </a:pPr>
            <a:r>
              <a:rPr lang="en-US" sz="1300" dirty="0">
                <a:solidFill>
                  <a:srgbClr val="1A1A2E"/>
                </a:solidFill>
                <a:latin typeface="Courier New" pitchFamily="34" charset="0"/>
                <a:ea typeface="Courier New" pitchFamily="34" charset="-122"/>
                <a:cs typeface="Courier New" pitchFamily="34" charset="-120"/>
              </a:rPr>
              <a:t>0</a:t>
            </a:r>
            <a:endParaRPr lang="en-US" sz="1300" dirty="0"/>
          </a:p>
        </p:txBody>
      </p:sp>
      <p:sp>
        <p:nvSpPr>
          <p:cNvPr id="77" name="Shape 75"/>
          <p:cNvSpPr/>
          <p:nvPr/>
        </p:nvSpPr>
        <p:spPr>
          <a:xfrm>
            <a:off x="7203643" y="3163824"/>
            <a:ext cx="1109167" cy="566928"/>
          </a:xfrm>
          <a:prstGeom prst="rect">
            <a:avLst/>
          </a:prstGeom>
          <a:solidFill>
            <a:srgbClr val="FFFFFF"/>
          </a:solidFill>
          <a:ln w="6350">
            <a:solidFill>
              <a:srgbClr val="D8DEEA"/>
            </a:solidFill>
            <a:prstDash val="solid"/>
          </a:ln>
        </p:spPr>
      </p:sp>
      <p:sp>
        <p:nvSpPr>
          <p:cNvPr id="78" name="Text 76"/>
          <p:cNvSpPr/>
          <p:nvPr/>
        </p:nvSpPr>
        <p:spPr>
          <a:xfrm>
            <a:off x="7203643" y="3163824"/>
            <a:ext cx="1109167" cy="566928"/>
          </a:xfrm>
          <a:prstGeom prst="rect">
            <a:avLst/>
          </a:prstGeom>
          <a:noFill/>
          <a:ln/>
        </p:spPr>
        <p:txBody>
          <a:bodyPr wrap="square" rtlCol="0" anchor="ctr"/>
          <a:lstStyle/>
          <a:p>
            <a:pPr marL="0" indent="0" algn="ctr">
              <a:buNone/>
            </a:pPr>
            <a:r>
              <a:rPr lang="en-US" sz="1300" dirty="0">
                <a:solidFill>
                  <a:srgbClr val="1A1A2E"/>
                </a:solidFill>
                <a:latin typeface="Courier New" pitchFamily="34" charset="0"/>
                <a:ea typeface="Courier New" pitchFamily="34" charset="-122"/>
                <a:cs typeface="Courier New" pitchFamily="34" charset="-120"/>
              </a:rPr>
              <a:t>3</a:t>
            </a:r>
            <a:endParaRPr lang="en-US" sz="1300" dirty="0"/>
          </a:p>
        </p:txBody>
      </p:sp>
      <p:sp>
        <p:nvSpPr>
          <p:cNvPr id="79" name="Shape 77"/>
          <p:cNvSpPr/>
          <p:nvPr/>
        </p:nvSpPr>
        <p:spPr>
          <a:xfrm>
            <a:off x="8312810" y="3163824"/>
            <a:ext cx="1109167" cy="566928"/>
          </a:xfrm>
          <a:prstGeom prst="rect">
            <a:avLst/>
          </a:prstGeom>
          <a:solidFill>
            <a:srgbClr val="FFFFFF"/>
          </a:solidFill>
          <a:ln w="6350">
            <a:solidFill>
              <a:srgbClr val="D8DEEA"/>
            </a:solidFill>
            <a:prstDash val="solid"/>
          </a:ln>
        </p:spPr>
      </p:sp>
      <p:sp>
        <p:nvSpPr>
          <p:cNvPr id="80" name="Text 78"/>
          <p:cNvSpPr/>
          <p:nvPr/>
        </p:nvSpPr>
        <p:spPr>
          <a:xfrm>
            <a:off x="8312810" y="3163824"/>
            <a:ext cx="1109167" cy="566928"/>
          </a:xfrm>
          <a:prstGeom prst="rect">
            <a:avLst/>
          </a:prstGeom>
          <a:noFill/>
          <a:ln/>
        </p:spPr>
        <p:txBody>
          <a:bodyPr wrap="square" rtlCol="0" anchor="ctr"/>
          <a:lstStyle/>
          <a:p>
            <a:pPr marL="0" indent="0" algn="ctr">
              <a:buNone/>
            </a:pPr>
            <a:r>
              <a:rPr lang="en-US" sz="1300" dirty="0">
                <a:solidFill>
                  <a:srgbClr val="1A1A2E"/>
                </a:solidFill>
                <a:latin typeface="Courier New" pitchFamily="34" charset="0"/>
                <a:ea typeface="Courier New" pitchFamily="34" charset="-122"/>
                <a:cs typeface="Courier New" pitchFamily="34" charset="-120"/>
              </a:rPr>
              <a:t>3</a:t>
            </a:r>
            <a:endParaRPr lang="en-US" sz="1300" dirty="0"/>
          </a:p>
        </p:txBody>
      </p:sp>
      <p:sp>
        <p:nvSpPr>
          <p:cNvPr id="81" name="Shape 79"/>
          <p:cNvSpPr/>
          <p:nvPr/>
        </p:nvSpPr>
        <p:spPr>
          <a:xfrm>
            <a:off x="9421978" y="3163824"/>
            <a:ext cx="1109167" cy="566928"/>
          </a:xfrm>
          <a:prstGeom prst="rect">
            <a:avLst/>
          </a:prstGeom>
          <a:solidFill>
            <a:srgbClr val="FFFFFF"/>
          </a:solidFill>
          <a:ln w="6350">
            <a:solidFill>
              <a:srgbClr val="D8DEEA"/>
            </a:solidFill>
            <a:prstDash val="solid"/>
          </a:ln>
        </p:spPr>
      </p:sp>
      <p:sp>
        <p:nvSpPr>
          <p:cNvPr id="82" name="Text 80"/>
          <p:cNvSpPr/>
          <p:nvPr/>
        </p:nvSpPr>
        <p:spPr>
          <a:xfrm>
            <a:off x="9421978" y="3163824"/>
            <a:ext cx="1109167" cy="566928"/>
          </a:xfrm>
          <a:prstGeom prst="rect">
            <a:avLst/>
          </a:prstGeom>
          <a:noFill/>
          <a:ln/>
        </p:spPr>
        <p:txBody>
          <a:bodyPr wrap="square" rtlCol="0" anchor="ctr"/>
          <a:lstStyle/>
          <a:p>
            <a:pPr marL="0" indent="0" algn="ctr">
              <a:buNone/>
            </a:pPr>
            <a:r>
              <a:rPr lang="en-US" sz="1300" dirty="0">
                <a:solidFill>
                  <a:srgbClr val="1A1A2E"/>
                </a:solidFill>
                <a:latin typeface="Courier New" pitchFamily="34" charset="0"/>
                <a:ea typeface="Courier New" pitchFamily="34" charset="-122"/>
                <a:cs typeface="Courier New" pitchFamily="34" charset="-120"/>
              </a:rPr>
              <a:t>5</a:t>
            </a:r>
            <a:endParaRPr lang="en-US" sz="1300" dirty="0"/>
          </a:p>
        </p:txBody>
      </p:sp>
      <p:sp>
        <p:nvSpPr>
          <p:cNvPr id="83" name="Shape 81"/>
          <p:cNvSpPr/>
          <p:nvPr/>
        </p:nvSpPr>
        <p:spPr>
          <a:xfrm>
            <a:off x="10531145" y="3163824"/>
            <a:ext cx="1109167" cy="566928"/>
          </a:xfrm>
          <a:prstGeom prst="rect">
            <a:avLst/>
          </a:prstGeom>
          <a:solidFill>
            <a:srgbClr val="FFFFFF"/>
          </a:solidFill>
          <a:ln w="6350">
            <a:solidFill>
              <a:srgbClr val="D8DEEA"/>
            </a:solidFill>
            <a:prstDash val="solid"/>
          </a:ln>
        </p:spPr>
      </p:sp>
      <p:sp>
        <p:nvSpPr>
          <p:cNvPr id="84" name="Text 82"/>
          <p:cNvSpPr/>
          <p:nvPr/>
        </p:nvSpPr>
        <p:spPr>
          <a:xfrm>
            <a:off x="10531145" y="3163824"/>
            <a:ext cx="1109167" cy="566928"/>
          </a:xfrm>
          <a:prstGeom prst="rect">
            <a:avLst/>
          </a:prstGeom>
          <a:noFill/>
          <a:ln/>
        </p:spPr>
        <p:txBody>
          <a:bodyPr wrap="square" rtlCol="0" anchor="ctr"/>
          <a:lstStyle/>
          <a:p>
            <a:pPr marL="0" indent="0" algn="ctr">
              <a:buNone/>
            </a:pPr>
            <a:r>
              <a:rPr lang="en-US" sz="1300" dirty="0">
                <a:solidFill>
                  <a:srgbClr val="1A1A2E"/>
                </a:solidFill>
                <a:latin typeface="Courier New" pitchFamily="34" charset="0"/>
                <a:ea typeface="Courier New" pitchFamily="34" charset="-122"/>
                <a:cs typeface="Courier New" pitchFamily="34" charset="-120"/>
              </a:rPr>
              <a:t>7</a:t>
            </a:r>
            <a:endParaRPr lang="en-US" sz="1300" dirty="0"/>
          </a:p>
        </p:txBody>
      </p:sp>
      <p:sp>
        <p:nvSpPr>
          <p:cNvPr id="85" name="Text 83"/>
          <p:cNvSpPr/>
          <p:nvPr/>
        </p:nvSpPr>
        <p:spPr>
          <a:xfrm>
            <a:off x="548640" y="3977640"/>
            <a:ext cx="11091672"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max(dp) = 6</a:t>
            </a:r>
            <a:r>
              <a:rPr lang="en-US" sz="1350" dirty="0">
                <a:solidFill>
                  <a:srgbClr val="1A1A2E"/>
                </a:solidFill>
                <a:latin typeface="Calibri" pitchFamily="34" charset="0"/>
                <a:ea typeface="Calibri" pitchFamily="34" charset="-122"/>
                <a:cs typeface="Calibri" pitchFamily="34" charset="-120"/>
              </a:rPr>
              <a:t>  at i = 8  →  trace parent[]: 8 → 7 → 5 → 3 → 1 → 0</a:t>
            </a:r>
            <a:endParaRPr lang="en-US" sz="1350" dirty="0"/>
          </a:p>
        </p:txBody>
      </p:sp>
      <p:sp>
        <p:nvSpPr>
          <p:cNvPr id="86" name="Shape 84"/>
          <p:cNvSpPr/>
          <p:nvPr/>
        </p:nvSpPr>
        <p:spPr>
          <a:xfrm>
            <a:off x="548640" y="4480560"/>
            <a:ext cx="11091672" cy="1554480"/>
          </a:xfrm>
          <a:prstGeom prst="roundRect">
            <a:avLst>
              <a:gd name="adj" fmla="val 4706"/>
            </a:avLst>
          </a:prstGeom>
          <a:solidFill>
            <a:srgbClr val="1E2761"/>
          </a:solidFill>
          <a:ln/>
        </p:spPr>
      </p:sp>
      <p:sp>
        <p:nvSpPr>
          <p:cNvPr id="87" name="Text 85"/>
          <p:cNvSpPr/>
          <p:nvPr/>
        </p:nvSpPr>
        <p:spPr>
          <a:xfrm>
            <a:off x="868680" y="4645152"/>
            <a:ext cx="10424160" cy="274320"/>
          </a:xfrm>
          <a:prstGeom prst="rect">
            <a:avLst/>
          </a:prstGeom>
          <a:noFill/>
          <a:ln/>
        </p:spPr>
        <p:txBody>
          <a:bodyPr wrap="square" rtlCol="0" anchor="ctr"/>
          <a:lstStyle/>
          <a:p>
            <a:pPr marL="0" indent="0">
              <a:buNone/>
            </a:pPr>
            <a:r>
              <a:rPr lang="en-US" sz="1100" b="1" kern="0" spc="150" dirty="0">
                <a:solidFill>
                  <a:srgbClr val="E8A33D"/>
                </a:solidFill>
                <a:latin typeface="Calibri" pitchFamily="34" charset="0"/>
                <a:ea typeface="Calibri" pitchFamily="34" charset="-122"/>
                <a:cs typeface="Calibri" pitchFamily="34" charset="-120"/>
              </a:rPr>
              <a:t>REVERSE THE TRACE TO READ THE SEQUENCE FORWARD</a:t>
            </a:r>
            <a:endParaRPr lang="en-US" sz="1100" dirty="0"/>
          </a:p>
        </p:txBody>
      </p:sp>
      <p:sp>
        <p:nvSpPr>
          <p:cNvPr id="88" name="Shape 86"/>
          <p:cNvSpPr/>
          <p:nvPr/>
        </p:nvSpPr>
        <p:spPr>
          <a:xfrm>
            <a:off x="1280160" y="5029200"/>
            <a:ext cx="868680" cy="685800"/>
          </a:xfrm>
          <a:prstGeom prst="roundRect">
            <a:avLst>
              <a:gd name="adj" fmla="val 10667"/>
            </a:avLst>
          </a:prstGeom>
          <a:solidFill>
            <a:srgbClr val="E8A33D"/>
          </a:solidFill>
          <a:ln/>
        </p:spPr>
      </p:sp>
      <p:sp>
        <p:nvSpPr>
          <p:cNvPr id="89" name="Text 87"/>
          <p:cNvSpPr/>
          <p:nvPr/>
        </p:nvSpPr>
        <p:spPr>
          <a:xfrm>
            <a:off x="1280160" y="5029200"/>
            <a:ext cx="868680" cy="685800"/>
          </a:xfrm>
          <a:prstGeom prst="rect">
            <a:avLst/>
          </a:prstGeom>
          <a:noFill/>
          <a:ln/>
        </p:spPr>
        <p:txBody>
          <a:bodyPr wrap="square" rtlCol="0" anchor="ctr"/>
          <a:lstStyle/>
          <a:p>
            <a:pPr marL="0" indent="0" algn="ctr">
              <a:buNone/>
            </a:pPr>
            <a:r>
              <a:rPr lang="en-US" sz="1600" b="1" dirty="0">
                <a:solidFill>
                  <a:srgbClr val="141A45"/>
                </a:solidFill>
                <a:latin typeface="Courier New" pitchFamily="34" charset="0"/>
                <a:ea typeface="Courier New" pitchFamily="34" charset="-122"/>
                <a:cs typeface="Courier New" pitchFamily="34" charset="-120"/>
              </a:rPr>
              <a:t>10</a:t>
            </a:r>
            <a:endParaRPr lang="en-US" sz="1600" dirty="0"/>
          </a:p>
        </p:txBody>
      </p:sp>
      <p:sp>
        <p:nvSpPr>
          <p:cNvPr id="90" name="Text 88"/>
          <p:cNvSpPr/>
          <p:nvPr/>
        </p:nvSpPr>
        <p:spPr>
          <a:xfrm>
            <a:off x="2148840" y="5029200"/>
            <a:ext cx="384048" cy="685800"/>
          </a:xfrm>
          <a:prstGeom prst="rect">
            <a:avLst/>
          </a:prstGeom>
          <a:noFill/>
          <a:ln/>
        </p:spPr>
        <p:txBody>
          <a:bodyPr wrap="square" rtlCol="0" anchor="ctr"/>
          <a:lstStyle/>
          <a:p>
            <a:pPr marL="0" indent="0" algn="ctr">
              <a:buNone/>
            </a:pPr>
            <a:r>
              <a:rPr lang="en-US" sz="1600" dirty="0">
                <a:solidFill>
                  <a:srgbClr val="CADCFC"/>
                </a:solidFill>
              </a:rPr>
              <a:t>→</a:t>
            </a:r>
            <a:endParaRPr lang="en-US" sz="1600" dirty="0"/>
          </a:p>
        </p:txBody>
      </p:sp>
      <p:sp>
        <p:nvSpPr>
          <p:cNvPr id="91" name="Shape 89"/>
          <p:cNvSpPr/>
          <p:nvPr/>
        </p:nvSpPr>
        <p:spPr>
          <a:xfrm>
            <a:off x="2532888" y="5029200"/>
            <a:ext cx="868680" cy="685800"/>
          </a:xfrm>
          <a:prstGeom prst="roundRect">
            <a:avLst>
              <a:gd name="adj" fmla="val 10667"/>
            </a:avLst>
          </a:prstGeom>
          <a:solidFill>
            <a:srgbClr val="2A3568"/>
          </a:solidFill>
          <a:ln/>
        </p:spPr>
      </p:sp>
      <p:sp>
        <p:nvSpPr>
          <p:cNvPr id="92" name="Text 90"/>
          <p:cNvSpPr/>
          <p:nvPr/>
        </p:nvSpPr>
        <p:spPr>
          <a:xfrm>
            <a:off x="2532888" y="5029200"/>
            <a:ext cx="868680" cy="685800"/>
          </a:xfrm>
          <a:prstGeom prst="rect">
            <a:avLst/>
          </a:prstGeom>
          <a:noFill/>
          <a:ln/>
        </p:spPr>
        <p:txBody>
          <a:bodyPr wrap="square"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22</a:t>
            </a:r>
            <a:endParaRPr lang="en-US" sz="1600" dirty="0"/>
          </a:p>
        </p:txBody>
      </p:sp>
      <p:sp>
        <p:nvSpPr>
          <p:cNvPr id="93" name="Text 91"/>
          <p:cNvSpPr/>
          <p:nvPr/>
        </p:nvSpPr>
        <p:spPr>
          <a:xfrm>
            <a:off x="3401568" y="5029200"/>
            <a:ext cx="384048" cy="685800"/>
          </a:xfrm>
          <a:prstGeom prst="rect">
            <a:avLst/>
          </a:prstGeom>
          <a:noFill/>
          <a:ln/>
        </p:spPr>
        <p:txBody>
          <a:bodyPr wrap="square" rtlCol="0" anchor="ctr"/>
          <a:lstStyle/>
          <a:p>
            <a:pPr marL="0" indent="0" algn="ctr">
              <a:buNone/>
            </a:pPr>
            <a:r>
              <a:rPr lang="en-US" sz="1600" dirty="0">
                <a:solidFill>
                  <a:srgbClr val="CADCFC"/>
                </a:solidFill>
              </a:rPr>
              <a:t>→</a:t>
            </a:r>
            <a:endParaRPr lang="en-US" sz="1600" dirty="0"/>
          </a:p>
        </p:txBody>
      </p:sp>
      <p:sp>
        <p:nvSpPr>
          <p:cNvPr id="94" name="Shape 92"/>
          <p:cNvSpPr/>
          <p:nvPr/>
        </p:nvSpPr>
        <p:spPr>
          <a:xfrm>
            <a:off x="3785616" y="5029200"/>
            <a:ext cx="868680" cy="685800"/>
          </a:xfrm>
          <a:prstGeom prst="roundRect">
            <a:avLst>
              <a:gd name="adj" fmla="val 10667"/>
            </a:avLst>
          </a:prstGeom>
          <a:solidFill>
            <a:srgbClr val="2A3568"/>
          </a:solidFill>
          <a:ln/>
        </p:spPr>
      </p:sp>
      <p:sp>
        <p:nvSpPr>
          <p:cNvPr id="95" name="Text 93"/>
          <p:cNvSpPr/>
          <p:nvPr/>
        </p:nvSpPr>
        <p:spPr>
          <a:xfrm>
            <a:off x="3785616" y="5029200"/>
            <a:ext cx="868680" cy="685800"/>
          </a:xfrm>
          <a:prstGeom prst="rect">
            <a:avLst/>
          </a:prstGeom>
          <a:noFill/>
          <a:ln/>
        </p:spPr>
        <p:txBody>
          <a:bodyPr wrap="square"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33</a:t>
            </a:r>
            <a:endParaRPr lang="en-US" sz="1600" dirty="0"/>
          </a:p>
        </p:txBody>
      </p:sp>
      <p:sp>
        <p:nvSpPr>
          <p:cNvPr id="96" name="Text 94"/>
          <p:cNvSpPr/>
          <p:nvPr/>
        </p:nvSpPr>
        <p:spPr>
          <a:xfrm>
            <a:off x="4654296" y="5029200"/>
            <a:ext cx="384048" cy="685800"/>
          </a:xfrm>
          <a:prstGeom prst="rect">
            <a:avLst/>
          </a:prstGeom>
          <a:noFill/>
          <a:ln/>
        </p:spPr>
        <p:txBody>
          <a:bodyPr wrap="square" rtlCol="0" anchor="ctr"/>
          <a:lstStyle/>
          <a:p>
            <a:pPr marL="0" indent="0" algn="ctr">
              <a:buNone/>
            </a:pPr>
            <a:r>
              <a:rPr lang="en-US" sz="1600" dirty="0">
                <a:solidFill>
                  <a:srgbClr val="CADCFC"/>
                </a:solidFill>
              </a:rPr>
              <a:t>→</a:t>
            </a:r>
            <a:endParaRPr lang="en-US" sz="1600" dirty="0"/>
          </a:p>
        </p:txBody>
      </p:sp>
      <p:sp>
        <p:nvSpPr>
          <p:cNvPr id="97" name="Shape 95"/>
          <p:cNvSpPr/>
          <p:nvPr/>
        </p:nvSpPr>
        <p:spPr>
          <a:xfrm>
            <a:off x="5038344" y="5029200"/>
            <a:ext cx="868680" cy="685800"/>
          </a:xfrm>
          <a:prstGeom prst="roundRect">
            <a:avLst>
              <a:gd name="adj" fmla="val 10667"/>
            </a:avLst>
          </a:prstGeom>
          <a:solidFill>
            <a:srgbClr val="2A3568"/>
          </a:solidFill>
          <a:ln/>
        </p:spPr>
      </p:sp>
      <p:sp>
        <p:nvSpPr>
          <p:cNvPr id="98" name="Text 96"/>
          <p:cNvSpPr/>
          <p:nvPr/>
        </p:nvSpPr>
        <p:spPr>
          <a:xfrm>
            <a:off x="5038344" y="5029200"/>
            <a:ext cx="868680" cy="685800"/>
          </a:xfrm>
          <a:prstGeom prst="rect">
            <a:avLst/>
          </a:prstGeom>
          <a:noFill/>
          <a:ln/>
        </p:spPr>
        <p:txBody>
          <a:bodyPr wrap="square"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50</a:t>
            </a:r>
            <a:endParaRPr lang="en-US" sz="1600" dirty="0"/>
          </a:p>
        </p:txBody>
      </p:sp>
      <p:sp>
        <p:nvSpPr>
          <p:cNvPr id="99" name="Text 97"/>
          <p:cNvSpPr/>
          <p:nvPr/>
        </p:nvSpPr>
        <p:spPr>
          <a:xfrm>
            <a:off x="5907024" y="5029200"/>
            <a:ext cx="384048" cy="685800"/>
          </a:xfrm>
          <a:prstGeom prst="rect">
            <a:avLst/>
          </a:prstGeom>
          <a:noFill/>
          <a:ln/>
        </p:spPr>
        <p:txBody>
          <a:bodyPr wrap="square" rtlCol="0" anchor="ctr"/>
          <a:lstStyle/>
          <a:p>
            <a:pPr marL="0" indent="0" algn="ctr">
              <a:buNone/>
            </a:pPr>
            <a:r>
              <a:rPr lang="en-US" sz="1600" dirty="0">
                <a:solidFill>
                  <a:srgbClr val="CADCFC"/>
                </a:solidFill>
              </a:rPr>
              <a:t>→</a:t>
            </a:r>
            <a:endParaRPr lang="en-US" sz="1600" dirty="0"/>
          </a:p>
        </p:txBody>
      </p:sp>
      <p:sp>
        <p:nvSpPr>
          <p:cNvPr id="100" name="Shape 98"/>
          <p:cNvSpPr/>
          <p:nvPr/>
        </p:nvSpPr>
        <p:spPr>
          <a:xfrm>
            <a:off x="6291072" y="5029200"/>
            <a:ext cx="868680" cy="685800"/>
          </a:xfrm>
          <a:prstGeom prst="roundRect">
            <a:avLst>
              <a:gd name="adj" fmla="val 10667"/>
            </a:avLst>
          </a:prstGeom>
          <a:solidFill>
            <a:srgbClr val="2A3568"/>
          </a:solidFill>
          <a:ln/>
        </p:spPr>
      </p:sp>
      <p:sp>
        <p:nvSpPr>
          <p:cNvPr id="101" name="Text 99"/>
          <p:cNvSpPr/>
          <p:nvPr/>
        </p:nvSpPr>
        <p:spPr>
          <a:xfrm>
            <a:off x="6291072" y="5029200"/>
            <a:ext cx="868680" cy="685800"/>
          </a:xfrm>
          <a:prstGeom prst="rect">
            <a:avLst/>
          </a:prstGeom>
          <a:noFill/>
          <a:ln/>
        </p:spPr>
        <p:txBody>
          <a:bodyPr wrap="square"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60</a:t>
            </a:r>
            <a:endParaRPr lang="en-US" sz="1600" dirty="0"/>
          </a:p>
        </p:txBody>
      </p:sp>
      <p:sp>
        <p:nvSpPr>
          <p:cNvPr id="102" name="Text 100"/>
          <p:cNvSpPr/>
          <p:nvPr/>
        </p:nvSpPr>
        <p:spPr>
          <a:xfrm>
            <a:off x="7159752" y="5029200"/>
            <a:ext cx="384048" cy="685800"/>
          </a:xfrm>
          <a:prstGeom prst="rect">
            <a:avLst/>
          </a:prstGeom>
          <a:noFill/>
          <a:ln/>
        </p:spPr>
        <p:txBody>
          <a:bodyPr wrap="square" rtlCol="0" anchor="ctr"/>
          <a:lstStyle/>
          <a:p>
            <a:pPr marL="0" indent="0" algn="ctr">
              <a:buNone/>
            </a:pPr>
            <a:r>
              <a:rPr lang="en-US" sz="1600" dirty="0">
                <a:solidFill>
                  <a:srgbClr val="CADCFC"/>
                </a:solidFill>
              </a:rPr>
              <a:t>→</a:t>
            </a:r>
            <a:endParaRPr lang="en-US" sz="1600" dirty="0"/>
          </a:p>
        </p:txBody>
      </p:sp>
      <p:sp>
        <p:nvSpPr>
          <p:cNvPr id="103" name="Shape 101"/>
          <p:cNvSpPr/>
          <p:nvPr/>
        </p:nvSpPr>
        <p:spPr>
          <a:xfrm>
            <a:off x="7543800" y="5029200"/>
            <a:ext cx="868680" cy="685800"/>
          </a:xfrm>
          <a:prstGeom prst="roundRect">
            <a:avLst>
              <a:gd name="adj" fmla="val 10667"/>
            </a:avLst>
          </a:prstGeom>
          <a:solidFill>
            <a:srgbClr val="E8A33D"/>
          </a:solidFill>
          <a:ln/>
        </p:spPr>
      </p:sp>
      <p:sp>
        <p:nvSpPr>
          <p:cNvPr id="104" name="Text 102"/>
          <p:cNvSpPr/>
          <p:nvPr/>
        </p:nvSpPr>
        <p:spPr>
          <a:xfrm>
            <a:off x="7543800" y="5029200"/>
            <a:ext cx="868680" cy="685800"/>
          </a:xfrm>
          <a:prstGeom prst="rect">
            <a:avLst/>
          </a:prstGeom>
          <a:noFill/>
          <a:ln/>
        </p:spPr>
        <p:txBody>
          <a:bodyPr wrap="square" rtlCol="0" anchor="ctr"/>
          <a:lstStyle/>
          <a:p>
            <a:pPr marL="0" indent="0" algn="ctr">
              <a:buNone/>
            </a:pPr>
            <a:r>
              <a:rPr lang="en-US" sz="1600" b="1" dirty="0">
                <a:solidFill>
                  <a:srgbClr val="141A45"/>
                </a:solidFill>
                <a:latin typeface="Courier New" pitchFamily="34" charset="0"/>
                <a:ea typeface="Courier New" pitchFamily="34" charset="-122"/>
                <a:cs typeface="Courier New" pitchFamily="34" charset="-120"/>
              </a:rPr>
              <a:t>80</a:t>
            </a:r>
            <a:endParaRPr lang="en-US" sz="1600" dirty="0"/>
          </a:p>
        </p:txBody>
      </p:sp>
      <p:sp>
        <p:nvSpPr>
          <p:cNvPr id="105" name="Text 103"/>
          <p:cNvSpPr/>
          <p:nvPr/>
        </p:nvSpPr>
        <p:spPr>
          <a:xfrm>
            <a:off x="8869680" y="5029200"/>
            <a:ext cx="2011680" cy="6858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Length = 6</a:t>
            </a:r>
            <a:endParaRPr lang="en-US" sz="1800" dirty="0"/>
          </a:p>
        </p:txBody>
      </p:sp>
      <p:sp>
        <p:nvSpPr>
          <p:cNvPr id="106" name="Text 104"/>
          <p:cNvSpPr/>
          <p:nvPr/>
        </p:nvSpPr>
        <p:spPr>
          <a:xfrm>
            <a:off x="548640" y="6510528"/>
            <a:ext cx="8229600" cy="274320"/>
          </a:xfrm>
          <a:prstGeom prst="rect">
            <a:avLst/>
          </a:prstGeom>
          <a:noFill/>
          <a:ln/>
        </p:spPr>
        <p:txBody>
          <a:bodyPr wrap="square" rtlCol="0" anchor="ctr"/>
          <a:lstStyle/>
          <a:p>
            <a:pPr marL="0" indent="0">
              <a:buNone/>
            </a:pPr>
            <a:r>
              <a:rPr lang="en-US" sz="850" kern="0" spc="100" dirty="0">
                <a:solidFill>
                  <a:srgbClr val="5B6472"/>
                </a:solidFill>
                <a:latin typeface="Calibri" pitchFamily="34" charset="0"/>
                <a:ea typeface="Calibri" pitchFamily="34" charset="-122"/>
                <a:cs typeface="Calibri" pitchFamily="34" charset="-120"/>
              </a:rPr>
              <a:t>LONGEST INCREASING SUBSEQUENCE  ·  DYNAMIC PROGRAMMING</a:t>
            </a:r>
            <a:endParaRPr lang="en-US" sz="850" dirty="0"/>
          </a:p>
        </p:txBody>
      </p:sp>
      <p:sp>
        <p:nvSpPr>
          <p:cNvPr id="107" name="Text 105"/>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09728"/>
            <a:ext cx="9144000" cy="274320"/>
          </a:xfrm>
          <a:prstGeom prst="rect">
            <a:avLst/>
          </a:prstGeom>
          <a:noFill/>
          <a:ln/>
        </p:spPr>
        <p:txBody>
          <a:bodyPr wrap="square" rtlCol="0" anchor="ctr"/>
          <a:lstStyle/>
          <a:p>
            <a:pPr marL="0" indent="0">
              <a:buNone/>
            </a:pPr>
            <a:r>
              <a:rPr lang="en-US" sz="1100" b="1" kern="0" spc="200" dirty="0">
                <a:solidFill>
                  <a:srgbClr val="E8A33D"/>
                </a:solidFill>
                <a:latin typeface="Calibri" pitchFamily="34" charset="0"/>
                <a:ea typeface="Calibri" pitchFamily="34" charset="-122"/>
                <a:cs typeface="Calibri" pitchFamily="34" charset="-120"/>
              </a:rPr>
              <a:t>APPROACH · BOTTOM-UP</a:t>
            </a:r>
            <a:endParaRPr lang="en-US" sz="1100" dirty="0"/>
          </a:p>
        </p:txBody>
      </p:sp>
      <p:sp>
        <p:nvSpPr>
          <p:cNvPr id="3" name="Text 1"/>
          <p:cNvSpPr/>
          <p:nvPr/>
        </p:nvSpPr>
        <p:spPr>
          <a:xfrm>
            <a:off x="548640" y="384048"/>
            <a:ext cx="1106424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Tabulation: The Core Algorithm</a:t>
            </a:r>
            <a:endParaRPr lang="en-US" sz="3000" dirty="0"/>
          </a:p>
        </p:txBody>
      </p:sp>
      <p:sp>
        <p:nvSpPr>
          <p:cNvPr id="4" name="Text 2"/>
          <p:cNvSpPr/>
          <p:nvPr/>
        </p:nvSpPr>
        <p:spPr>
          <a:xfrm>
            <a:off x="548640" y="1051560"/>
            <a:ext cx="11064240" cy="411480"/>
          </a:xfrm>
          <a:prstGeom prst="rect">
            <a:avLst/>
          </a:prstGeom>
          <a:noFill/>
          <a:ln/>
        </p:spPr>
        <p:txBody>
          <a:bodyPr wrap="square" rtlCol="0" anchor="ctr"/>
          <a:lstStyle/>
          <a:p>
            <a:pPr marL="0" indent="0">
              <a:buNone/>
            </a:pPr>
            <a:r>
              <a:rPr lang="en-US" sz="1450" b="1" dirty="0">
                <a:solidFill>
                  <a:srgbClr val="1E2761"/>
                </a:solidFill>
                <a:latin typeface="Courier New" pitchFamily="34" charset="0"/>
                <a:ea typeface="Courier New" pitchFamily="34" charset="-122"/>
                <a:cs typeface="Courier New" pitchFamily="34" charset="-120"/>
              </a:rPr>
              <a:t>dp[i]</a:t>
            </a:r>
            <a:r>
              <a:rPr lang="en-US" sz="1450" dirty="0">
                <a:solidFill>
                  <a:srgbClr val="1A1A2E"/>
                </a:solidFill>
                <a:latin typeface="Calibri" pitchFamily="34" charset="0"/>
                <a:ea typeface="Calibri" pitchFamily="34" charset="-122"/>
                <a:cs typeface="Calibri" pitchFamily="34" charset="-120"/>
              </a:rPr>
              <a:t>  =  length of the longest increasing subsequence that ends exactly at index i.</a:t>
            </a:r>
            <a:endParaRPr lang="en-US" sz="1450" dirty="0"/>
          </a:p>
        </p:txBody>
      </p:sp>
      <p:sp>
        <p:nvSpPr>
          <p:cNvPr id="5" name="Shape 3"/>
          <p:cNvSpPr/>
          <p:nvPr/>
        </p:nvSpPr>
        <p:spPr>
          <a:xfrm>
            <a:off x="548640" y="1554480"/>
            <a:ext cx="6309360" cy="3703320"/>
          </a:xfrm>
          <a:prstGeom prst="roundRect">
            <a:avLst>
              <a:gd name="adj" fmla="val 2222"/>
            </a:avLst>
          </a:prstGeom>
          <a:solidFill>
            <a:srgbClr val="17203D"/>
          </a:solidFill>
          <a:ln/>
        </p:spPr>
      </p:sp>
      <p:sp>
        <p:nvSpPr>
          <p:cNvPr id="6" name="Text 4"/>
          <p:cNvSpPr/>
          <p:nvPr/>
        </p:nvSpPr>
        <p:spPr>
          <a:xfrm>
            <a:off x="804672" y="1737360"/>
            <a:ext cx="5797296" cy="3337560"/>
          </a:xfrm>
          <a:prstGeom prst="rect">
            <a:avLst/>
          </a:prstGeom>
          <a:noFill/>
          <a:ln/>
        </p:spPr>
        <p:txBody>
          <a:bodyPr wrap="square" lIns="0" tIns="0" rIns="0" bIns="0" rtlCol="0" anchor="t"/>
          <a:lstStyle/>
          <a:p>
            <a:pPr marL="0" indent="0">
              <a:lnSpc>
                <a:spcPct val="120000"/>
              </a:lnSpc>
              <a:buNone/>
            </a:pPr>
            <a:r>
              <a:rPr lang="en-US" sz="1250" dirty="0">
                <a:solidFill>
                  <a:srgbClr val="CADCFC"/>
                </a:solidFill>
                <a:latin typeface="Courier New" pitchFamily="34" charset="0"/>
                <a:ea typeface="Courier New" pitchFamily="34" charset="-122"/>
                <a:cs typeface="Courier New" pitchFamily="34" charset="-120"/>
              </a:rPr>
              <a:t>// dp[i] = 1 for every i  (a single element</a:t>
            </a:r>
            <a:endParaRPr lang="en-US" sz="1250" dirty="0"/>
          </a:p>
          <a:p>
            <a:pPr marL="0" indent="0">
              <a:lnSpc>
                <a:spcPct val="120000"/>
              </a:lnSpc>
              <a:buNone/>
            </a:pPr>
            <a:r>
              <a:rPr lang="en-US" sz="1250" dirty="0">
                <a:solidFill>
                  <a:srgbClr val="CADCFC"/>
                </a:solidFill>
                <a:latin typeface="Courier New" pitchFamily="34" charset="0"/>
                <a:ea typeface="Courier New" pitchFamily="34" charset="-122"/>
                <a:cs typeface="Courier New" pitchFamily="34" charset="-120"/>
              </a:rPr>
              <a:t>// is always an increasing subsequence)</a:t>
            </a:r>
            <a:endParaRPr lang="en-US" sz="1250" dirty="0"/>
          </a:p>
          <a:p>
            <a:pPr marL="0" indent="0">
              <a:lnSpc>
                <a:spcPct val="120000"/>
              </a:lnSpc>
              <a:buNone/>
            </a:pPr>
            <a:r>
              <a:rPr lang="en-US" sz="1250" dirty="0">
                <a:solidFill>
                  <a:srgbClr val="CADCFC"/>
                </a:solidFill>
                <a:latin typeface="Courier New" pitchFamily="34" charset="0"/>
                <a:ea typeface="Courier New" pitchFamily="34" charset="-122"/>
                <a:cs typeface="Courier New" pitchFamily="34" charset="-120"/>
              </a:rPr>
              <a:t>// parent[i] = -1 for every i</a:t>
            </a:r>
            <a:endParaRPr lang="en-US" sz="1250" dirty="0"/>
          </a:p>
          <a:p>
            <a:pPr marL="0" indent="0">
              <a:lnSpc>
                <a:spcPct val="120000"/>
              </a:lnSpc>
              <a:buNone/>
            </a:pPr>
            <a:endParaRPr lang="en-US" sz="1250" dirty="0"/>
          </a:p>
          <a:p>
            <a:pPr marL="0" indent="0">
              <a:lnSpc>
                <a:spcPct val="120000"/>
              </a:lnSpc>
              <a:buNone/>
            </a:pPr>
            <a:r>
              <a:rPr lang="en-US" sz="1250" dirty="0">
                <a:solidFill>
                  <a:srgbClr val="CADCFC"/>
                </a:solidFill>
                <a:latin typeface="Courier New" pitchFamily="34" charset="0"/>
                <a:ea typeface="Courier New" pitchFamily="34" charset="-122"/>
                <a:cs typeface="Courier New" pitchFamily="34" charset="-120"/>
              </a:rPr>
              <a:t>for (i = 1; i &lt; n; i++)</a:t>
            </a:r>
            <a:endParaRPr lang="en-US" sz="1250" dirty="0"/>
          </a:p>
          <a:p>
            <a:pPr marL="0" indent="0">
              <a:lnSpc>
                <a:spcPct val="120000"/>
              </a:lnSpc>
              <a:buNone/>
            </a:pPr>
            <a:r>
              <a:rPr lang="en-US" sz="1250" dirty="0">
                <a:solidFill>
                  <a:srgbClr val="CADCFC"/>
                </a:solidFill>
                <a:latin typeface="Courier New" pitchFamily="34" charset="0"/>
                <a:ea typeface="Courier New" pitchFamily="34" charset="-122"/>
                <a:cs typeface="Courier New" pitchFamily="34" charset="-120"/>
              </a:rPr>
              <a:t>  for (j = 0; j &lt; i; j++)</a:t>
            </a:r>
            <a:endParaRPr lang="en-US" sz="1250" dirty="0"/>
          </a:p>
          <a:p>
            <a:pPr marL="0" indent="0">
              <a:lnSpc>
                <a:spcPct val="120000"/>
              </a:lnSpc>
              <a:buNone/>
            </a:pPr>
            <a:r>
              <a:rPr lang="en-US" sz="1250" dirty="0">
                <a:solidFill>
                  <a:srgbClr val="CADCFC"/>
                </a:solidFill>
                <a:latin typeface="Courier New" pitchFamily="34" charset="0"/>
                <a:ea typeface="Courier New" pitchFamily="34" charset="-122"/>
                <a:cs typeface="Courier New" pitchFamily="34" charset="-120"/>
              </a:rPr>
              <a:t>    if (arr[j] &lt; arr[i] &amp;&amp;</a:t>
            </a:r>
            <a:endParaRPr lang="en-US" sz="1250" dirty="0"/>
          </a:p>
          <a:p>
            <a:pPr marL="0" indent="0">
              <a:lnSpc>
                <a:spcPct val="120000"/>
              </a:lnSpc>
              <a:buNone/>
            </a:pPr>
            <a:r>
              <a:rPr lang="en-US" sz="1250" dirty="0">
                <a:solidFill>
                  <a:srgbClr val="CADCFC"/>
                </a:solidFill>
                <a:latin typeface="Courier New" pitchFamily="34" charset="0"/>
                <a:ea typeface="Courier New" pitchFamily="34" charset="-122"/>
                <a:cs typeface="Courier New" pitchFamily="34" charset="-120"/>
              </a:rPr>
              <a:t>        dp[j] + 1 &gt; dp[i]) {</a:t>
            </a:r>
            <a:endParaRPr lang="en-US" sz="1250" dirty="0"/>
          </a:p>
          <a:p>
            <a:pPr marL="0" indent="0">
              <a:lnSpc>
                <a:spcPct val="120000"/>
              </a:lnSpc>
              <a:buNone/>
            </a:pPr>
            <a:r>
              <a:rPr lang="en-US" sz="1250" dirty="0">
                <a:solidFill>
                  <a:srgbClr val="CADCFC"/>
                </a:solidFill>
                <a:latin typeface="Courier New" pitchFamily="34" charset="0"/>
                <a:ea typeface="Courier New" pitchFamily="34" charset="-122"/>
                <a:cs typeface="Courier New" pitchFamily="34" charset="-120"/>
              </a:rPr>
              <a:t>        dp[i] = dp[j] + 1;</a:t>
            </a:r>
            <a:endParaRPr lang="en-US" sz="1250" dirty="0"/>
          </a:p>
          <a:p>
            <a:pPr marL="0" indent="0">
              <a:lnSpc>
                <a:spcPct val="120000"/>
              </a:lnSpc>
              <a:buNone/>
            </a:pPr>
            <a:r>
              <a:rPr lang="en-US" sz="1250" dirty="0">
                <a:solidFill>
                  <a:srgbClr val="CADCFC"/>
                </a:solidFill>
                <a:latin typeface="Courier New" pitchFamily="34" charset="0"/>
                <a:ea typeface="Courier New" pitchFamily="34" charset="-122"/>
                <a:cs typeface="Courier New" pitchFamily="34" charset="-120"/>
              </a:rPr>
              <a:t>        parent[i] = j;</a:t>
            </a:r>
            <a:endParaRPr lang="en-US" sz="1250" dirty="0"/>
          </a:p>
          <a:p>
            <a:pPr marL="0" indent="0">
              <a:lnSpc>
                <a:spcPct val="120000"/>
              </a:lnSpc>
              <a:buNone/>
            </a:pPr>
            <a:r>
              <a:rPr lang="en-US" sz="1250" dirty="0">
                <a:solidFill>
                  <a:srgbClr val="CADCFC"/>
                </a:solidFill>
                <a:latin typeface="Courier New" pitchFamily="34" charset="0"/>
                <a:ea typeface="Courier New" pitchFamily="34" charset="-122"/>
                <a:cs typeface="Courier New" pitchFamily="34" charset="-120"/>
              </a:rPr>
              <a:t>    }</a:t>
            </a:r>
            <a:endParaRPr lang="en-US" sz="1250" dirty="0"/>
          </a:p>
          <a:p>
            <a:pPr marL="0" indent="0">
              <a:lnSpc>
                <a:spcPct val="120000"/>
              </a:lnSpc>
              <a:buNone/>
            </a:pPr>
            <a:endParaRPr lang="en-US" sz="1250" dirty="0"/>
          </a:p>
          <a:p>
            <a:pPr marL="0" indent="0">
              <a:lnSpc>
                <a:spcPct val="120000"/>
              </a:lnSpc>
              <a:buNone/>
            </a:pPr>
            <a:r>
              <a:rPr lang="en-US" sz="1250" dirty="0">
                <a:solidFill>
                  <a:srgbClr val="CADCFC"/>
                </a:solidFill>
                <a:latin typeface="Courier New" pitchFamily="34" charset="0"/>
                <a:ea typeface="Courier New" pitchFamily="34" charset="-122"/>
                <a:cs typeface="Courier New" pitchFamily="34" charset="-120"/>
              </a:rPr>
              <a:t>// answer = max value inside dp[]</a:t>
            </a:r>
            <a:endParaRPr lang="en-US" sz="1250" dirty="0"/>
          </a:p>
        </p:txBody>
      </p:sp>
      <p:sp>
        <p:nvSpPr>
          <p:cNvPr id="7" name="Shape 5"/>
          <p:cNvSpPr/>
          <p:nvPr/>
        </p:nvSpPr>
        <p:spPr>
          <a:xfrm>
            <a:off x="7040880" y="1554480"/>
            <a:ext cx="4599432" cy="3703320"/>
          </a:xfrm>
          <a:prstGeom prst="roundRect">
            <a:avLst>
              <a:gd name="adj" fmla="val 1975"/>
            </a:avLst>
          </a:prstGeom>
          <a:solidFill>
            <a:srgbClr val="F3F6FC"/>
          </a:solidFill>
          <a:ln/>
        </p:spPr>
      </p:sp>
      <p:sp>
        <p:nvSpPr>
          <p:cNvPr id="8" name="Text 6"/>
          <p:cNvSpPr/>
          <p:nvPr/>
        </p:nvSpPr>
        <p:spPr>
          <a:xfrm>
            <a:off x="7315200" y="1737360"/>
            <a:ext cx="4114800" cy="36576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What each line does</a:t>
            </a:r>
            <a:endParaRPr lang="en-US" sz="1450" dirty="0"/>
          </a:p>
        </p:txBody>
      </p:sp>
      <p:sp>
        <p:nvSpPr>
          <p:cNvPr id="9" name="Text 7"/>
          <p:cNvSpPr/>
          <p:nvPr/>
        </p:nvSpPr>
        <p:spPr>
          <a:xfrm>
            <a:off x="7315200" y="2194560"/>
            <a:ext cx="4160520" cy="2880360"/>
          </a:xfrm>
          <a:prstGeom prst="rect">
            <a:avLst/>
          </a:prstGeom>
          <a:noFill/>
          <a:ln/>
        </p:spPr>
        <p:txBody>
          <a:bodyPr wrap="square" rtlCol="0" anchor="ctr"/>
          <a:lstStyle/>
          <a:p>
            <a:pPr marL="0" indent="0">
              <a:lnSpc>
                <a:spcPct val="155000"/>
              </a:lnSpc>
              <a:buNone/>
            </a:pPr>
            <a:r>
              <a:rPr lang="en-US" sz="1200" dirty="0">
                <a:solidFill>
                  <a:srgbClr val="1A1A2E"/>
                </a:solidFill>
                <a:latin typeface="Calibri" pitchFamily="34" charset="0"/>
                <a:ea typeface="Calibri" pitchFamily="34" charset="-122"/>
                <a:cs typeface="Calibri" pitchFamily="34" charset="-120"/>
              </a:rPr>
              <a:t>• Outer loop i — the element we're currently deciding on</a:t>
            </a:r>
            <a:endParaRPr lang="en-US" sz="1200" dirty="0"/>
          </a:p>
          <a:p>
            <a:pPr marL="0" indent="0">
              <a:lnSpc>
                <a:spcPct val="155000"/>
              </a:lnSpc>
              <a:buNone/>
            </a:pPr>
            <a:r>
              <a:rPr lang="en-US" sz="1200" dirty="0">
                <a:solidFill>
                  <a:srgbClr val="1A1A2E"/>
                </a:solidFill>
                <a:latin typeface="Calibri" pitchFamily="34" charset="0"/>
                <a:ea typeface="Calibri" pitchFamily="34" charset="-122"/>
                <a:cs typeface="Calibri" pitchFamily="34" charset="-120"/>
              </a:rPr>
              <a:t>• Inner loop j — every earlier candidate predecessor</a:t>
            </a:r>
            <a:endParaRPr lang="en-US" sz="1200" dirty="0"/>
          </a:p>
          <a:p>
            <a:pPr marL="0" indent="0">
              <a:lnSpc>
                <a:spcPct val="155000"/>
              </a:lnSpc>
              <a:buNone/>
            </a:pPr>
            <a:r>
              <a:rPr lang="en-US" sz="1200" dirty="0">
                <a:solidFill>
                  <a:srgbClr val="1A1A2E"/>
                </a:solidFill>
                <a:latin typeface="Calibri" pitchFamily="34" charset="0"/>
                <a:ea typeface="Calibri" pitchFamily="34" charset="-122"/>
                <a:cs typeface="Calibri" pitchFamily="34" charset="-120"/>
              </a:rPr>
              <a:t>• arr[j] &lt; arr[i] — order must stay increasing</a:t>
            </a:r>
            <a:endParaRPr lang="en-US" sz="1200" dirty="0"/>
          </a:p>
          <a:p>
            <a:pPr marL="0" indent="0">
              <a:lnSpc>
                <a:spcPct val="155000"/>
              </a:lnSpc>
              <a:buNone/>
            </a:pPr>
            <a:r>
              <a:rPr lang="en-US" sz="1200" dirty="0">
                <a:solidFill>
                  <a:srgbClr val="1A1A2E"/>
                </a:solidFill>
                <a:latin typeface="Calibri" pitchFamily="34" charset="0"/>
                <a:ea typeface="Calibri" pitchFamily="34" charset="-122"/>
                <a:cs typeface="Calibri" pitchFamily="34" charset="-120"/>
              </a:rPr>
              <a:t>• dp[j]+1 &gt; dp[i] — only update if it's actually longer</a:t>
            </a:r>
            <a:endParaRPr lang="en-US" sz="1200" dirty="0"/>
          </a:p>
          <a:p>
            <a:pPr marL="0" indent="0">
              <a:lnSpc>
                <a:spcPct val="155000"/>
              </a:lnSpc>
              <a:buNone/>
            </a:pPr>
            <a:r>
              <a:rPr lang="en-US" sz="1200" dirty="0">
                <a:solidFill>
                  <a:srgbClr val="1A1A2E"/>
                </a:solidFill>
                <a:latin typeface="Calibri" pitchFamily="34" charset="0"/>
                <a:ea typeface="Calibri" pitchFamily="34" charset="-122"/>
                <a:cs typeface="Calibri" pitchFamily="34" charset="-120"/>
              </a:rPr>
              <a:t>• parent[i] = j — remembered for reconstruction later</a:t>
            </a:r>
            <a:endParaRPr lang="en-US" sz="1200" dirty="0"/>
          </a:p>
        </p:txBody>
      </p:sp>
      <p:sp>
        <p:nvSpPr>
          <p:cNvPr id="10" name="Shape 8"/>
          <p:cNvSpPr/>
          <p:nvPr/>
        </p:nvSpPr>
        <p:spPr>
          <a:xfrm>
            <a:off x="548640" y="5440680"/>
            <a:ext cx="11091672" cy="914400"/>
          </a:xfrm>
          <a:prstGeom prst="roundRect">
            <a:avLst>
              <a:gd name="adj" fmla="val 8000"/>
            </a:avLst>
          </a:prstGeom>
          <a:solidFill>
            <a:srgbClr val="1E2761"/>
          </a:solidFill>
          <a:ln/>
        </p:spPr>
      </p:sp>
      <p:sp>
        <p:nvSpPr>
          <p:cNvPr id="11" name="Text 9"/>
          <p:cNvSpPr/>
          <p:nvPr/>
        </p:nvSpPr>
        <p:spPr>
          <a:xfrm>
            <a:off x="822960" y="5440680"/>
            <a:ext cx="10515600" cy="914400"/>
          </a:xfrm>
          <a:prstGeom prst="rect">
            <a:avLst/>
          </a:prstGeom>
          <a:noFill/>
          <a:ln/>
        </p:spPr>
        <p:txBody>
          <a:bodyPr wrap="square" rtlCol="0" anchor="ctr"/>
          <a:lstStyle/>
          <a:p>
            <a:pPr marL="0" indent="0">
              <a:buNone/>
            </a:pPr>
            <a:r>
              <a:rPr lang="en-US" sz="1400" b="1" dirty="0">
                <a:solidFill>
                  <a:srgbClr val="E8A33D"/>
                </a:solidFill>
                <a:latin typeface="Calibri" pitchFamily="34" charset="0"/>
                <a:ea typeface="Calibri" pitchFamily="34" charset="-122"/>
                <a:cs typeface="Calibri" pitchFamily="34" charset="-120"/>
              </a:rPr>
              <a:t>Complexity:  </a:t>
            </a:r>
            <a:r>
              <a:rPr lang="en-US" sz="1400" dirty="0">
                <a:solidFill>
                  <a:srgbClr val="CADCFC"/>
                </a:solidFill>
                <a:latin typeface="Calibri" pitchFamily="34" charset="0"/>
                <a:ea typeface="Calibri" pitchFamily="34" charset="-122"/>
                <a:cs typeface="Calibri" pitchFamily="34" charset="-120"/>
              </a:rPr>
              <a:t>two nested loops over n → </a:t>
            </a:r>
            <a:r>
              <a:rPr lang="en-US" sz="1400" b="1" dirty="0">
                <a:solidFill>
                  <a:srgbClr val="FFFFFF"/>
                </a:solidFill>
                <a:latin typeface="Courier New" pitchFamily="34" charset="0"/>
                <a:ea typeface="Courier New" pitchFamily="34" charset="-122"/>
                <a:cs typeface="Courier New" pitchFamily="34" charset="-120"/>
              </a:rPr>
              <a:t>O(n²)</a:t>
            </a:r>
            <a:r>
              <a:rPr lang="en-US" sz="1400" dirty="0">
                <a:solidFill>
                  <a:srgbClr val="CADCFC"/>
                </a:solidFill>
                <a:latin typeface="Calibri" pitchFamily="34" charset="0"/>
                <a:ea typeface="Calibri" pitchFamily="34" charset="-122"/>
                <a:cs typeface="Calibri" pitchFamily="34" charset="-120"/>
              </a:rPr>
              <a:t> time,   </a:t>
            </a:r>
            <a:r>
              <a:rPr lang="en-US" sz="1400" b="1" dirty="0">
                <a:solidFill>
                  <a:srgbClr val="FFFFFF"/>
                </a:solidFill>
                <a:latin typeface="Courier New" pitchFamily="34" charset="0"/>
                <a:ea typeface="Courier New" pitchFamily="34" charset="-122"/>
                <a:cs typeface="Courier New" pitchFamily="34" charset="-120"/>
              </a:rPr>
              <a:t>O(n)</a:t>
            </a:r>
            <a:r>
              <a:rPr lang="en-US" sz="1400" dirty="0">
                <a:solidFill>
                  <a:srgbClr val="CADCFC"/>
                </a:solidFill>
                <a:latin typeface="Calibri" pitchFamily="34" charset="0"/>
                <a:ea typeface="Calibri" pitchFamily="34" charset="-122"/>
                <a:cs typeface="Calibri" pitchFamily="34" charset="-120"/>
              </a:rPr>
              <a:t> space for dp[] and parent[].</a:t>
            </a:r>
            <a:endParaRPr lang="en-US" sz="1400" dirty="0"/>
          </a:p>
        </p:txBody>
      </p:sp>
      <p:sp>
        <p:nvSpPr>
          <p:cNvPr id="12" name="Text 10"/>
          <p:cNvSpPr/>
          <p:nvPr/>
        </p:nvSpPr>
        <p:spPr>
          <a:xfrm>
            <a:off x="548640" y="6510528"/>
            <a:ext cx="8229600" cy="274320"/>
          </a:xfrm>
          <a:prstGeom prst="rect">
            <a:avLst/>
          </a:prstGeom>
          <a:noFill/>
          <a:ln/>
        </p:spPr>
        <p:txBody>
          <a:bodyPr wrap="square" rtlCol="0" anchor="ctr"/>
          <a:lstStyle/>
          <a:p>
            <a:pPr marL="0" indent="0">
              <a:buNone/>
            </a:pPr>
            <a:r>
              <a:rPr lang="en-US" sz="850" kern="0" spc="100" dirty="0">
                <a:solidFill>
                  <a:srgbClr val="5B6472"/>
                </a:solidFill>
                <a:latin typeface="Calibri" pitchFamily="34" charset="0"/>
                <a:ea typeface="Calibri" pitchFamily="34" charset="-122"/>
                <a:cs typeface="Calibri" pitchFamily="34" charset="-120"/>
              </a:rPr>
              <a:t>LONGEST INCREASING SUBSEQUENCE  ·  DYNAMIC PROGRAMMING</a:t>
            </a:r>
            <a:endParaRPr lang="en-US" sz="850" dirty="0"/>
          </a:p>
        </p:txBody>
      </p:sp>
      <p:sp>
        <p:nvSpPr>
          <p:cNvPr id="13" name="Text 11"/>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609DBA-48DA-00E6-5B3B-B456514A6795}"/>
              </a:ext>
            </a:extLst>
          </p:cNvPr>
          <p:cNvSpPr txBox="1"/>
          <p:nvPr/>
        </p:nvSpPr>
        <p:spPr>
          <a:xfrm>
            <a:off x="914400" y="659027"/>
            <a:ext cx="5675870" cy="523220"/>
          </a:xfrm>
          <a:prstGeom prst="rect">
            <a:avLst/>
          </a:prstGeom>
          <a:noFill/>
        </p:spPr>
        <p:txBody>
          <a:bodyPr wrap="square" rtlCol="0">
            <a:spAutoFit/>
          </a:bodyPr>
          <a:lstStyle/>
          <a:p>
            <a:r>
              <a:rPr lang="en-IN" sz="2800" b="1" dirty="0">
                <a:solidFill>
                  <a:schemeClr val="accent1">
                    <a:lumMod val="50000"/>
                  </a:schemeClr>
                </a:solidFill>
              </a:rPr>
              <a:t>Bottom-Up Approach</a:t>
            </a:r>
          </a:p>
        </p:txBody>
      </p:sp>
      <p:pic>
        <p:nvPicPr>
          <p:cNvPr id="4" name="Picture 3">
            <a:extLst>
              <a:ext uri="{FF2B5EF4-FFF2-40B4-BE49-F238E27FC236}">
                <a16:creationId xmlns:a16="http://schemas.microsoft.com/office/drawing/2014/main" id="{21E1A48C-26AE-2BE0-E38E-E8D934C29A49}"/>
              </a:ext>
            </a:extLst>
          </p:cNvPr>
          <p:cNvPicPr>
            <a:picLocks noChangeAspect="1"/>
          </p:cNvPicPr>
          <p:nvPr/>
        </p:nvPicPr>
        <p:blipFill>
          <a:blip r:embed="rId2"/>
          <a:stretch>
            <a:fillRect/>
          </a:stretch>
        </p:blipFill>
        <p:spPr>
          <a:xfrm>
            <a:off x="436605" y="1295949"/>
            <a:ext cx="10495006" cy="2495479"/>
          </a:xfrm>
          <a:prstGeom prst="rect">
            <a:avLst/>
          </a:prstGeom>
        </p:spPr>
      </p:pic>
      <p:pic>
        <p:nvPicPr>
          <p:cNvPr id="6" name="Picture 5">
            <a:extLst>
              <a:ext uri="{FF2B5EF4-FFF2-40B4-BE49-F238E27FC236}">
                <a16:creationId xmlns:a16="http://schemas.microsoft.com/office/drawing/2014/main" id="{AD7E8A1B-FF5B-575E-84B8-15E73EB3C4AA}"/>
              </a:ext>
            </a:extLst>
          </p:cNvPr>
          <p:cNvPicPr>
            <a:picLocks noChangeAspect="1"/>
          </p:cNvPicPr>
          <p:nvPr/>
        </p:nvPicPr>
        <p:blipFill>
          <a:blip r:embed="rId3"/>
          <a:stretch>
            <a:fillRect/>
          </a:stretch>
        </p:blipFill>
        <p:spPr>
          <a:xfrm>
            <a:off x="436605" y="3791428"/>
            <a:ext cx="6756509" cy="2924572"/>
          </a:xfrm>
          <a:prstGeom prst="rect">
            <a:avLst/>
          </a:prstGeom>
        </p:spPr>
      </p:pic>
    </p:spTree>
    <p:extLst>
      <p:ext uri="{BB962C8B-B14F-4D97-AF65-F5344CB8AC3E}">
        <p14:creationId xmlns:p14="http://schemas.microsoft.com/office/powerpoint/2010/main" val="30982777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929741-0B9B-8640-4BB9-8B72D182FF99}"/>
              </a:ext>
            </a:extLst>
          </p:cNvPr>
          <p:cNvSpPr txBox="1"/>
          <p:nvPr/>
        </p:nvSpPr>
        <p:spPr>
          <a:xfrm>
            <a:off x="420130" y="354227"/>
            <a:ext cx="7199870" cy="523220"/>
          </a:xfrm>
          <a:prstGeom prst="rect">
            <a:avLst/>
          </a:prstGeom>
          <a:noFill/>
        </p:spPr>
        <p:txBody>
          <a:bodyPr wrap="square" rtlCol="0">
            <a:spAutoFit/>
          </a:bodyPr>
          <a:lstStyle/>
          <a:p>
            <a:r>
              <a:rPr lang="en-IN" sz="2800" b="1" dirty="0">
                <a:solidFill>
                  <a:schemeClr val="accent1">
                    <a:lumMod val="50000"/>
                  </a:schemeClr>
                </a:solidFill>
              </a:rPr>
              <a:t>Top Down Approach : Dry Run a Problem</a:t>
            </a:r>
          </a:p>
        </p:txBody>
      </p:sp>
      <p:pic>
        <p:nvPicPr>
          <p:cNvPr id="4" name="Picture 3">
            <a:extLst>
              <a:ext uri="{FF2B5EF4-FFF2-40B4-BE49-F238E27FC236}">
                <a16:creationId xmlns:a16="http://schemas.microsoft.com/office/drawing/2014/main" id="{76213164-964A-9938-2AB0-031417C727F6}"/>
              </a:ext>
            </a:extLst>
          </p:cNvPr>
          <p:cNvPicPr>
            <a:picLocks noChangeAspect="1"/>
          </p:cNvPicPr>
          <p:nvPr/>
        </p:nvPicPr>
        <p:blipFill>
          <a:blip r:embed="rId2"/>
          <a:stretch>
            <a:fillRect/>
          </a:stretch>
        </p:blipFill>
        <p:spPr>
          <a:xfrm>
            <a:off x="0" y="1209861"/>
            <a:ext cx="11973997" cy="4696669"/>
          </a:xfrm>
          <a:prstGeom prst="rect">
            <a:avLst/>
          </a:prstGeom>
        </p:spPr>
      </p:pic>
    </p:spTree>
    <p:extLst>
      <p:ext uri="{BB962C8B-B14F-4D97-AF65-F5344CB8AC3E}">
        <p14:creationId xmlns:p14="http://schemas.microsoft.com/office/powerpoint/2010/main" val="27246914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AA76E8-7391-800E-24E0-078C4E25BEDE}"/>
              </a:ext>
            </a:extLst>
          </p:cNvPr>
          <p:cNvSpPr txBox="1"/>
          <p:nvPr/>
        </p:nvSpPr>
        <p:spPr>
          <a:xfrm>
            <a:off x="486032" y="296562"/>
            <a:ext cx="7323437" cy="523220"/>
          </a:xfrm>
          <a:prstGeom prst="rect">
            <a:avLst/>
          </a:prstGeom>
          <a:solidFill>
            <a:srgbClr val="002060"/>
          </a:solidFill>
        </p:spPr>
        <p:txBody>
          <a:bodyPr wrap="square" rtlCol="0">
            <a:spAutoFit/>
          </a:bodyPr>
          <a:lstStyle/>
          <a:p>
            <a:r>
              <a:rPr lang="en-IN" sz="2800" b="1" dirty="0">
                <a:solidFill>
                  <a:schemeClr val="bg1">
                    <a:lumMod val="75000"/>
                  </a:schemeClr>
                </a:solidFill>
              </a:rPr>
              <a:t>Why Bottom-Up Instead Of Top-Down?</a:t>
            </a:r>
          </a:p>
        </p:txBody>
      </p:sp>
      <p:sp>
        <p:nvSpPr>
          <p:cNvPr id="3" name="TextBox 2">
            <a:extLst>
              <a:ext uri="{FF2B5EF4-FFF2-40B4-BE49-F238E27FC236}">
                <a16:creationId xmlns:a16="http://schemas.microsoft.com/office/drawing/2014/main" id="{38452F52-5FC3-2987-1094-888AEF956B16}"/>
              </a:ext>
            </a:extLst>
          </p:cNvPr>
          <p:cNvSpPr txBox="1"/>
          <p:nvPr/>
        </p:nvSpPr>
        <p:spPr>
          <a:xfrm>
            <a:off x="906163" y="1804086"/>
            <a:ext cx="9078096" cy="1477328"/>
          </a:xfrm>
          <a:prstGeom prst="rect">
            <a:avLst/>
          </a:prstGeom>
          <a:solidFill>
            <a:schemeClr val="tx2">
              <a:lumMod val="20000"/>
              <a:lumOff val="80000"/>
            </a:schemeClr>
          </a:solidFill>
        </p:spPr>
        <p:txBody>
          <a:bodyPr wrap="square" rtlCol="0">
            <a:spAutoFit/>
          </a:bodyPr>
          <a:lstStyle/>
          <a:p>
            <a:r>
              <a:rPr lang="en-IN" dirty="0">
                <a:solidFill>
                  <a:srgbClr val="002060"/>
                </a:solidFill>
              </a:rPr>
              <a:t>Although LIS can be solved using both Top-Down (</a:t>
            </a:r>
            <a:r>
              <a:rPr lang="en-IN" dirty="0" err="1">
                <a:solidFill>
                  <a:srgbClr val="002060"/>
                </a:solidFill>
              </a:rPr>
              <a:t>Memoization</a:t>
            </a:r>
            <a:r>
              <a:rPr lang="en-IN" dirty="0">
                <a:solidFill>
                  <a:srgbClr val="002060"/>
                </a:solidFill>
              </a:rPr>
              <a:t>) and Bottom-Up (Tabulation), the Bottom-Up approach is generally preferred because it avoids recursion overhead, uses no recursive call stack, naturally follows the dependency of the problem, and makes reconstruction of the actual LIS easier using the parent[] array. Therefore, it is simpler and more efficient in practice.</a:t>
            </a:r>
          </a:p>
        </p:txBody>
      </p:sp>
    </p:spTree>
    <p:extLst>
      <p:ext uri="{BB962C8B-B14F-4D97-AF65-F5344CB8AC3E}">
        <p14:creationId xmlns:p14="http://schemas.microsoft.com/office/powerpoint/2010/main" val="3208839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09728"/>
            <a:ext cx="9144000" cy="274320"/>
          </a:xfrm>
          <a:prstGeom prst="rect">
            <a:avLst/>
          </a:prstGeom>
          <a:noFill/>
          <a:ln/>
        </p:spPr>
        <p:txBody>
          <a:bodyPr wrap="square" rtlCol="0" anchor="ctr"/>
          <a:lstStyle/>
          <a:p>
            <a:pPr marL="0" indent="0">
              <a:buNone/>
            </a:pPr>
            <a:r>
              <a:rPr lang="en-US" sz="1100" b="1" kern="0" spc="200" dirty="0">
                <a:solidFill>
                  <a:srgbClr val="E8A33D"/>
                </a:solidFill>
                <a:latin typeface="Calibri" pitchFamily="34" charset="0"/>
                <a:ea typeface="Calibri" pitchFamily="34" charset="-122"/>
                <a:cs typeface="Calibri" pitchFamily="34" charset="-120"/>
              </a:rPr>
              <a:t>THE FASTER PROCESS</a:t>
            </a:r>
            <a:endParaRPr lang="en-US" sz="1100" dirty="0"/>
          </a:p>
        </p:txBody>
      </p:sp>
      <p:sp>
        <p:nvSpPr>
          <p:cNvPr id="3" name="Text 1"/>
          <p:cNvSpPr/>
          <p:nvPr/>
        </p:nvSpPr>
        <p:spPr>
          <a:xfrm>
            <a:off x="548640" y="384048"/>
            <a:ext cx="1106424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Binary Search</a:t>
            </a:r>
            <a:endParaRPr lang="en-US" sz="3000" dirty="0"/>
          </a:p>
        </p:txBody>
      </p:sp>
      <p:sp>
        <p:nvSpPr>
          <p:cNvPr id="7" name="Shape 5"/>
          <p:cNvSpPr/>
          <p:nvPr/>
        </p:nvSpPr>
        <p:spPr>
          <a:xfrm>
            <a:off x="6766560" y="1554480"/>
            <a:ext cx="4873752" cy="2514600"/>
          </a:xfrm>
          <a:prstGeom prst="roundRect">
            <a:avLst>
              <a:gd name="adj" fmla="val 2909"/>
            </a:avLst>
          </a:prstGeom>
          <a:solidFill>
            <a:srgbClr val="F3F6FC"/>
          </a:solidFill>
          <a:ln/>
        </p:spPr>
      </p:sp>
      <p:sp>
        <p:nvSpPr>
          <p:cNvPr id="8" name="Text 6"/>
          <p:cNvSpPr/>
          <p:nvPr/>
        </p:nvSpPr>
        <p:spPr>
          <a:xfrm>
            <a:off x="7040880" y="1737360"/>
            <a:ext cx="438912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Why it's O(n log n)</a:t>
            </a:r>
            <a:endParaRPr lang="en-US" sz="1500" dirty="0"/>
          </a:p>
        </p:txBody>
      </p:sp>
      <p:sp>
        <p:nvSpPr>
          <p:cNvPr id="9" name="Text 7"/>
          <p:cNvSpPr/>
          <p:nvPr/>
        </p:nvSpPr>
        <p:spPr>
          <a:xfrm>
            <a:off x="7040880" y="2148840"/>
            <a:ext cx="4480560" cy="1051560"/>
          </a:xfrm>
          <a:prstGeom prst="rect">
            <a:avLst/>
          </a:prstGeom>
          <a:noFill/>
          <a:ln/>
        </p:spPr>
        <p:txBody>
          <a:bodyPr wrap="square" rtlCol="0" anchor="ctr"/>
          <a:lstStyle/>
          <a:p>
            <a:pPr marL="0" indent="0">
              <a:lnSpc>
                <a:spcPct val="130000"/>
              </a:lnSpc>
              <a:buNone/>
            </a:pPr>
            <a:r>
              <a:rPr lang="en-US" sz="1200" dirty="0">
                <a:solidFill>
                  <a:srgbClr val="1A1A2E"/>
                </a:solidFill>
                <a:latin typeface="Calibri" pitchFamily="34" charset="0"/>
                <a:ea typeface="Calibri" pitchFamily="34" charset="-122"/>
                <a:cs typeface="Calibri" pitchFamily="34" charset="-120"/>
              </a:rPr>
              <a:t>Each of the n elements is placed with one binary search over the tails[] array, which never has more than n entries — n searches × O(log n) each.</a:t>
            </a:r>
            <a:endParaRPr lang="en-US" sz="1200" dirty="0"/>
          </a:p>
        </p:txBody>
      </p:sp>
      <p:sp>
        <p:nvSpPr>
          <p:cNvPr id="10" name="Text 8"/>
          <p:cNvSpPr/>
          <p:nvPr/>
        </p:nvSpPr>
        <p:spPr>
          <a:xfrm>
            <a:off x="7040880" y="3246120"/>
            <a:ext cx="4480560" cy="777240"/>
          </a:xfrm>
          <a:prstGeom prst="rect">
            <a:avLst/>
          </a:prstGeom>
          <a:noFill/>
          <a:ln/>
        </p:spPr>
        <p:txBody>
          <a:bodyPr wrap="square" rtlCol="0" anchor="ctr"/>
          <a:lstStyle/>
          <a:p>
            <a:pPr marL="0" indent="0">
              <a:lnSpc>
                <a:spcPct val="130000"/>
              </a:lnSpc>
              <a:buNone/>
            </a:pPr>
            <a:r>
              <a:rPr lang="en-US" sz="1100" i="1" dirty="0">
                <a:solidFill>
                  <a:srgbClr val="5B6472"/>
                </a:solidFill>
                <a:latin typeface="Calibri" pitchFamily="34" charset="0"/>
                <a:ea typeface="Calibri" pitchFamily="34" charset="-122"/>
                <a:cs typeface="Calibri" pitchFamily="34" charset="-120"/>
              </a:rPr>
              <a:t>tails[] is not always a valid subsequence itself — recovering the actual sequence needs extra bookkeeping.</a:t>
            </a:r>
            <a:endParaRPr lang="en-US" sz="1100" dirty="0"/>
          </a:p>
        </p:txBody>
      </p:sp>
      <p:sp>
        <p:nvSpPr>
          <p:cNvPr id="15" name="Text 12"/>
          <p:cNvSpPr/>
          <p:nvPr/>
        </p:nvSpPr>
        <p:spPr>
          <a:xfrm>
            <a:off x="548640" y="6510528"/>
            <a:ext cx="8229600" cy="274320"/>
          </a:xfrm>
          <a:prstGeom prst="rect">
            <a:avLst/>
          </a:prstGeom>
          <a:noFill/>
          <a:ln/>
        </p:spPr>
        <p:txBody>
          <a:bodyPr wrap="square" rtlCol="0" anchor="ctr"/>
          <a:lstStyle/>
          <a:p>
            <a:pPr marL="0" indent="0">
              <a:buNone/>
            </a:pPr>
            <a:r>
              <a:rPr lang="en-US" sz="850" kern="0" spc="100" dirty="0">
                <a:solidFill>
                  <a:srgbClr val="5B6472"/>
                </a:solidFill>
                <a:latin typeface="Calibri" pitchFamily="34" charset="0"/>
                <a:ea typeface="Calibri" pitchFamily="34" charset="-122"/>
                <a:cs typeface="Calibri" pitchFamily="34" charset="-120"/>
              </a:rPr>
              <a:t>LONGEST INCREASING SUBSEQUENCE  ·  DYNAMIC PROGRAMMING</a:t>
            </a:r>
            <a:endParaRPr lang="en-US" sz="850" dirty="0"/>
          </a:p>
        </p:txBody>
      </p:sp>
      <p:sp>
        <p:nvSpPr>
          <p:cNvPr id="16" name="Text 13"/>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12</a:t>
            </a:r>
            <a:endParaRPr lang="en-US" sz="900" dirty="0"/>
          </a:p>
        </p:txBody>
      </p:sp>
      <p:sp>
        <p:nvSpPr>
          <p:cNvPr id="17" name="TextBox 16">
            <a:extLst>
              <a:ext uri="{FF2B5EF4-FFF2-40B4-BE49-F238E27FC236}">
                <a16:creationId xmlns:a16="http://schemas.microsoft.com/office/drawing/2014/main" id="{10DEE56D-8701-9E8A-2EC2-4F800C7F92D5}"/>
              </a:ext>
            </a:extLst>
          </p:cNvPr>
          <p:cNvSpPr txBox="1"/>
          <p:nvPr/>
        </p:nvSpPr>
        <p:spPr>
          <a:xfrm>
            <a:off x="548640" y="1219201"/>
            <a:ext cx="6007608" cy="1077218"/>
          </a:xfrm>
          <a:prstGeom prst="rect">
            <a:avLst/>
          </a:prstGeom>
          <a:solidFill>
            <a:schemeClr val="accent1">
              <a:lumMod val="50000"/>
            </a:schemeClr>
          </a:solidFill>
          <a:ln>
            <a:solidFill>
              <a:srgbClr val="002060"/>
            </a:solidFill>
          </a:ln>
        </p:spPr>
        <p:txBody>
          <a:bodyPr wrap="square" rtlCol="0">
            <a:spAutoFit/>
          </a:bodyPr>
          <a:lstStyle/>
          <a:p>
            <a:r>
              <a:rPr lang="en-IN" sz="1600" i="1" dirty="0">
                <a:solidFill>
                  <a:schemeClr val="bg1">
                    <a:lumMod val="95000"/>
                  </a:schemeClr>
                </a:solidFill>
              </a:rPr>
              <a:t>The idea is to simulate the process of finding a subsequence by maintaining a list of "buckets" where each bucket represents a valid subsequence. Initially, start with an empty list and iterate through the input vector array from left to right.</a:t>
            </a:r>
            <a:endParaRPr lang="en-IN" sz="1600" dirty="0">
              <a:solidFill>
                <a:schemeClr val="bg1">
                  <a:lumMod val="95000"/>
                </a:schemeClr>
              </a:solidFill>
            </a:endParaRPr>
          </a:p>
        </p:txBody>
      </p:sp>
      <p:sp>
        <p:nvSpPr>
          <p:cNvPr id="18" name="TextBox 17">
            <a:extLst>
              <a:ext uri="{FF2B5EF4-FFF2-40B4-BE49-F238E27FC236}">
                <a16:creationId xmlns:a16="http://schemas.microsoft.com/office/drawing/2014/main" id="{D60DDE81-9EEB-5938-A8C1-2898A0ACD2D4}"/>
              </a:ext>
            </a:extLst>
          </p:cNvPr>
          <p:cNvSpPr txBox="1"/>
          <p:nvPr/>
        </p:nvSpPr>
        <p:spPr>
          <a:xfrm>
            <a:off x="548640" y="2491491"/>
            <a:ext cx="6007608" cy="2462213"/>
          </a:xfrm>
          <a:prstGeom prst="rect">
            <a:avLst/>
          </a:prstGeom>
          <a:solidFill>
            <a:schemeClr val="accent1">
              <a:lumMod val="20000"/>
              <a:lumOff val="80000"/>
            </a:schemeClr>
          </a:solidFill>
        </p:spPr>
        <p:txBody>
          <a:bodyPr wrap="square" rtlCol="0">
            <a:spAutoFit/>
          </a:bodyPr>
          <a:lstStyle/>
          <a:p>
            <a:pPr fontAlgn="base"/>
            <a:r>
              <a:rPr lang="en-IN" sz="1400" i="1" dirty="0"/>
              <a:t>Example: </a:t>
            </a:r>
            <a:r>
              <a:rPr lang="en-IN" sz="1400" i="1" dirty="0" err="1"/>
              <a:t>arr</a:t>
            </a:r>
            <a:r>
              <a:rPr lang="en-IN" sz="1400" i="1" dirty="0"/>
              <a:t> = [3, 10, 2, 1, 20], why keeping 1 (the smallest value) helps?</a:t>
            </a:r>
          </a:p>
          <a:p>
            <a:pPr fontAlgn="base"/>
            <a:r>
              <a:rPr lang="en-IN" sz="1400" i="1" dirty="0"/>
              <a:t>Use binary search to find the position where new element is to be inserted.</a:t>
            </a:r>
          </a:p>
          <a:p>
            <a:pPr fontAlgn="base"/>
            <a:endParaRPr lang="en-IN" sz="1400" i="1" dirty="0"/>
          </a:p>
          <a:p>
            <a:pPr lvl="0" fontAlgn="base"/>
            <a:r>
              <a:rPr lang="en-IN" sz="1400" i="1" dirty="0"/>
              <a:t>First two elements: buckets = [3, 10]</a:t>
            </a:r>
          </a:p>
          <a:p>
            <a:pPr lvl="0" fontAlgn="base"/>
            <a:r>
              <a:rPr lang="en-IN" sz="1400" i="1" dirty="0" err="1"/>
              <a:t>arr</a:t>
            </a:r>
            <a:r>
              <a:rPr lang="en-IN" sz="1400" i="1" dirty="0"/>
              <a:t>[2] = 2 buckets = [2, 10] -&gt; replaces 3</a:t>
            </a:r>
          </a:p>
          <a:p>
            <a:pPr lvl="0" fontAlgn="base"/>
            <a:r>
              <a:rPr lang="en-IN" sz="1400" i="1" dirty="0" err="1"/>
              <a:t>arr</a:t>
            </a:r>
            <a:r>
              <a:rPr lang="en-IN" sz="1400" i="1" dirty="0"/>
              <a:t>[3] = 1 buckets = [1, 10] -&gt; 1 replaces 2 as it's smaller</a:t>
            </a:r>
          </a:p>
          <a:p>
            <a:pPr lvl="0" fontAlgn="base"/>
            <a:r>
              <a:rPr lang="en-IN" sz="1400" i="1" dirty="0" err="1"/>
              <a:t>arr</a:t>
            </a:r>
            <a:r>
              <a:rPr lang="en-IN" sz="1400" i="1" dirty="0"/>
              <a:t>[4] = 20 buckets = [1, 10, 20] -&gt; 20 is appended as it's larger</a:t>
            </a:r>
          </a:p>
          <a:p>
            <a:pPr lvl="0" fontAlgn="base"/>
            <a:endParaRPr lang="en-IN" sz="1400" i="1" dirty="0"/>
          </a:p>
          <a:p>
            <a:pPr fontAlgn="base"/>
            <a:r>
              <a:rPr lang="en-IN" sz="1400" i="1" dirty="0"/>
              <a:t>This shows that by replacing 3 with 1, we created the opportunity to find the subsequence [1, 10, 20], which is longer than our initial [3, 10]. If we had kept [3, 10], we wouldn't have been able to add 2 to our sequence!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09728"/>
            <a:ext cx="9144000" cy="274320"/>
          </a:xfrm>
          <a:prstGeom prst="rect">
            <a:avLst/>
          </a:prstGeom>
          <a:noFill/>
          <a:ln/>
        </p:spPr>
        <p:txBody>
          <a:bodyPr wrap="square" rtlCol="0" anchor="ctr"/>
          <a:lstStyle/>
          <a:p>
            <a:pPr marL="0" indent="0">
              <a:buNone/>
            </a:pPr>
            <a:r>
              <a:rPr lang="en-US" sz="1100" b="1" kern="0" spc="200" dirty="0">
                <a:solidFill>
                  <a:srgbClr val="E8A33D"/>
                </a:solidFill>
                <a:latin typeface="Calibri" pitchFamily="34" charset="0"/>
                <a:ea typeface="Calibri" pitchFamily="34" charset="-122"/>
                <a:cs typeface="Calibri" pitchFamily="34" charset="-120"/>
              </a:rPr>
              <a:t>SIDE BY SIDE</a:t>
            </a:r>
            <a:endParaRPr lang="en-US" sz="1100" dirty="0"/>
          </a:p>
        </p:txBody>
      </p:sp>
      <p:sp>
        <p:nvSpPr>
          <p:cNvPr id="3" name="Text 1"/>
          <p:cNvSpPr/>
          <p:nvPr/>
        </p:nvSpPr>
        <p:spPr>
          <a:xfrm>
            <a:off x="548640" y="384048"/>
            <a:ext cx="1106424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Comparing the Approaches</a:t>
            </a:r>
            <a:endParaRPr lang="en-US" sz="3000" dirty="0"/>
          </a:p>
        </p:txBody>
      </p:sp>
      <p:sp>
        <p:nvSpPr>
          <p:cNvPr id="4" name="Shape 2"/>
          <p:cNvSpPr/>
          <p:nvPr/>
        </p:nvSpPr>
        <p:spPr>
          <a:xfrm>
            <a:off x="548640" y="1508760"/>
            <a:ext cx="2331720" cy="502920"/>
          </a:xfrm>
          <a:prstGeom prst="rect">
            <a:avLst/>
          </a:prstGeom>
          <a:solidFill>
            <a:srgbClr val="1E2761"/>
          </a:solidFill>
          <a:ln w="9525">
            <a:solidFill>
              <a:srgbClr val="FFFFFF"/>
            </a:solidFill>
            <a:prstDash val="solid"/>
          </a:ln>
        </p:spPr>
      </p:sp>
      <p:sp>
        <p:nvSpPr>
          <p:cNvPr id="5" name="Text 3"/>
          <p:cNvSpPr/>
          <p:nvPr/>
        </p:nvSpPr>
        <p:spPr>
          <a:xfrm>
            <a:off x="548640" y="1508760"/>
            <a:ext cx="2331720" cy="50292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Approach</a:t>
            </a:r>
            <a:endParaRPr lang="en-US" sz="1250" dirty="0"/>
          </a:p>
        </p:txBody>
      </p:sp>
      <p:sp>
        <p:nvSpPr>
          <p:cNvPr id="6" name="Shape 4"/>
          <p:cNvSpPr/>
          <p:nvPr/>
        </p:nvSpPr>
        <p:spPr>
          <a:xfrm>
            <a:off x="2880360" y="1508760"/>
            <a:ext cx="3291840" cy="502920"/>
          </a:xfrm>
          <a:prstGeom prst="rect">
            <a:avLst/>
          </a:prstGeom>
          <a:solidFill>
            <a:srgbClr val="1E2761"/>
          </a:solidFill>
          <a:ln w="9525">
            <a:solidFill>
              <a:srgbClr val="FFFFFF"/>
            </a:solidFill>
            <a:prstDash val="solid"/>
          </a:ln>
        </p:spPr>
      </p:sp>
      <p:sp>
        <p:nvSpPr>
          <p:cNvPr id="7" name="Text 5"/>
          <p:cNvSpPr/>
          <p:nvPr/>
        </p:nvSpPr>
        <p:spPr>
          <a:xfrm>
            <a:off x="2880360" y="1508760"/>
            <a:ext cx="3291840" cy="50292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Core Idea</a:t>
            </a:r>
            <a:endParaRPr lang="en-US" sz="1250" dirty="0"/>
          </a:p>
        </p:txBody>
      </p:sp>
      <p:sp>
        <p:nvSpPr>
          <p:cNvPr id="8" name="Shape 6"/>
          <p:cNvSpPr/>
          <p:nvPr/>
        </p:nvSpPr>
        <p:spPr>
          <a:xfrm>
            <a:off x="6172200" y="1508760"/>
            <a:ext cx="1600200" cy="502920"/>
          </a:xfrm>
          <a:prstGeom prst="rect">
            <a:avLst/>
          </a:prstGeom>
          <a:solidFill>
            <a:srgbClr val="1E2761"/>
          </a:solidFill>
          <a:ln w="9525">
            <a:solidFill>
              <a:srgbClr val="FFFFFF"/>
            </a:solidFill>
            <a:prstDash val="solid"/>
          </a:ln>
        </p:spPr>
      </p:sp>
      <p:sp>
        <p:nvSpPr>
          <p:cNvPr id="9" name="Text 7"/>
          <p:cNvSpPr/>
          <p:nvPr/>
        </p:nvSpPr>
        <p:spPr>
          <a:xfrm>
            <a:off x="6172200" y="1508760"/>
            <a:ext cx="1600200" cy="50292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Time</a:t>
            </a:r>
            <a:endParaRPr lang="en-US" sz="1250" dirty="0"/>
          </a:p>
        </p:txBody>
      </p:sp>
      <p:sp>
        <p:nvSpPr>
          <p:cNvPr id="10" name="Shape 8"/>
          <p:cNvSpPr/>
          <p:nvPr/>
        </p:nvSpPr>
        <p:spPr>
          <a:xfrm>
            <a:off x="7772400" y="1508760"/>
            <a:ext cx="1737360" cy="502920"/>
          </a:xfrm>
          <a:prstGeom prst="rect">
            <a:avLst/>
          </a:prstGeom>
          <a:solidFill>
            <a:srgbClr val="1E2761"/>
          </a:solidFill>
          <a:ln w="9525">
            <a:solidFill>
              <a:srgbClr val="FFFFFF"/>
            </a:solidFill>
            <a:prstDash val="solid"/>
          </a:ln>
        </p:spPr>
      </p:sp>
      <p:sp>
        <p:nvSpPr>
          <p:cNvPr id="11" name="Text 9"/>
          <p:cNvSpPr/>
          <p:nvPr/>
        </p:nvSpPr>
        <p:spPr>
          <a:xfrm>
            <a:off x="7772400" y="1508760"/>
            <a:ext cx="1737360" cy="50292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Space</a:t>
            </a:r>
            <a:endParaRPr lang="en-US" sz="1250" dirty="0"/>
          </a:p>
        </p:txBody>
      </p:sp>
      <p:sp>
        <p:nvSpPr>
          <p:cNvPr id="12" name="Shape 10"/>
          <p:cNvSpPr/>
          <p:nvPr/>
        </p:nvSpPr>
        <p:spPr>
          <a:xfrm>
            <a:off x="9509760" y="1508760"/>
            <a:ext cx="2130552" cy="502920"/>
          </a:xfrm>
          <a:prstGeom prst="rect">
            <a:avLst/>
          </a:prstGeom>
          <a:solidFill>
            <a:srgbClr val="1E2761"/>
          </a:solidFill>
          <a:ln w="9525">
            <a:solidFill>
              <a:srgbClr val="FFFFFF"/>
            </a:solidFill>
            <a:prstDash val="solid"/>
          </a:ln>
        </p:spPr>
      </p:sp>
      <p:sp>
        <p:nvSpPr>
          <p:cNvPr id="13" name="Text 11"/>
          <p:cNvSpPr/>
          <p:nvPr/>
        </p:nvSpPr>
        <p:spPr>
          <a:xfrm>
            <a:off x="9509760" y="1508760"/>
            <a:ext cx="2130552" cy="50292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Recovers Sequence?</a:t>
            </a:r>
            <a:endParaRPr lang="en-US" sz="1250" dirty="0"/>
          </a:p>
        </p:txBody>
      </p:sp>
      <p:sp>
        <p:nvSpPr>
          <p:cNvPr id="14" name="Shape 12"/>
          <p:cNvSpPr/>
          <p:nvPr/>
        </p:nvSpPr>
        <p:spPr>
          <a:xfrm>
            <a:off x="548640" y="2011680"/>
            <a:ext cx="2331720" cy="896112"/>
          </a:xfrm>
          <a:prstGeom prst="rect">
            <a:avLst/>
          </a:prstGeom>
          <a:solidFill>
            <a:srgbClr val="F7F9FC"/>
          </a:solidFill>
          <a:ln w="6350">
            <a:solidFill>
              <a:srgbClr val="DDE3EF"/>
            </a:solidFill>
            <a:prstDash val="solid"/>
          </a:ln>
        </p:spPr>
      </p:sp>
      <p:sp>
        <p:nvSpPr>
          <p:cNvPr id="15" name="Text 13"/>
          <p:cNvSpPr/>
          <p:nvPr/>
        </p:nvSpPr>
        <p:spPr>
          <a:xfrm>
            <a:off x="621792" y="2011680"/>
            <a:ext cx="2185416" cy="896112"/>
          </a:xfrm>
          <a:prstGeom prst="rect">
            <a:avLst/>
          </a:prstGeom>
          <a:noFill/>
          <a:ln/>
        </p:spPr>
        <p:txBody>
          <a:bodyPr wrap="square" rtlCol="0" anchor="ctr"/>
          <a:lstStyle/>
          <a:p>
            <a:pPr marL="0" indent="0" algn="l">
              <a:lnSpc>
                <a:spcPct val="115000"/>
              </a:lnSpc>
              <a:buNone/>
            </a:pPr>
            <a:r>
              <a:rPr lang="en-US" sz="1150" b="1" dirty="0">
                <a:solidFill>
                  <a:srgbClr val="1A1A2E"/>
                </a:solidFill>
                <a:latin typeface="Calibri" pitchFamily="34" charset="0"/>
                <a:ea typeface="Calibri" pitchFamily="34" charset="-122"/>
                <a:cs typeface="Calibri" pitchFamily="34" charset="-120"/>
              </a:rPr>
              <a:t>Brute Force</a:t>
            </a:r>
            <a:endParaRPr lang="en-US" sz="1150" dirty="0"/>
          </a:p>
          <a:p>
            <a:pPr marL="0" indent="0" algn="l">
              <a:lnSpc>
                <a:spcPct val="115000"/>
              </a:lnSpc>
              <a:buNone/>
            </a:pPr>
            <a:r>
              <a:rPr lang="en-US" sz="1150" b="1" dirty="0">
                <a:solidFill>
                  <a:srgbClr val="1A1A2E"/>
                </a:solidFill>
                <a:latin typeface="Calibri" pitchFamily="34" charset="0"/>
                <a:ea typeface="Calibri" pitchFamily="34" charset="-122"/>
                <a:cs typeface="Calibri" pitchFamily="34" charset="-120"/>
              </a:rPr>
              <a:t>(Recursion)</a:t>
            </a:r>
            <a:endParaRPr lang="en-US" sz="1150" dirty="0"/>
          </a:p>
        </p:txBody>
      </p:sp>
      <p:sp>
        <p:nvSpPr>
          <p:cNvPr id="16" name="Shape 14"/>
          <p:cNvSpPr/>
          <p:nvPr/>
        </p:nvSpPr>
        <p:spPr>
          <a:xfrm>
            <a:off x="2880360" y="2011680"/>
            <a:ext cx="3291840" cy="896112"/>
          </a:xfrm>
          <a:prstGeom prst="rect">
            <a:avLst/>
          </a:prstGeom>
          <a:solidFill>
            <a:srgbClr val="F7F9FC"/>
          </a:solidFill>
          <a:ln w="6350">
            <a:solidFill>
              <a:srgbClr val="DDE3EF"/>
            </a:solidFill>
            <a:prstDash val="solid"/>
          </a:ln>
        </p:spPr>
      </p:sp>
      <p:sp>
        <p:nvSpPr>
          <p:cNvPr id="17" name="Text 15"/>
          <p:cNvSpPr/>
          <p:nvPr/>
        </p:nvSpPr>
        <p:spPr>
          <a:xfrm>
            <a:off x="2953512" y="2011680"/>
            <a:ext cx="3145536" cy="896112"/>
          </a:xfrm>
          <a:prstGeom prst="rect">
            <a:avLst/>
          </a:prstGeom>
          <a:noFill/>
          <a:ln/>
        </p:spPr>
        <p:txBody>
          <a:bodyPr wrap="square" rtlCol="0" anchor="ctr"/>
          <a:lstStyle/>
          <a:p>
            <a:pPr marL="0" indent="0" algn="ctr">
              <a:lnSpc>
                <a:spcPct val="115000"/>
              </a:lnSpc>
              <a:buNone/>
            </a:pPr>
            <a:r>
              <a:rPr lang="en-US" sz="1150" dirty="0">
                <a:solidFill>
                  <a:srgbClr val="1A1A2E"/>
                </a:solidFill>
                <a:latin typeface="Calibri" pitchFamily="34" charset="0"/>
                <a:ea typeface="Calibri" pitchFamily="34" charset="-122"/>
                <a:cs typeface="Calibri" pitchFamily="34" charset="-120"/>
              </a:rPr>
              <a:t>Try every possible subsequence</a:t>
            </a:r>
            <a:endParaRPr lang="en-US" sz="1150" dirty="0"/>
          </a:p>
        </p:txBody>
      </p:sp>
      <p:sp>
        <p:nvSpPr>
          <p:cNvPr id="18" name="Shape 16"/>
          <p:cNvSpPr/>
          <p:nvPr/>
        </p:nvSpPr>
        <p:spPr>
          <a:xfrm>
            <a:off x="6172200" y="2011680"/>
            <a:ext cx="1600200" cy="896112"/>
          </a:xfrm>
          <a:prstGeom prst="rect">
            <a:avLst/>
          </a:prstGeom>
          <a:solidFill>
            <a:srgbClr val="F7F9FC"/>
          </a:solidFill>
          <a:ln w="6350">
            <a:solidFill>
              <a:srgbClr val="DDE3EF"/>
            </a:solidFill>
            <a:prstDash val="solid"/>
          </a:ln>
        </p:spPr>
      </p:sp>
      <p:sp>
        <p:nvSpPr>
          <p:cNvPr id="19" name="Text 17"/>
          <p:cNvSpPr/>
          <p:nvPr/>
        </p:nvSpPr>
        <p:spPr>
          <a:xfrm>
            <a:off x="6245352" y="2011680"/>
            <a:ext cx="1453896" cy="896112"/>
          </a:xfrm>
          <a:prstGeom prst="rect">
            <a:avLst/>
          </a:prstGeom>
          <a:noFill/>
          <a:ln/>
        </p:spPr>
        <p:txBody>
          <a:bodyPr wrap="square" rtlCol="0" anchor="ctr"/>
          <a:lstStyle/>
          <a:p>
            <a:pPr marL="0" indent="0" algn="ctr">
              <a:lnSpc>
                <a:spcPct val="115000"/>
              </a:lnSpc>
              <a:buNone/>
            </a:pPr>
            <a:r>
              <a:rPr lang="en-US" sz="1150" b="1" dirty="0">
                <a:solidFill>
                  <a:srgbClr val="1E2761"/>
                </a:solidFill>
                <a:latin typeface="Courier New" pitchFamily="34" charset="0"/>
                <a:ea typeface="Courier New" pitchFamily="34" charset="-122"/>
                <a:cs typeface="Courier New" pitchFamily="34" charset="-120"/>
              </a:rPr>
              <a:t>O(2ⁿ)</a:t>
            </a:r>
            <a:endParaRPr lang="en-US" sz="1150" dirty="0"/>
          </a:p>
        </p:txBody>
      </p:sp>
      <p:sp>
        <p:nvSpPr>
          <p:cNvPr id="20" name="Shape 18"/>
          <p:cNvSpPr/>
          <p:nvPr/>
        </p:nvSpPr>
        <p:spPr>
          <a:xfrm>
            <a:off x="7772400" y="2011680"/>
            <a:ext cx="1737360" cy="896112"/>
          </a:xfrm>
          <a:prstGeom prst="rect">
            <a:avLst/>
          </a:prstGeom>
          <a:solidFill>
            <a:srgbClr val="F7F9FC"/>
          </a:solidFill>
          <a:ln w="6350">
            <a:solidFill>
              <a:srgbClr val="DDE3EF"/>
            </a:solidFill>
            <a:prstDash val="solid"/>
          </a:ln>
        </p:spPr>
      </p:sp>
      <p:sp>
        <p:nvSpPr>
          <p:cNvPr id="21" name="Text 19"/>
          <p:cNvSpPr/>
          <p:nvPr/>
        </p:nvSpPr>
        <p:spPr>
          <a:xfrm>
            <a:off x="7845552" y="2011680"/>
            <a:ext cx="1591056" cy="896112"/>
          </a:xfrm>
          <a:prstGeom prst="rect">
            <a:avLst/>
          </a:prstGeom>
          <a:noFill/>
          <a:ln/>
        </p:spPr>
        <p:txBody>
          <a:bodyPr wrap="square" rtlCol="0" anchor="ctr"/>
          <a:lstStyle/>
          <a:p>
            <a:pPr marL="0" indent="0" algn="ctr">
              <a:lnSpc>
                <a:spcPct val="115000"/>
              </a:lnSpc>
              <a:buNone/>
            </a:pPr>
            <a:r>
              <a:rPr lang="en-US" sz="1150" dirty="0">
                <a:solidFill>
                  <a:srgbClr val="1A1A2E"/>
                </a:solidFill>
                <a:latin typeface="Calibri" pitchFamily="34" charset="0"/>
                <a:ea typeface="Calibri" pitchFamily="34" charset="-122"/>
                <a:cs typeface="Calibri" pitchFamily="34" charset="-120"/>
              </a:rPr>
              <a:t>O(n)</a:t>
            </a:r>
            <a:endParaRPr lang="en-US" sz="1150" dirty="0"/>
          </a:p>
        </p:txBody>
      </p:sp>
      <p:sp>
        <p:nvSpPr>
          <p:cNvPr id="22" name="Shape 20"/>
          <p:cNvSpPr/>
          <p:nvPr/>
        </p:nvSpPr>
        <p:spPr>
          <a:xfrm>
            <a:off x="9509760" y="2011680"/>
            <a:ext cx="2130552" cy="896112"/>
          </a:xfrm>
          <a:prstGeom prst="rect">
            <a:avLst/>
          </a:prstGeom>
          <a:solidFill>
            <a:srgbClr val="F7F9FC"/>
          </a:solidFill>
          <a:ln w="6350">
            <a:solidFill>
              <a:srgbClr val="DDE3EF"/>
            </a:solidFill>
            <a:prstDash val="solid"/>
          </a:ln>
        </p:spPr>
      </p:sp>
      <p:sp>
        <p:nvSpPr>
          <p:cNvPr id="23" name="Text 21"/>
          <p:cNvSpPr/>
          <p:nvPr/>
        </p:nvSpPr>
        <p:spPr>
          <a:xfrm>
            <a:off x="9582912" y="2011680"/>
            <a:ext cx="1984248" cy="896112"/>
          </a:xfrm>
          <a:prstGeom prst="rect">
            <a:avLst/>
          </a:prstGeom>
          <a:noFill/>
          <a:ln/>
        </p:spPr>
        <p:txBody>
          <a:bodyPr wrap="square" rtlCol="0" anchor="ctr"/>
          <a:lstStyle/>
          <a:p>
            <a:pPr marL="0" indent="0" algn="ctr">
              <a:lnSpc>
                <a:spcPct val="115000"/>
              </a:lnSpc>
              <a:buNone/>
            </a:pPr>
            <a:r>
              <a:rPr lang="en-US" sz="1150" dirty="0">
                <a:solidFill>
                  <a:srgbClr val="1A1A2E"/>
                </a:solidFill>
                <a:latin typeface="Calibri" pitchFamily="34" charset="0"/>
                <a:ea typeface="Calibri" pitchFamily="34" charset="-122"/>
                <a:cs typeface="Calibri" pitchFamily="34" charset="-120"/>
              </a:rPr>
              <a:t>Yes, but impractical</a:t>
            </a:r>
            <a:endParaRPr lang="en-US" sz="1150" dirty="0"/>
          </a:p>
        </p:txBody>
      </p:sp>
      <p:sp>
        <p:nvSpPr>
          <p:cNvPr id="24" name="Shape 22"/>
          <p:cNvSpPr/>
          <p:nvPr/>
        </p:nvSpPr>
        <p:spPr>
          <a:xfrm>
            <a:off x="548640" y="2907792"/>
            <a:ext cx="2331720" cy="896112"/>
          </a:xfrm>
          <a:prstGeom prst="rect">
            <a:avLst/>
          </a:prstGeom>
          <a:solidFill>
            <a:srgbClr val="EAF0FB"/>
          </a:solidFill>
          <a:ln w="6350">
            <a:solidFill>
              <a:srgbClr val="DDE3EF"/>
            </a:solidFill>
            <a:prstDash val="solid"/>
          </a:ln>
        </p:spPr>
      </p:sp>
      <p:sp>
        <p:nvSpPr>
          <p:cNvPr id="25" name="Text 23"/>
          <p:cNvSpPr/>
          <p:nvPr/>
        </p:nvSpPr>
        <p:spPr>
          <a:xfrm>
            <a:off x="621792" y="2907792"/>
            <a:ext cx="2185416" cy="896112"/>
          </a:xfrm>
          <a:prstGeom prst="rect">
            <a:avLst/>
          </a:prstGeom>
          <a:noFill/>
          <a:ln/>
        </p:spPr>
        <p:txBody>
          <a:bodyPr wrap="square" rtlCol="0" anchor="ctr"/>
          <a:lstStyle/>
          <a:p>
            <a:pPr marL="0" indent="0" algn="l">
              <a:lnSpc>
                <a:spcPct val="115000"/>
              </a:lnSpc>
              <a:buNone/>
            </a:pPr>
            <a:r>
              <a:rPr lang="en-US" sz="1150" b="1" dirty="0">
                <a:solidFill>
                  <a:srgbClr val="1A1A2E"/>
                </a:solidFill>
                <a:latin typeface="Calibri" pitchFamily="34" charset="0"/>
                <a:ea typeface="Calibri" pitchFamily="34" charset="-122"/>
                <a:cs typeface="Calibri" pitchFamily="34" charset="-120"/>
              </a:rPr>
              <a:t>DP — Top-Down</a:t>
            </a:r>
            <a:endParaRPr lang="en-US" sz="1150" dirty="0"/>
          </a:p>
          <a:p>
            <a:pPr marL="0" indent="0" algn="l">
              <a:lnSpc>
                <a:spcPct val="115000"/>
              </a:lnSpc>
              <a:buNone/>
            </a:pPr>
            <a:r>
              <a:rPr lang="en-US" sz="1150" b="1" dirty="0">
                <a:solidFill>
                  <a:srgbClr val="1A1A2E"/>
                </a:solidFill>
                <a:latin typeface="Calibri" pitchFamily="34" charset="0"/>
                <a:ea typeface="Calibri" pitchFamily="34" charset="-122"/>
                <a:cs typeface="Calibri" pitchFamily="34" charset="-120"/>
              </a:rPr>
              <a:t>(Memoization)</a:t>
            </a:r>
            <a:endParaRPr lang="en-US" sz="1150" dirty="0"/>
          </a:p>
        </p:txBody>
      </p:sp>
      <p:sp>
        <p:nvSpPr>
          <p:cNvPr id="26" name="Shape 24"/>
          <p:cNvSpPr/>
          <p:nvPr/>
        </p:nvSpPr>
        <p:spPr>
          <a:xfrm>
            <a:off x="2880360" y="2907792"/>
            <a:ext cx="3291840" cy="896112"/>
          </a:xfrm>
          <a:prstGeom prst="rect">
            <a:avLst/>
          </a:prstGeom>
          <a:solidFill>
            <a:srgbClr val="EAF0FB"/>
          </a:solidFill>
          <a:ln w="6350">
            <a:solidFill>
              <a:srgbClr val="DDE3EF"/>
            </a:solidFill>
            <a:prstDash val="solid"/>
          </a:ln>
        </p:spPr>
      </p:sp>
      <p:sp>
        <p:nvSpPr>
          <p:cNvPr id="27" name="Text 25"/>
          <p:cNvSpPr/>
          <p:nvPr/>
        </p:nvSpPr>
        <p:spPr>
          <a:xfrm>
            <a:off x="2953512" y="2907792"/>
            <a:ext cx="3145536" cy="896112"/>
          </a:xfrm>
          <a:prstGeom prst="rect">
            <a:avLst/>
          </a:prstGeom>
          <a:noFill/>
          <a:ln/>
        </p:spPr>
        <p:txBody>
          <a:bodyPr wrap="square" rtlCol="0" anchor="ctr"/>
          <a:lstStyle/>
          <a:p>
            <a:pPr marL="0" indent="0" algn="ctr">
              <a:lnSpc>
                <a:spcPct val="115000"/>
              </a:lnSpc>
              <a:buNone/>
            </a:pPr>
            <a:r>
              <a:rPr lang="en-US" sz="1150" dirty="0">
                <a:solidFill>
                  <a:srgbClr val="1A1A2E"/>
                </a:solidFill>
                <a:latin typeface="Calibri" pitchFamily="34" charset="0"/>
                <a:ea typeface="Calibri" pitchFamily="34" charset="-122"/>
                <a:cs typeface="Calibri" pitchFamily="34" charset="-120"/>
              </a:rPr>
              <a:t>Recurse + cache each subproblem once</a:t>
            </a:r>
            <a:endParaRPr lang="en-US" sz="1150" dirty="0"/>
          </a:p>
        </p:txBody>
      </p:sp>
      <p:sp>
        <p:nvSpPr>
          <p:cNvPr id="28" name="Shape 26"/>
          <p:cNvSpPr/>
          <p:nvPr/>
        </p:nvSpPr>
        <p:spPr>
          <a:xfrm>
            <a:off x="6172200" y="2907792"/>
            <a:ext cx="1600200" cy="896112"/>
          </a:xfrm>
          <a:prstGeom prst="rect">
            <a:avLst/>
          </a:prstGeom>
          <a:solidFill>
            <a:srgbClr val="EAF0FB"/>
          </a:solidFill>
          <a:ln w="6350">
            <a:solidFill>
              <a:srgbClr val="DDE3EF"/>
            </a:solidFill>
            <a:prstDash val="solid"/>
          </a:ln>
        </p:spPr>
      </p:sp>
      <p:sp>
        <p:nvSpPr>
          <p:cNvPr id="29" name="Text 27"/>
          <p:cNvSpPr/>
          <p:nvPr/>
        </p:nvSpPr>
        <p:spPr>
          <a:xfrm>
            <a:off x="6245352" y="2907792"/>
            <a:ext cx="1453896" cy="896112"/>
          </a:xfrm>
          <a:prstGeom prst="rect">
            <a:avLst/>
          </a:prstGeom>
          <a:noFill/>
          <a:ln/>
        </p:spPr>
        <p:txBody>
          <a:bodyPr wrap="square" rtlCol="0" anchor="ctr"/>
          <a:lstStyle/>
          <a:p>
            <a:pPr marL="0" indent="0" algn="ctr">
              <a:lnSpc>
                <a:spcPct val="115000"/>
              </a:lnSpc>
              <a:buNone/>
            </a:pPr>
            <a:r>
              <a:rPr lang="en-US" sz="1150" b="1" dirty="0">
                <a:solidFill>
                  <a:srgbClr val="1E2761"/>
                </a:solidFill>
                <a:latin typeface="Courier New" pitchFamily="34" charset="0"/>
                <a:ea typeface="Courier New" pitchFamily="34" charset="-122"/>
                <a:cs typeface="Courier New" pitchFamily="34" charset="-120"/>
              </a:rPr>
              <a:t>O(n²)</a:t>
            </a:r>
            <a:endParaRPr lang="en-US" sz="1150" dirty="0"/>
          </a:p>
        </p:txBody>
      </p:sp>
      <p:sp>
        <p:nvSpPr>
          <p:cNvPr id="30" name="Shape 28"/>
          <p:cNvSpPr/>
          <p:nvPr/>
        </p:nvSpPr>
        <p:spPr>
          <a:xfrm>
            <a:off x="7772400" y="2907792"/>
            <a:ext cx="1737360" cy="896112"/>
          </a:xfrm>
          <a:prstGeom prst="rect">
            <a:avLst/>
          </a:prstGeom>
          <a:solidFill>
            <a:srgbClr val="EAF0FB"/>
          </a:solidFill>
          <a:ln w="6350">
            <a:solidFill>
              <a:srgbClr val="DDE3EF"/>
            </a:solidFill>
            <a:prstDash val="solid"/>
          </a:ln>
        </p:spPr>
      </p:sp>
      <p:sp>
        <p:nvSpPr>
          <p:cNvPr id="31" name="Text 29"/>
          <p:cNvSpPr/>
          <p:nvPr/>
        </p:nvSpPr>
        <p:spPr>
          <a:xfrm>
            <a:off x="7845552" y="2907792"/>
            <a:ext cx="1591056" cy="896112"/>
          </a:xfrm>
          <a:prstGeom prst="rect">
            <a:avLst/>
          </a:prstGeom>
          <a:noFill/>
          <a:ln/>
        </p:spPr>
        <p:txBody>
          <a:bodyPr wrap="square" rtlCol="0" anchor="ctr"/>
          <a:lstStyle/>
          <a:p>
            <a:pPr marL="0" indent="0" algn="ctr">
              <a:lnSpc>
                <a:spcPct val="115000"/>
              </a:lnSpc>
              <a:buNone/>
            </a:pPr>
            <a:r>
              <a:rPr lang="en-US" sz="1150" dirty="0">
                <a:solidFill>
                  <a:srgbClr val="1A1A2E"/>
                </a:solidFill>
                <a:latin typeface="Calibri" pitchFamily="34" charset="0"/>
                <a:ea typeface="Calibri" pitchFamily="34" charset="-122"/>
                <a:cs typeface="Calibri" pitchFamily="34" charset="-120"/>
              </a:rPr>
              <a:t>O(n)</a:t>
            </a:r>
            <a:endParaRPr lang="en-US" sz="1150" dirty="0"/>
          </a:p>
          <a:p>
            <a:pPr marL="0" indent="0" algn="ctr">
              <a:lnSpc>
                <a:spcPct val="115000"/>
              </a:lnSpc>
              <a:buNone/>
            </a:pPr>
            <a:r>
              <a:rPr lang="en-US" sz="1150" dirty="0">
                <a:solidFill>
                  <a:srgbClr val="1A1A2E"/>
                </a:solidFill>
                <a:latin typeface="Calibri" pitchFamily="34" charset="0"/>
                <a:ea typeface="Calibri" pitchFamily="34" charset="-122"/>
                <a:cs typeface="Calibri" pitchFamily="34" charset="-120"/>
              </a:rPr>
              <a:t>+ call stack</a:t>
            </a:r>
            <a:endParaRPr lang="en-US" sz="1150" dirty="0"/>
          </a:p>
        </p:txBody>
      </p:sp>
      <p:sp>
        <p:nvSpPr>
          <p:cNvPr id="32" name="Shape 30"/>
          <p:cNvSpPr/>
          <p:nvPr/>
        </p:nvSpPr>
        <p:spPr>
          <a:xfrm>
            <a:off x="9509760" y="2907792"/>
            <a:ext cx="2130552" cy="896112"/>
          </a:xfrm>
          <a:prstGeom prst="rect">
            <a:avLst/>
          </a:prstGeom>
          <a:solidFill>
            <a:srgbClr val="EAF0FB"/>
          </a:solidFill>
          <a:ln w="6350">
            <a:solidFill>
              <a:srgbClr val="DDE3EF"/>
            </a:solidFill>
            <a:prstDash val="solid"/>
          </a:ln>
        </p:spPr>
      </p:sp>
      <p:sp>
        <p:nvSpPr>
          <p:cNvPr id="33" name="Text 31"/>
          <p:cNvSpPr/>
          <p:nvPr/>
        </p:nvSpPr>
        <p:spPr>
          <a:xfrm>
            <a:off x="9582912" y="2907792"/>
            <a:ext cx="1984248" cy="896112"/>
          </a:xfrm>
          <a:prstGeom prst="rect">
            <a:avLst/>
          </a:prstGeom>
          <a:noFill/>
          <a:ln/>
        </p:spPr>
        <p:txBody>
          <a:bodyPr wrap="square" rtlCol="0" anchor="ctr"/>
          <a:lstStyle/>
          <a:p>
            <a:pPr marL="0" indent="0" algn="ctr">
              <a:lnSpc>
                <a:spcPct val="115000"/>
              </a:lnSpc>
              <a:buNone/>
            </a:pPr>
            <a:r>
              <a:rPr lang="en-US" sz="1150" dirty="0">
                <a:solidFill>
                  <a:srgbClr val="1A1A2E"/>
                </a:solidFill>
                <a:latin typeface="Calibri" pitchFamily="34" charset="0"/>
                <a:ea typeface="Calibri" pitchFamily="34" charset="-122"/>
                <a:cs typeface="Calibri" pitchFamily="34" charset="-120"/>
              </a:rPr>
              <a:t>Yes, with extra tracking</a:t>
            </a:r>
            <a:endParaRPr lang="en-US" sz="1150" dirty="0"/>
          </a:p>
        </p:txBody>
      </p:sp>
      <p:sp>
        <p:nvSpPr>
          <p:cNvPr id="34" name="Shape 32"/>
          <p:cNvSpPr/>
          <p:nvPr/>
        </p:nvSpPr>
        <p:spPr>
          <a:xfrm>
            <a:off x="548640" y="3803904"/>
            <a:ext cx="2331720" cy="896112"/>
          </a:xfrm>
          <a:prstGeom prst="rect">
            <a:avLst/>
          </a:prstGeom>
          <a:solidFill>
            <a:srgbClr val="EAF0FB"/>
          </a:solidFill>
          <a:ln w="6350">
            <a:solidFill>
              <a:srgbClr val="DDE3EF"/>
            </a:solidFill>
            <a:prstDash val="solid"/>
          </a:ln>
        </p:spPr>
      </p:sp>
      <p:sp>
        <p:nvSpPr>
          <p:cNvPr id="35" name="Text 33"/>
          <p:cNvSpPr/>
          <p:nvPr/>
        </p:nvSpPr>
        <p:spPr>
          <a:xfrm>
            <a:off x="621792" y="3803904"/>
            <a:ext cx="2185416" cy="896112"/>
          </a:xfrm>
          <a:prstGeom prst="rect">
            <a:avLst/>
          </a:prstGeom>
          <a:noFill/>
          <a:ln/>
        </p:spPr>
        <p:txBody>
          <a:bodyPr wrap="square" rtlCol="0" anchor="ctr"/>
          <a:lstStyle/>
          <a:p>
            <a:pPr marL="0" indent="0" algn="l">
              <a:lnSpc>
                <a:spcPct val="115000"/>
              </a:lnSpc>
              <a:buNone/>
            </a:pPr>
            <a:r>
              <a:rPr lang="en-US" sz="1150" b="1" dirty="0">
                <a:solidFill>
                  <a:srgbClr val="1A1A2E"/>
                </a:solidFill>
                <a:latin typeface="Calibri" pitchFamily="34" charset="0"/>
                <a:ea typeface="Calibri" pitchFamily="34" charset="-122"/>
                <a:cs typeface="Calibri" pitchFamily="34" charset="-120"/>
              </a:rPr>
              <a:t>DP — Bottom-Up</a:t>
            </a:r>
            <a:endParaRPr lang="en-US" sz="1150" dirty="0"/>
          </a:p>
          <a:p>
            <a:pPr marL="0" indent="0" algn="l">
              <a:lnSpc>
                <a:spcPct val="115000"/>
              </a:lnSpc>
              <a:buNone/>
            </a:pPr>
            <a:r>
              <a:rPr lang="en-US" sz="1150" b="1" dirty="0">
                <a:solidFill>
                  <a:srgbClr val="1A1A2E"/>
                </a:solidFill>
                <a:latin typeface="Calibri" pitchFamily="34" charset="0"/>
                <a:ea typeface="Calibri" pitchFamily="34" charset="-122"/>
                <a:cs typeface="Calibri" pitchFamily="34" charset="-120"/>
              </a:rPr>
              <a:t>(Tabulation)</a:t>
            </a:r>
            <a:endParaRPr lang="en-US" sz="1150" dirty="0"/>
          </a:p>
        </p:txBody>
      </p:sp>
      <p:sp>
        <p:nvSpPr>
          <p:cNvPr id="36" name="Shape 34"/>
          <p:cNvSpPr/>
          <p:nvPr/>
        </p:nvSpPr>
        <p:spPr>
          <a:xfrm>
            <a:off x="2880360" y="3803904"/>
            <a:ext cx="3291840" cy="896112"/>
          </a:xfrm>
          <a:prstGeom prst="rect">
            <a:avLst/>
          </a:prstGeom>
          <a:solidFill>
            <a:srgbClr val="EAF0FB"/>
          </a:solidFill>
          <a:ln w="6350">
            <a:solidFill>
              <a:srgbClr val="DDE3EF"/>
            </a:solidFill>
            <a:prstDash val="solid"/>
          </a:ln>
        </p:spPr>
      </p:sp>
      <p:sp>
        <p:nvSpPr>
          <p:cNvPr id="37" name="Text 35"/>
          <p:cNvSpPr/>
          <p:nvPr/>
        </p:nvSpPr>
        <p:spPr>
          <a:xfrm>
            <a:off x="2953512" y="3803904"/>
            <a:ext cx="3145536" cy="896112"/>
          </a:xfrm>
          <a:prstGeom prst="rect">
            <a:avLst/>
          </a:prstGeom>
          <a:noFill/>
          <a:ln/>
        </p:spPr>
        <p:txBody>
          <a:bodyPr wrap="square" rtlCol="0" anchor="ctr"/>
          <a:lstStyle/>
          <a:p>
            <a:pPr marL="0" indent="0" algn="ctr">
              <a:lnSpc>
                <a:spcPct val="115000"/>
              </a:lnSpc>
              <a:buNone/>
            </a:pPr>
            <a:r>
              <a:rPr lang="en-US" sz="1150" dirty="0">
                <a:solidFill>
                  <a:srgbClr val="1A1A2E"/>
                </a:solidFill>
                <a:latin typeface="Calibri" pitchFamily="34" charset="0"/>
                <a:ea typeface="Calibri" pitchFamily="34" charset="-122"/>
                <a:cs typeface="Calibri" pitchFamily="34" charset="-120"/>
              </a:rPr>
              <a:t>Iteratively fill dp[] left to right</a:t>
            </a:r>
            <a:endParaRPr lang="en-US" sz="1150" dirty="0"/>
          </a:p>
        </p:txBody>
      </p:sp>
      <p:sp>
        <p:nvSpPr>
          <p:cNvPr id="38" name="Shape 36"/>
          <p:cNvSpPr/>
          <p:nvPr/>
        </p:nvSpPr>
        <p:spPr>
          <a:xfrm>
            <a:off x="6172200" y="3803904"/>
            <a:ext cx="1600200" cy="896112"/>
          </a:xfrm>
          <a:prstGeom prst="rect">
            <a:avLst/>
          </a:prstGeom>
          <a:solidFill>
            <a:srgbClr val="EAF0FB"/>
          </a:solidFill>
          <a:ln w="6350">
            <a:solidFill>
              <a:srgbClr val="DDE3EF"/>
            </a:solidFill>
            <a:prstDash val="solid"/>
          </a:ln>
        </p:spPr>
      </p:sp>
      <p:sp>
        <p:nvSpPr>
          <p:cNvPr id="39" name="Text 37"/>
          <p:cNvSpPr/>
          <p:nvPr/>
        </p:nvSpPr>
        <p:spPr>
          <a:xfrm>
            <a:off x="6245352" y="3803904"/>
            <a:ext cx="1453896" cy="896112"/>
          </a:xfrm>
          <a:prstGeom prst="rect">
            <a:avLst/>
          </a:prstGeom>
          <a:noFill/>
          <a:ln/>
        </p:spPr>
        <p:txBody>
          <a:bodyPr wrap="square" rtlCol="0" anchor="ctr"/>
          <a:lstStyle/>
          <a:p>
            <a:pPr marL="0" indent="0" algn="ctr">
              <a:lnSpc>
                <a:spcPct val="115000"/>
              </a:lnSpc>
              <a:buNone/>
            </a:pPr>
            <a:r>
              <a:rPr lang="en-US" sz="1150" b="1" dirty="0">
                <a:solidFill>
                  <a:srgbClr val="1E2761"/>
                </a:solidFill>
                <a:latin typeface="Courier New" pitchFamily="34" charset="0"/>
                <a:ea typeface="Courier New" pitchFamily="34" charset="-122"/>
                <a:cs typeface="Courier New" pitchFamily="34" charset="-120"/>
              </a:rPr>
              <a:t>O(n²)</a:t>
            </a:r>
            <a:endParaRPr lang="en-US" sz="1150" dirty="0"/>
          </a:p>
        </p:txBody>
      </p:sp>
      <p:sp>
        <p:nvSpPr>
          <p:cNvPr id="40" name="Shape 38"/>
          <p:cNvSpPr/>
          <p:nvPr/>
        </p:nvSpPr>
        <p:spPr>
          <a:xfrm>
            <a:off x="7772400" y="3803904"/>
            <a:ext cx="1737360" cy="896112"/>
          </a:xfrm>
          <a:prstGeom prst="rect">
            <a:avLst/>
          </a:prstGeom>
          <a:solidFill>
            <a:srgbClr val="EAF0FB"/>
          </a:solidFill>
          <a:ln w="6350">
            <a:solidFill>
              <a:srgbClr val="DDE3EF"/>
            </a:solidFill>
            <a:prstDash val="solid"/>
          </a:ln>
        </p:spPr>
      </p:sp>
      <p:sp>
        <p:nvSpPr>
          <p:cNvPr id="41" name="Text 39"/>
          <p:cNvSpPr/>
          <p:nvPr/>
        </p:nvSpPr>
        <p:spPr>
          <a:xfrm>
            <a:off x="7845552" y="3803904"/>
            <a:ext cx="1591056" cy="896112"/>
          </a:xfrm>
          <a:prstGeom prst="rect">
            <a:avLst/>
          </a:prstGeom>
          <a:noFill/>
          <a:ln/>
        </p:spPr>
        <p:txBody>
          <a:bodyPr wrap="square" rtlCol="0" anchor="ctr"/>
          <a:lstStyle/>
          <a:p>
            <a:pPr marL="0" indent="0" algn="ctr">
              <a:lnSpc>
                <a:spcPct val="115000"/>
              </a:lnSpc>
              <a:buNone/>
            </a:pPr>
            <a:r>
              <a:rPr lang="en-US" sz="1150" dirty="0">
                <a:solidFill>
                  <a:srgbClr val="1A1A2E"/>
                </a:solidFill>
                <a:latin typeface="Calibri" pitchFamily="34" charset="0"/>
                <a:ea typeface="Calibri" pitchFamily="34" charset="-122"/>
                <a:cs typeface="Calibri" pitchFamily="34" charset="-120"/>
              </a:rPr>
              <a:t>O(n)</a:t>
            </a:r>
            <a:endParaRPr lang="en-US" sz="1150" dirty="0"/>
          </a:p>
        </p:txBody>
      </p:sp>
      <p:sp>
        <p:nvSpPr>
          <p:cNvPr id="42" name="Shape 40"/>
          <p:cNvSpPr/>
          <p:nvPr/>
        </p:nvSpPr>
        <p:spPr>
          <a:xfrm>
            <a:off x="9509760" y="3803904"/>
            <a:ext cx="2130552" cy="896112"/>
          </a:xfrm>
          <a:prstGeom prst="rect">
            <a:avLst/>
          </a:prstGeom>
          <a:solidFill>
            <a:srgbClr val="EAF0FB"/>
          </a:solidFill>
          <a:ln w="6350">
            <a:solidFill>
              <a:srgbClr val="DDE3EF"/>
            </a:solidFill>
            <a:prstDash val="solid"/>
          </a:ln>
        </p:spPr>
      </p:sp>
      <p:sp>
        <p:nvSpPr>
          <p:cNvPr id="43" name="Text 41"/>
          <p:cNvSpPr/>
          <p:nvPr/>
        </p:nvSpPr>
        <p:spPr>
          <a:xfrm>
            <a:off x="9582912" y="3803904"/>
            <a:ext cx="1984248" cy="896112"/>
          </a:xfrm>
          <a:prstGeom prst="rect">
            <a:avLst/>
          </a:prstGeom>
          <a:noFill/>
          <a:ln/>
        </p:spPr>
        <p:txBody>
          <a:bodyPr wrap="square" rtlCol="0" anchor="ctr"/>
          <a:lstStyle/>
          <a:p>
            <a:pPr marL="0" indent="0" algn="ctr">
              <a:lnSpc>
                <a:spcPct val="115000"/>
              </a:lnSpc>
              <a:buNone/>
            </a:pPr>
            <a:r>
              <a:rPr lang="en-US" sz="1150" dirty="0">
                <a:solidFill>
                  <a:srgbClr val="1A1A2E"/>
                </a:solidFill>
                <a:latin typeface="Calibri" pitchFamily="34" charset="0"/>
                <a:ea typeface="Calibri" pitchFamily="34" charset="-122"/>
                <a:cs typeface="Calibri" pitchFamily="34" charset="-120"/>
              </a:rPr>
              <a:t>Yes — via parent[]</a:t>
            </a:r>
            <a:endParaRPr lang="en-US" sz="1150" dirty="0"/>
          </a:p>
        </p:txBody>
      </p:sp>
      <p:sp>
        <p:nvSpPr>
          <p:cNvPr id="44" name="Shape 42"/>
          <p:cNvSpPr/>
          <p:nvPr/>
        </p:nvSpPr>
        <p:spPr>
          <a:xfrm>
            <a:off x="548640" y="4700016"/>
            <a:ext cx="2331720" cy="896112"/>
          </a:xfrm>
          <a:prstGeom prst="rect">
            <a:avLst/>
          </a:prstGeom>
          <a:solidFill>
            <a:srgbClr val="FFFFFF"/>
          </a:solidFill>
          <a:ln w="6350">
            <a:solidFill>
              <a:srgbClr val="DDE3EF"/>
            </a:solidFill>
            <a:prstDash val="solid"/>
          </a:ln>
        </p:spPr>
      </p:sp>
      <p:sp>
        <p:nvSpPr>
          <p:cNvPr id="45" name="Text 43"/>
          <p:cNvSpPr/>
          <p:nvPr/>
        </p:nvSpPr>
        <p:spPr>
          <a:xfrm>
            <a:off x="621792" y="4700016"/>
            <a:ext cx="2185416" cy="896112"/>
          </a:xfrm>
          <a:prstGeom prst="rect">
            <a:avLst/>
          </a:prstGeom>
          <a:noFill/>
          <a:ln/>
        </p:spPr>
        <p:txBody>
          <a:bodyPr wrap="square" rtlCol="0" anchor="ctr"/>
          <a:lstStyle/>
          <a:p>
            <a:pPr marL="0" indent="0" algn="l">
              <a:lnSpc>
                <a:spcPct val="115000"/>
              </a:lnSpc>
              <a:buNone/>
            </a:pPr>
            <a:r>
              <a:rPr lang="en-US" sz="1150" b="1" dirty="0">
                <a:solidFill>
                  <a:srgbClr val="1A1A2E"/>
                </a:solidFill>
                <a:latin typeface="Calibri" pitchFamily="34" charset="0"/>
                <a:ea typeface="Calibri" pitchFamily="34" charset="-122"/>
                <a:cs typeface="Calibri" pitchFamily="34" charset="-120"/>
              </a:rPr>
              <a:t>Binary Search</a:t>
            </a:r>
            <a:endParaRPr lang="en-US" sz="1150" dirty="0"/>
          </a:p>
          <a:p>
            <a:pPr marL="0" indent="0" algn="l">
              <a:lnSpc>
                <a:spcPct val="115000"/>
              </a:lnSpc>
              <a:buNone/>
            </a:pPr>
            <a:endParaRPr lang="en-US" sz="1150" dirty="0"/>
          </a:p>
        </p:txBody>
      </p:sp>
      <p:sp>
        <p:nvSpPr>
          <p:cNvPr id="46" name="Shape 44"/>
          <p:cNvSpPr/>
          <p:nvPr/>
        </p:nvSpPr>
        <p:spPr>
          <a:xfrm>
            <a:off x="2880360" y="4700016"/>
            <a:ext cx="3291840" cy="896112"/>
          </a:xfrm>
          <a:prstGeom prst="rect">
            <a:avLst/>
          </a:prstGeom>
          <a:solidFill>
            <a:srgbClr val="FFFFFF"/>
          </a:solidFill>
          <a:ln w="6350">
            <a:solidFill>
              <a:srgbClr val="DDE3EF"/>
            </a:solidFill>
            <a:prstDash val="solid"/>
          </a:ln>
        </p:spPr>
      </p:sp>
      <p:sp>
        <p:nvSpPr>
          <p:cNvPr id="47" name="Text 45"/>
          <p:cNvSpPr/>
          <p:nvPr/>
        </p:nvSpPr>
        <p:spPr>
          <a:xfrm>
            <a:off x="2953512" y="4700016"/>
            <a:ext cx="3145536" cy="896112"/>
          </a:xfrm>
          <a:prstGeom prst="rect">
            <a:avLst/>
          </a:prstGeom>
          <a:noFill/>
          <a:ln/>
        </p:spPr>
        <p:txBody>
          <a:bodyPr wrap="square" rtlCol="0" anchor="ctr"/>
          <a:lstStyle/>
          <a:p>
            <a:pPr marL="0" indent="0" algn="ctr">
              <a:lnSpc>
                <a:spcPct val="115000"/>
              </a:lnSpc>
              <a:buNone/>
            </a:pPr>
            <a:r>
              <a:rPr lang="en-US" sz="1150" dirty="0">
                <a:solidFill>
                  <a:srgbClr val="1A1A2E"/>
                </a:solidFill>
                <a:latin typeface="Calibri" pitchFamily="34" charset="0"/>
                <a:ea typeface="Calibri" pitchFamily="34" charset="-122"/>
                <a:cs typeface="Calibri" pitchFamily="34" charset="-120"/>
              </a:rPr>
              <a:t>Maintain smallest tail per length</a:t>
            </a:r>
            <a:endParaRPr lang="en-US" sz="1150" dirty="0"/>
          </a:p>
        </p:txBody>
      </p:sp>
      <p:sp>
        <p:nvSpPr>
          <p:cNvPr id="48" name="Shape 46"/>
          <p:cNvSpPr/>
          <p:nvPr/>
        </p:nvSpPr>
        <p:spPr>
          <a:xfrm>
            <a:off x="6172200" y="4700016"/>
            <a:ext cx="1600200" cy="896112"/>
          </a:xfrm>
          <a:prstGeom prst="rect">
            <a:avLst/>
          </a:prstGeom>
          <a:solidFill>
            <a:srgbClr val="FFFFFF"/>
          </a:solidFill>
          <a:ln w="6350">
            <a:solidFill>
              <a:srgbClr val="DDE3EF"/>
            </a:solidFill>
            <a:prstDash val="solid"/>
          </a:ln>
        </p:spPr>
      </p:sp>
      <p:sp>
        <p:nvSpPr>
          <p:cNvPr id="49" name="Text 47"/>
          <p:cNvSpPr/>
          <p:nvPr/>
        </p:nvSpPr>
        <p:spPr>
          <a:xfrm>
            <a:off x="6245352" y="4700016"/>
            <a:ext cx="1453896" cy="896112"/>
          </a:xfrm>
          <a:prstGeom prst="rect">
            <a:avLst/>
          </a:prstGeom>
          <a:noFill/>
          <a:ln/>
        </p:spPr>
        <p:txBody>
          <a:bodyPr wrap="square" rtlCol="0" anchor="ctr"/>
          <a:lstStyle/>
          <a:p>
            <a:pPr marL="0" indent="0" algn="ctr">
              <a:lnSpc>
                <a:spcPct val="115000"/>
              </a:lnSpc>
              <a:buNone/>
            </a:pPr>
            <a:r>
              <a:rPr lang="en-US" sz="1150" b="1" dirty="0">
                <a:solidFill>
                  <a:srgbClr val="1E2761"/>
                </a:solidFill>
                <a:latin typeface="Courier New" pitchFamily="34" charset="0"/>
                <a:ea typeface="Courier New" pitchFamily="34" charset="-122"/>
                <a:cs typeface="Courier New" pitchFamily="34" charset="-120"/>
              </a:rPr>
              <a:t>O(n log n)</a:t>
            </a:r>
            <a:endParaRPr lang="en-US" sz="1150" dirty="0"/>
          </a:p>
        </p:txBody>
      </p:sp>
      <p:sp>
        <p:nvSpPr>
          <p:cNvPr id="50" name="Shape 48"/>
          <p:cNvSpPr/>
          <p:nvPr/>
        </p:nvSpPr>
        <p:spPr>
          <a:xfrm>
            <a:off x="7772400" y="4700016"/>
            <a:ext cx="1737360" cy="896112"/>
          </a:xfrm>
          <a:prstGeom prst="rect">
            <a:avLst/>
          </a:prstGeom>
          <a:solidFill>
            <a:srgbClr val="FFFFFF"/>
          </a:solidFill>
          <a:ln w="6350">
            <a:solidFill>
              <a:srgbClr val="DDE3EF"/>
            </a:solidFill>
            <a:prstDash val="solid"/>
          </a:ln>
        </p:spPr>
      </p:sp>
      <p:sp>
        <p:nvSpPr>
          <p:cNvPr id="51" name="Text 49"/>
          <p:cNvSpPr/>
          <p:nvPr/>
        </p:nvSpPr>
        <p:spPr>
          <a:xfrm>
            <a:off x="7845552" y="4700016"/>
            <a:ext cx="1591056" cy="896112"/>
          </a:xfrm>
          <a:prstGeom prst="rect">
            <a:avLst/>
          </a:prstGeom>
          <a:noFill/>
          <a:ln/>
        </p:spPr>
        <p:txBody>
          <a:bodyPr wrap="square" rtlCol="0" anchor="ctr"/>
          <a:lstStyle/>
          <a:p>
            <a:pPr marL="0" indent="0" algn="ctr">
              <a:lnSpc>
                <a:spcPct val="115000"/>
              </a:lnSpc>
              <a:buNone/>
            </a:pPr>
            <a:r>
              <a:rPr lang="en-US" sz="1150" dirty="0">
                <a:solidFill>
                  <a:srgbClr val="1A1A2E"/>
                </a:solidFill>
                <a:latin typeface="Calibri" pitchFamily="34" charset="0"/>
                <a:ea typeface="Calibri" pitchFamily="34" charset="-122"/>
                <a:cs typeface="Calibri" pitchFamily="34" charset="-120"/>
              </a:rPr>
              <a:t>O(n)</a:t>
            </a:r>
            <a:endParaRPr lang="en-US" sz="1150" dirty="0"/>
          </a:p>
        </p:txBody>
      </p:sp>
      <p:sp>
        <p:nvSpPr>
          <p:cNvPr id="52" name="Shape 50"/>
          <p:cNvSpPr/>
          <p:nvPr/>
        </p:nvSpPr>
        <p:spPr>
          <a:xfrm>
            <a:off x="9509760" y="4700016"/>
            <a:ext cx="2130552" cy="896112"/>
          </a:xfrm>
          <a:prstGeom prst="rect">
            <a:avLst/>
          </a:prstGeom>
          <a:solidFill>
            <a:srgbClr val="FFFFFF"/>
          </a:solidFill>
          <a:ln w="6350">
            <a:solidFill>
              <a:srgbClr val="DDE3EF"/>
            </a:solidFill>
            <a:prstDash val="solid"/>
          </a:ln>
        </p:spPr>
      </p:sp>
      <p:sp>
        <p:nvSpPr>
          <p:cNvPr id="53" name="Text 51"/>
          <p:cNvSpPr/>
          <p:nvPr/>
        </p:nvSpPr>
        <p:spPr>
          <a:xfrm>
            <a:off x="9582912" y="4700016"/>
            <a:ext cx="1984248" cy="896112"/>
          </a:xfrm>
          <a:prstGeom prst="rect">
            <a:avLst/>
          </a:prstGeom>
          <a:noFill/>
          <a:ln/>
        </p:spPr>
        <p:txBody>
          <a:bodyPr wrap="square" rtlCol="0" anchor="ctr"/>
          <a:lstStyle/>
          <a:p>
            <a:pPr marL="0" indent="0" algn="ctr">
              <a:lnSpc>
                <a:spcPct val="115000"/>
              </a:lnSpc>
              <a:buNone/>
            </a:pPr>
            <a:r>
              <a:rPr lang="en-US" sz="1150" dirty="0">
                <a:solidFill>
                  <a:srgbClr val="1A1A2E"/>
                </a:solidFill>
                <a:latin typeface="Calibri" pitchFamily="34" charset="0"/>
                <a:ea typeface="Calibri" pitchFamily="34" charset="-122"/>
                <a:cs typeface="Calibri" pitchFamily="34" charset="-120"/>
              </a:rPr>
              <a:t>Length only, by default</a:t>
            </a:r>
            <a:endParaRPr lang="en-US" sz="1150" dirty="0"/>
          </a:p>
        </p:txBody>
      </p:sp>
      <p:sp>
        <p:nvSpPr>
          <p:cNvPr id="54" name="Text 52"/>
          <p:cNvSpPr/>
          <p:nvPr/>
        </p:nvSpPr>
        <p:spPr>
          <a:xfrm>
            <a:off x="548640" y="5779008"/>
            <a:ext cx="11091672" cy="457200"/>
          </a:xfrm>
          <a:prstGeom prst="rect">
            <a:avLst/>
          </a:prstGeom>
          <a:noFill/>
          <a:ln/>
        </p:spPr>
        <p:txBody>
          <a:bodyPr wrap="square" rtlCol="0" anchor="ctr"/>
          <a:lstStyle/>
          <a:p>
            <a:pPr marL="0" indent="0" algn="ctr">
              <a:buNone/>
            </a:pPr>
            <a:r>
              <a:rPr lang="en-US" sz="1200" i="1" dirty="0">
                <a:solidFill>
                  <a:srgbClr val="5B6472"/>
                </a:solidFill>
                <a:latin typeface="Calibri" pitchFamily="34" charset="0"/>
                <a:ea typeface="Calibri" pitchFamily="34" charset="-122"/>
                <a:cs typeface="Calibri" pitchFamily="34" charset="-120"/>
              </a:rPr>
              <a:t>Rule of thumb: reach for the O(n²) DP when you need the actual sequence and n is modest; switch to binary search once n grows large and only the length matters.</a:t>
            </a:r>
            <a:endParaRPr lang="en-US" sz="1200" dirty="0"/>
          </a:p>
        </p:txBody>
      </p:sp>
      <p:sp>
        <p:nvSpPr>
          <p:cNvPr id="55" name="Text 53"/>
          <p:cNvSpPr/>
          <p:nvPr/>
        </p:nvSpPr>
        <p:spPr>
          <a:xfrm>
            <a:off x="548640" y="6510528"/>
            <a:ext cx="8229600" cy="274320"/>
          </a:xfrm>
          <a:prstGeom prst="rect">
            <a:avLst/>
          </a:prstGeom>
          <a:noFill/>
          <a:ln/>
        </p:spPr>
        <p:txBody>
          <a:bodyPr wrap="square" rtlCol="0" anchor="ctr"/>
          <a:lstStyle/>
          <a:p>
            <a:pPr marL="0" indent="0">
              <a:buNone/>
            </a:pPr>
            <a:r>
              <a:rPr lang="en-US" sz="850" kern="0" spc="100" dirty="0">
                <a:solidFill>
                  <a:srgbClr val="5B6472"/>
                </a:solidFill>
                <a:latin typeface="Calibri" pitchFamily="34" charset="0"/>
                <a:ea typeface="Calibri" pitchFamily="34" charset="-122"/>
                <a:cs typeface="Calibri" pitchFamily="34" charset="-120"/>
              </a:rPr>
              <a:t>LONGEST INCREASING SUBSEQUENCE  ·  DYNAMIC PROGRAMMING</a:t>
            </a:r>
            <a:endParaRPr lang="en-US" sz="850" dirty="0"/>
          </a:p>
        </p:txBody>
      </p:sp>
      <p:sp>
        <p:nvSpPr>
          <p:cNvPr id="56" name="Text 54"/>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39" y="109728"/>
            <a:ext cx="9452095" cy="896112"/>
          </a:xfrm>
          <a:prstGeom prst="rect">
            <a:avLst/>
          </a:prstGeom>
          <a:noFill/>
          <a:ln/>
        </p:spPr>
        <p:txBody>
          <a:bodyPr wrap="square" rtlCol="0" anchor="ctr"/>
          <a:lstStyle/>
          <a:p>
            <a:pPr marL="0" indent="0">
              <a:buNone/>
            </a:pPr>
            <a:r>
              <a:rPr lang="en-US" sz="3200" b="1" kern="0" spc="200" dirty="0">
                <a:solidFill>
                  <a:srgbClr val="E8A33D"/>
                </a:solidFill>
                <a:latin typeface="Calibri" pitchFamily="34" charset="0"/>
                <a:ea typeface="Calibri" pitchFamily="34" charset="-122"/>
                <a:cs typeface="Calibri" pitchFamily="34" charset="-120"/>
              </a:rPr>
              <a:t>APPLICATION </a:t>
            </a:r>
            <a:endParaRPr lang="en-US" sz="3200" dirty="0"/>
          </a:p>
        </p:txBody>
      </p:sp>
      <p:sp>
        <p:nvSpPr>
          <p:cNvPr id="13" name="Shape 10"/>
          <p:cNvSpPr/>
          <p:nvPr/>
        </p:nvSpPr>
        <p:spPr>
          <a:xfrm>
            <a:off x="565279" y="1451878"/>
            <a:ext cx="109728" cy="109728"/>
          </a:xfrm>
          <a:prstGeom prst="ellipse">
            <a:avLst/>
          </a:prstGeom>
          <a:solidFill>
            <a:srgbClr val="E8A33D"/>
          </a:solidFill>
          <a:ln/>
        </p:spPr>
      </p:sp>
      <p:sp>
        <p:nvSpPr>
          <p:cNvPr id="14" name="Text 11"/>
          <p:cNvSpPr/>
          <p:nvPr/>
        </p:nvSpPr>
        <p:spPr>
          <a:xfrm>
            <a:off x="750713" y="1378726"/>
            <a:ext cx="3343492" cy="274320"/>
          </a:xfrm>
          <a:prstGeom prst="rect">
            <a:avLst/>
          </a:prstGeom>
          <a:noFill/>
          <a:ln/>
        </p:spPr>
        <p:txBody>
          <a:bodyPr wrap="square" rtlCol="0" anchor="ctr"/>
          <a:lstStyle/>
          <a:p>
            <a:pPr marL="0" indent="0">
              <a:buNone/>
            </a:pPr>
            <a:r>
              <a:rPr lang="en-US" sz="2800" b="1" dirty="0">
                <a:solidFill>
                  <a:srgbClr val="1E2761"/>
                </a:solidFill>
                <a:latin typeface="Calibri" pitchFamily="34" charset="0"/>
                <a:ea typeface="Calibri" pitchFamily="34" charset="-122"/>
                <a:cs typeface="Calibri" pitchFamily="34" charset="-120"/>
              </a:rPr>
              <a:t>Bioinformatics</a:t>
            </a:r>
            <a:endParaRPr lang="en-US" sz="2800" dirty="0"/>
          </a:p>
        </p:txBody>
      </p:sp>
      <p:sp>
        <p:nvSpPr>
          <p:cNvPr id="16" name="Shape 13"/>
          <p:cNvSpPr/>
          <p:nvPr/>
        </p:nvSpPr>
        <p:spPr>
          <a:xfrm>
            <a:off x="640985" y="3672922"/>
            <a:ext cx="109728" cy="109728"/>
          </a:xfrm>
          <a:prstGeom prst="ellipse">
            <a:avLst/>
          </a:prstGeom>
          <a:solidFill>
            <a:srgbClr val="E8A33D"/>
          </a:solidFill>
          <a:ln/>
        </p:spPr>
        <p:txBody>
          <a:bodyPr/>
          <a:lstStyle/>
          <a:p>
            <a:endParaRPr lang="en-IN" dirty="0"/>
          </a:p>
        </p:txBody>
      </p:sp>
      <p:sp>
        <p:nvSpPr>
          <p:cNvPr id="17" name="Text 14"/>
          <p:cNvSpPr/>
          <p:nvPr/>
        </p:nvSpPr>
        <p:spPr>
          <a:xfrm>
            <a:off x="864974" y="3328086"/>
            <a:ext cx="4539048" cy="741406"/>
          </a:xfrm>
          <a:prstGeom prst="rect">
            <a:avLst/>
          </a:prstGeom>
          <a:noFill/>
          <a:ln/>
        </p:spPr>
        <p:txBody>
          <a:bodyPr wrap="square" rtlCol="0" anchor="ctr"/>
          <a:lstStyle/>
          <a:p>
            <a:pPr marL="0" indent="0">
              <a:buNone/>
            </a:pPr>
            <a:r>
              <a:rPr lang="en-US" sz="2800" b="1" dirty="0">
                <a:solidFill>
                  <a:srgbClr val="1E2761"/>
                </a:solidFill>
                <a:latin typeface="Calibri" pitchFamily="34" charset="0"/>
                <a:ea typeface="Calibri" pitchFamily="34" charset="-122"/>
                <a:cs typeface="Calibri" pitchFamily="34" charset="-120"/>
              </a:rPr>
              <a:t>Stock Analysis</a:t>
            </a:r>
            <a:endParaRPr lang="en-US" sz="2800" dirty="0"/>
          </a:p>
        </p:txBody>
      </p:sp>
      <p:sp>
        <p:nvSpPr>
          <p:cNvPr id="25" name="Text 22"/>
          <p:cNvSpPr/>
          <p:nvPr/>
        </p:nvSpPr>
        <p:spPr>
          <a:xfrm>
            <a:off x="548640" y="6510528"/>
            <a:ext cx="8229600" cy="274320"/>
          </a:xfrm>
          <a:prstGeom prst="rect">
            <a:avLst/>
          </a:prstGeom>
          <a:noFill/>
          <a:ln/>
        </p:spPr>
        <p:txBody>
          <a:bodyPr wrap="square" rtlCol="0" anchor="ctr"/>
          <a:lstStyle/>
          <a:p>
            <a:pPr marL="0" indent="0">
              <a:buNone/>
            </a:pPr>
            <a:r>
              <a:rPr lang="en-US" sz="850" kern="0" spc="100" dirty="0">
                <a:solidFill>
                  <a:srgbClr val="5B6472"/>
                </a:solidFill>
                <a:latin typeface="Calibri" pitchFamily="34" charset="0"/>
                <a:ea typeface="Calibri" pitchFamily="34" charset="-122"/>
                <a:cs typeface="Calibri" pitchFamily="34" charset="-120"/>
              </a:rPr>
              <a:t>LONGEST INCREASING SUBSEQUENCE  ·  DYNAMIC PROGRAMMING</a:t>
            </a:r>
            <a:endParaRPr lang="en-US" sz="850" dirty="0"/>
          </a:p>
        </p:txBody>
      </p:sp>
      <p:sp>
        <p:nvSpPr>
          <p:cNvPr id="26" name="Text 23"/>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14</a:t>
            </a:r>
            <a:endParaRPr lang="en-US" sz="900" dirty="0"/>
          </a:p>
        </p:txBody>
      </p:sp>
      <p:sp>
        <p:nvSpPr>
          <p:cNvPr id="28" name="TextBox 27">
            <a:extLst>
              <a:ext uri="{FF2B5EF4-FFF2-40B4-BE49-F238E27FC236}">
                <a16:creationId xmlns:a16="http://schemas.microsoft.com/office/drawing/2014/main" id="{D932BF4F-7D79-5276-B932-21A61B69CB96}"/>
              </a:ext>
            </a:extLst>
          </p:cNvPr>
          <p:cNvSpPr txBox="1"/>
          <p:nvPr/>
        </p:nvSpPr>
        <p:spPr>
          <a:xfrm>
            <a:off x="864974" y="1886465"/>
            <a:ext cx="8929815" cy="923330"/>
          </a:xfrm>
          <a:prstGeom prst="rect">
            <a:avLst/>
          </a:prstGeom>
          <a:noFill/>
        </p:spPr>
        <p:txBody>
          <a:bodyPr wrap="square" rtlCol="0">
            <a:spAutoFit/>
          </a:bodyPr>
          <a:lstStyle/>
          <a:p>
            <a:r>
              <a:rPr lang="en-IN" dirty="0">
                <a:solidFill>
                  <a:schemeClr val="tx2"/>
                </a:solidFill>
              </a:rPr>
              <a:t>LIS is used in bioinformatics to compare DNA sequences and find common ordered patterns. It helps researchers identify important genetic similarities, study evolution, and </a:t>
            </a:r>
            <a:r>
              <a:rPr lang="en-IN" dirty="0" err="1">
                <a:solidFill>
                  <a:schemeClr val="tx2"/>
                </a:solidFill>
              </a:rPr>
              <a:t>analyze</a:t>
            </a:r>
            <a:r>
              <a:rPr lang="en-IN" dirty="0">
                <a:solidFill>
                  <a:schemeClr val="tx2"/>
                </a:solidFill>
              </a:rPr>
              <a:t> diseases.</a:t>
            </a:r>
          </a:p>
        </p:txBody>
      </p:sp>
      <p:sp>
        <p:nvSpPr>
          <p:cNvPr id="29" name="TextBox 28">
            <a:extLst>
              <a:ext uri="{FF2B5EF4-FFF2-40B4-BE49-F238E27FC236}">
                <a16:creationId xmlns:a16="http://schemas.microsoft.com/office/drawing/2014/main" id="{7920CB06-E8A3-EA97-A275-7D4486AF7D43}"/>
              </a:ext>
            </a:extLst>
          </p:cNvPr>
          <p:cNvSpPr txBox="1"/>
          <p:nvPr/>
        </p:nvSpPr>
        <p:spPr>
          <a:xfrm>
            <a:off x="864974" y="4094082"/>
            <a:ext cx="8715631" cy="646331"/>
          </a:xfrm>
          <a:prstGeom prst="rect">
            <a:avLst/>
          </a:prstGeom>
          <a:noFill/>
        </p:spPr>
        <p:txBody>
          <a:bodyPr wrap="square" rtlCol="0">
            <a:spAutoFit/>
          </a:bodyPr>
          <a:lstStyle/>
          <a:p>
            <a:r>
              <a:rPr lang="en-IN" dirty="0">
                <a:solidFill>
                  <a:schemeClr val="accent1">
                    <a:lumMod val="50000"/>
                  </a:schemeClr>
                </a:solidFill>
              </a:rPr>
              <a:t>LIS helps identify the longest period of increasing stock prices. Financial analysts use it to study market trends and evaluate stock performance over time.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09728"/>
            <a:ext cx="9144000" cy="274320"/>
          </a:xfrm>
          <a:prstGeom prst="rect">
            <a:avLst/>
          </a:prstGeom>
          <a:noFill/>
          <a:ln/>
        </p:spPr>
        <p:txBody>
          <a:bodyPr wrap="square" rtlCol="0" anchor="ctr"/>
          <a:lstStyle/>
          <a:p>
            <a:pPr marL="0" indent="0">
              <a:buNone/>
            </a:pPr>
            <a:r>
              <a:rPr lang="en-US" sz="1100" b="1" kern="0" spc="200" dirty="0">
                <a:solidFill>
                  <a:srgbClr val="E8A33D"/>
                </a:solidFill>
                <a:latin typeface="Calibri" pitchFamily="34" charset="0"/>
                <a:ea typeface="Calibri" pitchFamily="34" charset="-122"/>
                <a:cs typeface="Calibri" pitchFamily="34" charset="-120"/>
              </a:rPr>
              <a:t>KNOW THE TRADE-OFFS</a:t>
            </a:r>
            <a:endParaRPr lang="en-US" sz="1100" dirty="0"/>
          </a:p>
        </p:txBody>
      </p:sp>
      <p:sp>
        <p:nvSpPr>
          <p:cNvPr id="3" name="Text 1"/>
          <p:cNvSpPr/>
          <p:nvPr/>
        </p:nvSpPr>
        <p:spPr>
          <a:xfrm>
            <a:off x="548640" y="384048"/>
            <a:ext cx="1106424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Limitations of the DP Approach</a:t>
            </a:r>
            <a:endParaRPr lang="en-US" sz="3000" dirty="0"/>
          </a:p>
        </p:txBody>
      </p:sp>
      <p:sp>
        <p:nvSpPr>
          <p:cNvPr id="4" name="Shape 2"/>
          <p:cNvSpPr/>
          <p:nvPr/>
        </p:nvSpPr>
        <p:spPr>
          <a:xfrm>
            <a:off x="548640" y="1417320"/>
            <a:ext cx="3566160" cy="2331720"/>
          </a:xfrm>
          <a:prstGeom prst="roundRect">
            <a:avLst>
              <a:gd name="adj" fmla="val 3137"/>
            </a:avLst>
          </a:prstGeom>
          <a:solidFill>
            <a:srgbClr val="F3F6FC"/>
          </a:solidFill>
          <a:ln/>
        </p:spPr>
      </p:sp>
      <p:sp>
        <p:nvSpPr>
          <p:cNvPr id="5" name="Shape 3"/>
          <p:cNvSpPr/>
          <p:nvPr/>
        </p:nvSpPr>
        <p:spPr>
          <a:xfrm>
            <a:off x="749808" y="1618488"/>
            <a:ext cx="457200" cy="457200"/>
          </a:xfrm>
          <a:prstGeom prst="ellipse">
            <a:avLst/>
          </a:prstGeom>
          <a:solidFill>
            <a:srgbClr val="B04A3E"/>
          </a:solidFill>
          <a:ln/>
        </p:spPr>
      </p:sp>
      <p:pic>
        <p:nvPicPr>
          <p:cNvPr id="6" name="Image 0" descr="preencoded.png"/>
          <p:cNvPicPr>
            <a:picLocks noChangeAspect="1"/>
          </p:cNvPicPr>
          <p:nvPr/>
        </p:nvPicPr>
        <p:blipFill>
          <a:blip r:embed="rId3"/>
          <a:stretch>
            <a:fillRect/>
          </a:stretch>
        </p:blipFill>
        <p:spPr>
          <a:xfrm>
            <a:off x="850392" y="1719072"/>
            <a:ext cx="256032" cy="256032"/>
          </a:xfrm>
          <a:prstGeom prst="rect">
            <a:avLst/>
          </a:prstGeom>
        </p:spPr>
      </p:pic>
      <p:sp>
        <p:nvSpPr>
          <p:cNvPr id="7" name="Text 4"/>
          <p:cNvSpPr/>
          <p:nvPr/>
        </p:nvSpPr>
        <p:spPr>
          <a:xfrm>
            <a:off x="1325880" y="1618488"/>
            <a:ext cx="2606040" cy="457200"/>
          </a:xfrm>
          <a:prstGeom prst="rect">
            <a:avLst/>
          </a:prstGeom>
          <a:noFill/>
          <a:ln/>
        </p:spPr>
        <p:txBody>
          <a:bodyPr wrap="square"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Quadratic time</a:t>
            </a:r>
            <a:endParaRPr lang="en-US" sz="1350" dirty="0"/>
          </a:p>
        </p:txBody>
      </p:sp>
      <p:sp>
        <p:nvSpPr>
          <p:cNvPr id="8" name="Text 5"/>
          <p:cNvSpPr/>
          <p:nvPr/>
        </p:nvSpPr>
        <p:spPr>
          <a:xfrm>
            <a:off x="777240" y="2194560"/>
            <a:ext cx="3108960" cy="1417320"/>
          </a:xfrm>
          <a:prstGeom prst="rect">
            <a:avLst/>
          </a:prstGeom>
          <a:noFill/>
          <a:ln/>
        </p:spPr>
        <p:txBody>
          <a:bodyPr wrap="square" rtlCol="0" anchor="ctr"/>
          <a:lstStyle/>
          <a:p>
            <a:pPr marL="0" indent="0">
              <a:lnSpc>
                <a:spcPct val="130000"/>
              </a:lnSpc>
              <a:buNone/>
            </a:pPr>
            <a:r>
              <a:rPr lang="en-US" sz="1100" dirty="0">
                <a:solidFill>
                  <a:srgbClr val="1A1A2E"/>
                </a:solidFill>
                <a:latin typeface="Calibri" pitchFamily="34" charset="0"/>
                <a:ea typeface="Calibri" pitchFamily="34" charset="-122"/>
                <a:cs typeface="Calibri" pitchFamily="34" charset="-120"/>
              </a:rPr>
              <a:t>O(n²) becomes slow past roughly n ≈ 10⁴–10⁵; the binary-search method is needed at real scale.</a:t>
            </a:r>
            <a:endParaRPr lang="en-US" sz="1100" dirty="0"/>
          </a:p>
        </p:txBody>
      </p:sp>
      <p:sp>
        <p:nvSpPr>
          <p:cNvPr id="9" name="Shape 6"/>
          <p:cNvSpPr/>
          <p:nvPr/>
        </p:nvSpPr>
        <p:spPr>
          <a:xfrm>
            <a:off x="4352544" y="1417320"/>
            <a:ext cx="3566160" cy="2331720"/>
          </a:xfrm>
          <a:prstGeom prst="roundRect">
            <a:avLst>
              <a:gd name="adj" fmla="val 3137"/>
            </a:avLst>
          </a:prstGeom>
          <a:solidFill>
            <a:srgbClr val="F3F6FC"/>
          </a:solidFill>
          <a:ln/>
        </p:spPr>
      </p:sp>
      <p:sp>
        <p:nvSpPr>
          <p:cNvPr id="10" name="Shape 7"/>
          <p:cNvSpPr/>
          <p:nvPr/>
        </p:nvSpPr>
        <p:spPr>
          <a:xfrm>
            <a:off x="4553712" y="1618488"/>
            <a:ext cx="457200" cy="457200"/>
          </a:xfrm>
          <a:prstGeom prst="ellipse">
            <a:avLst/>
          </a:prstGeom>
          <a:solidFill>
            <a:srgbClr val="B04A3E"/>
          </a:solidFill>
          <a:ln/>
        </p:spPr>
      </p:sp>
      <p:pic>
        <p:nvPicPr>
          <p:cNvPr id="11" name="Image 1" descr="preencoded.png"/>
          <p:cNvPicPr>
            <a:picLocks noChangeAspect="1"/>
          </p:cNvPicPr>
          <p:nvPr/>
        </p:nvPicPr>
        <p:blipFill>
          <a:blip r:embed="rId3"/>
          <a:stretch>
            <a:fillRect/>
          </a:stretch>
        </p:blipFill>
        <p:spPr>
          <a:xfrm>
            <a:off x="4654296" y="1719072"/>
            <a:ext cx="256032" cy="256032"/>
          </a:xfrm>
          <a:prstGeom prst="rect">
            <a:avLst/>
          </a:prstGeom>
        </p:spPr>
      </p:pic>
      <p:sp>
        <p:nvSpPr>
          <p:cNvPr id="12" name="Text 8"/>
          <p:cNvSpPr/>
          <p:nvPr/>
        </p:nvSpPr>
        <p:spPr>
          <a:xfrm>
            <a:off x="5129784" y="1618488"/>
            <a:ext cx="2606040" cy="457200"/>
          </a:xfrm>
          <a:prstGeom prst="rect">
            <a:avLst/>
          </a:prstGeom>
          <a:noFill/>
          <a:ln/>
        </p:spPr>
        <p:txBody>
          <a:bodyPr wrap="square"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Extra bookkeeping for the sequence</a:t>
            </a:r>
            <a:endParaRPr lang="en-US" sz="1350" dirty="0"/>
          </a:p>
        </p:txBody>
      </p:sp>
      <p:sp>
        <p:nvSpPr>
          <p:cNvPr id="13" name="Text 9"/>
          <p:cNvSpPr/>
          <p:nvPr/>
        </p:nvSpPr>
        <p:spPr>
          <a:xfrm>
            <a:off x="4581144" y="2194560"/>
            <a:ext cx="3108960" cy="1417320"/>
          </a:xfrm>
          <a:prstGeom prst="rect">
            <a:avLst/>
          </a:prstGeom>
          <a:noFill/>
          <a:ln/>
        </p:spPr>
        <p:txBody>
          <a:bodyPr wrap="square" rtlCol="0" anchor="ctr"/>
          <a:lstStyle/>
          <a:p>
            <a:pPr marL="0" indent="0">
              <a:lnSpc>
                <a:spcPct val="130000"/>
              </a:lnSpc>
              <a:buNone/>
            </a:pPr>
            <a:r>
              <a:rPr lang="en-US" sz="1100" dirty="0">
                <a:solidFill>
                  <a:srgbClr val="1A1A2E"/>
                </a:solidFill>
                <a:latin typeface="Calibri" pitchFamily="34" charset="0"/>
                <a:ea typeface="Calibri" pitchFamily="34" charset="-122"/>
                <a:cs typeface="Calibri" pitchFamily="34" charset="-120"/>
              </a:rPr>
              <a:t>The recurrence alone only yields the length — a parent[] array (or similar) is required to reconstruct an actual LIS.</a:t>
            </a:r>
            <a:endParaRPr lang="en-US" sz="1100" dirty="0"/>
          </a:p>
        </p:txBody>
      </p:sp>
      <p:sp>
        <p:nvSpPr>
          <p:cNvPr id="14" name="Shape 10"/>
          <p:cNvSpPr/>
          <p:nvPr/>
        </p:nvSpPr>
        <p:spPr>
          <a:xfrm>
            <a:off x="8156448" y="1417320"/>
            <a:ext cx="3566160" cy="2331720"/>
          </a:xfrm>
          <a:prstGeom prst="roundRect">
            <a:avLst>
              <a:gd name="adj" fmla="val 3137"/>
            </a:avLst>
          </a:prstGeom>
          <a:solidFill>
            <a:srgbClr val="F3F6FC"/>
          </a:solidFill>
          <a:ln/>
        </p:spPr>
      </p:sp>
      <p:sp>
        <p:nvSpPr>
          <p:cNvPr id="15" name="Shape 11"/>
          <p:cNvSpPr/>
          <p:nvPr/>
        </p:nvSpPr>
        <p:spPr>
          <a:xfrm>
            <a:off x="8357616" y="1618488"/>
            <a:ext cx="457200" cy="457200"/>
          </a:xfrm>
          <a:prstGeom prst="ellipse">
            <a:avLst/>
          </a:prstGeom>
          <a:solidFill>
            <a:srgbClr val="B04A3E"/>
          </a:solidFill>
          <a:ln/>
        </p:spPr>
      </p:sp>
      <p:pic>
        <p:nvPicPr>
          <p:cNvPr id="16" name="Image 2" descr="preencoded.png"/>
          <p:cNvPicPr>
            <a:picLocks noChangeAspect="1"/>
          </p:cNvPicPr>
          <p:nvPr/>
        </p:nvPicPr>
        <p:blipFill>
          <a:blip r:embed="rId3"/>
          <a:stretch>
            <a:fillRect/>
          </a:stretch>
        </p:blipFill>
        <p:spPr>
          <a:xfrm>
            <a:off x="8458200" y="1719072"/>
            <a:ext cx="256032" cy="256032"/>
          </a:xfrm>
          <a:prstGeom prst="rect">
            <a:avLst/>
          </a:prstGeom>
        </p:spPr>
      </p:pic>
      <p:sp>
        <p:nvSpPr>
          <p:cNvPr id="17" name="Text 12"/>
          <p:cNvSpPr/>
          <p:nvPr/>
        </p:nvSpPr>
        <p:spPr>
          <a:xfrm>
            <a:off x="8933688" y="1618488"/>
            <a:ext cx="2606040" cy="457200"/>
          </a:xfrm>
          <a:prstGeom prst="rect">
            <a:avLst/>
          </a:prstGeom>
          <a:noFill/>
          <a:ln/>
        </p:spPr>
        <p:txBody>
          <a:bodyPr wrap="square"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Strict vs. non-strict ordering</a:t>
            </a:r>
            <a:endParaRPr lang="en-US" sz="1350" dirty="0"/>
          </a:p>
        </p:txBody>
      </p:sp>
      <p:sp>
        <p:nvSpPr>
          <p:cNvPr id="18" name="Text 13"/>
          <p:cNvSpPr/>
          <p:nvPr/>
        </p:nvSpPr>
        <p:spPr>
          <a:xfrm>
            <a:off x="8385048" y="2194560"/>
            <a:ext cx="3108960" cy="1417320"/>
          </a:xfrm>
          <a:prstGeom prst="rect">
            <a:avLst/>
          </a:prstGeom>
          <a:noFill/>
          <a:ln/>
        </p:spPr>
        <p:txBody>
          <a:bodyPr wrap="square" rtlCol="0" anchor="ctr"/>
          <a:lstStyle/>
          <a:p>
            <a:pPr marL="0" indent="0">
              <a:lnSpc>
                <a:spcPct val="130000"/>
              </a:lnSpc>
              <a:buNone/>
            </a:pPr>
            <a:r>
              <a:rPr lang="en-US" sz="1100" dirty="0">
                <a:solidFill>
                  <a:srgbClr val="1A1A2E"/>
                </a:solidFill>
                <a:latin typeface="Calibri" pitchFamily="34" charset="0"/>
                <a:ea typeface="Calibri" pitchFamily="34" charset="-122"/>
                <a:cs typeface="Calibri" pitchFamily="34" charset="-120"/>
              </a:rPr>
              <a:t>Switching between strictly increasing and non-decreasing subsequences means changing &lt; to ≤ everywhere — an easy detail to get wrong.</a:t>
            </a:r>
            <a:endParaRPr lang="en-US" sz="1100" dirty="0"/>
          </a:p>
        </p:txBody>
      </p:sp>
      <p:sp>
        <p:nvSpPr>
          <p:cNvPr id="19" name="Shape 14"/>
          <p:cNvSpPr/>
          <p:nvPr/>
        </p:nvSpPr>
        <p:spPr>
          <a:xfrm>
            <a:off x="548640" y="3931920"/>
            <a:ext cx="3566160" cy="2331720"/>
          </a:xfrm>
          <a:prstGeom prst="roundRect">
            <a:avLst>
              <a:gd name="adj" fmla="val 3137"/>
            </a:avLst>
          </a:prstGeom>
          <a:solidFill>
            <a:srgbClr val="F3F6FC"/>
          </a:solidFill>
          <a:ln/>
        </p:spPr>
      </p:sp>
      <p:sp>
        <p:nvSpPr>
          <p:cNvPr id="20" name="Shape 15"/>
          <p:cNvSpPr/>
          <p:nvPr/>
        </p:nvSpPr>
        <p:spPr>
          <a:xfrm>
            <a:off x="749808" y="4133088"/>
            <a:ext cx="457200" cy="457200"/>
          </a:xfrm>
          <a:prstGeom prst="ellipse">
            <a:avLst/>
          </a:prstGeom>
          <a:solidFill>
            <a:srgbClr val="B04A3E"/>
          </a:solidFill>
          <a:ln/>
        </p:spPr>
      </p:sp>
      <p:pic>
        <p:nvPicPr>
          <p:cNvPr id="21" name="Image 3" descr="preencoded.png"/>
          <p:cNvPicPr>
            <a:picLocks noChangeAspect="1"/>
          </p:cNvPicPr>
          <p:nvPr/>
        </p:nvPicPr>
        <p:blipFill>
          <a:blip r:embed="rId3"/>
          <a:stretch>
            <a:fillRect/>
          </a:stretch>
        </p:blipFill>
        <p:spPr>
          <a:xfrm>
            <a:off x="850392" y="4233672"/>
            <a:ext cx="256032" cy="256032"/>
          </a:xfrm>
          <a:prstGeom prst="rect">
            <a:avLst/>
          </a:prstGeom>
        </p:spPr>
      </p:pic>
      <p:sp>
        <p:nvSpPr>
          <p:cNvPr id="22" name="Text 16"/>
          <p:cNvSpPr/>
          <p:nvPr/>
        </p:nvSpPr>
        <p:spPr>
          <a:xfrm>
            <a:off x="1325880" y="4133088"/>
            <a:ext cx="2606040" cy="457200"/>
          </a:xfrm>
          <a:prstGeom prst="rect">
            <a:avLst/>
          </a:prstGeom>
          <a:noFill/>
          <a:ln/>
        </p:spPr>
        <p:txBody>
          <a:bodyPr wrap="square"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Recursion depth (top-down)</a:t>
            </a:r>
            <a:endParaRPr lang="en-US" sz="1350" dirty="0"/>
          </a:p>
        </p:txBody>
      </p:sp>
      <p:sp>
        <p:nvSpPr>
          <p:cNvPr id="23" name="Text 17"/>
          <p:cNvSpPr/>
          <p:nvPr/>
        </p:nvSpPr>
        <p:spPr>
          <a:xfrm>
            <a:off x="777240" y="4709160"/>
            <a:ext cx="3108960" cy="1417320"/>
          </a:xfrm>
          <a:prstGeom prst="rect">
            <a:avLst/>
          </a:prstGeom>
          <a:noFill/>
          <a:ln/>
        </p:spPr>
        <p:txBody>
          <a:bodyPr wrap="square" rtlCol="0" anchor="ctr"/>
          <a:lstStyle/>
          <a:p>
            <a:pPr marL="0" indent="0">
              <a:lnSpc>
                <a:spcPct val="130000"/>
              </a:lnSpc>
              <a:buNone/>
            </a:pPr>
            <a:r>
              <a:rPr lang="en-US" sz="1100" dirty="0">
                <a:solidFill>
                  <a:srgbClr val="1A1A2E"/>
                </a:solidFill>
                <a:latin typeface="Calibri" pitchFamily="34" charset="0"/>
                <a:ea typeface="Calibri" pitchFamily="34" charset="-122"/>
                <a:cs typeface="Calibri" pitchFamily="34" charset="-120"/>
              </a:rPr>
              <a:t>Memoized recursion can hit call-stack limits on very large arrays without careful iterative rewriting.</a:t>
            </a:r>
            <a:endParaRPr lang="en-US" sz="1100" dirty="0"/>
          </a:p>
        </p:txBody>
      </p:sp>
      <p:sp>
        <p:nvSpPr>
          <p:cNvPr id="24" name="Shape 18"/>
          <p:cNvSpPr/>
          <p:nvPr/>
        </p:nvSpPr>
        <p:spPr>
          <a:xfrm>
            <a:off x="4352544" y="3931920"/>
            <a:ext cx="3566160" cy="2331720"/>
          </a:xfrm>
          <a:prstGeom prst="roundRect">
            <a:avLst>
              <a:gd name="adj" fmla="val 3137"/>
            </a:avLst>
          </a:prstGeom>
          <a:solidFill>
            <a:srgbClr val="F3F6FC"/>
          </a:solidFill>
          <a:ln/>
        </p:spPr>
      </p:sp>
      <p:sp>
        <p:nvSpPr>
          <p:cNvPr id="25" name="Shape 19"/>
          <p:cNvSpPr/>
          <p:nvPr/>
        </p:nvSpPr>
        <p:spPr>
          <a:xfrm>
            <a:off x="4553712" y="4133088"/>
            <a:ext cx="457200" cy="457200"/>
          </a:xfrm>
          <a:prstGeom prst="ellipse">
            <a:avLst/>
          </a:prstGeom>
          <a:solidFill>
            <a:srgbClr val="B04A3E"/>
          </a:solidFill>
          <a:ln/>
        </p:spPr>
      </p:sp>
      <p:pic>
        <p:nvPicPr>
          <p:cNvPr id="26" name="Image 4" descr="preencoded.png"/>
          <p:cNvPicPr>
            <a:picLocks noChangeAspect="1"/>
          </p:cNvPicPr>
          <p:nvPr/>
        </p:nvPicPr>
        <p:blipFill>
          <a:blip r:embed="rId3"/>
          <a:stretch>
            <a:fillRect/>
          </a:stretch>
        </p:blipFill>
        <p:spPr>
          <a:xfrm>
            <a:off x="4654296" y="4233672"/>
            <a:ext cx="256032" cy="256032"/>
          </a:xfrm>
          <a:prstGeom prst="rect">
            <a:avLst/>
          </a:prstGeom>
        </p:spPr>
      </p:pic>
      <p:sp>
        <p:nvSpPr>
          <p:cNvPr id="27" name="Text 20"/>
          <p:cNvSpPr/>
          <p:nvPr/>
        </p:nvSpPr>
        <p:spPr>
          <a:xfrm>
            <a:off x="5129784" y="4133088"/>
            <a:ext cx="2606040" cy="457200"/>
          </a:xfrm>
          <a:prstGeom prst="rect">
            <a:avLst/>
          </a:prstGeom>
          <a:noFill/>
          <a:ln/>
        </p:spPr>
        <p:txBody>
          <a:bodyPr wrap="square"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Not built for streaming data</a:t>
            </a:r>
            <a:endParaRPr lang="en-US" sz="1350" dirty="0"/>
          </a:p>
        </p:txBody>
      </p:sp>
      <p:sp>
        <p:nvSpPr>
          <p:cNvPr id="28" name="Text 21"/>
          <p:cNvSpPr/>
          <p:nvPr/>
        </p:nvSpPr>
        <p:spPr>
          <a:xfrm>
            <a:off x="4581144" y="4709160"/>
            <a:ext cx="3108960" cy="1417320"/>
          </a:xfrm>
          <a:prstGeom prst="rect">
            <a:avLst/>
          </a:prstGeom>
          <a:noFill/>
          <a:ln/>
        </p:spPr>
        <p:txBody>
          <a:bodyPr wrap="square" rtlCol="0" anchor="ctr"/>
          <a:lstStyle/>
          <a:p>
            <a:pPr marL="0" indent="0">
              <a:lnSpc>
                <a:spcPct val="130000"/>
              </a:lnSpc>
              <a:buNone/>
            </a:pPr>
            <a:r>
              <a:rPr lang="en-US" sz="1100" dirty="0">
                <a:solidFill>
                  <a:srgbClr val="1A1A2E"/>
                </a:solidFill>
                <a:latin typeface="Calibri" pitchFamily="34" charset="0"/>
                <a:ea typeface="Calibri" pitchFamily="34" charset="-122"/>
                <a:cs typeface="Calibri" pitchFamily="34" charset="-120"/>
              </a:rPr>
              <a:t>The formulation assumes the full array is known upfront; it doesn't natively support elements arriving one at a time.</a:t>
            </a:r>
            <a:endParaRPr lang="en-US" sz="1100" dirty="0"/>
          </a:p>
        </p:txBody>
      </p:sp>
      <p:sp>
        <p:nvSpPr>
          <p:cNvPr id="29" name="Shape 22"/>
          <p:cNvSpPr/>
          <p:nvPr/>
        </p:nvSpPr>
        <p:spPr>
          <a:xfrm>
            <a:off x="8156448" y="3931920"/>
            <a:ext cx="3566160" cy="2331720"/>
          </a:xfrm>
          <a:prstGeom prst="roundRect">
            <a:avLst>
              <a:gd name="adj" fmla="val 3137"/>
            </a:avLst>
          </a:prstGeom>
          <a:solidFill>
            <a:srgbClr val="F3F6FC"/>
          </a:solidFill>
          <a:ln/>
        </p:spPr>
      </p:sp>
      <p:sp>
        <p:nvSpPr>
          <p:cNvPr id="30" name="Shape 23"/>
          <p:cNvSpPr/>
          <p:nvPr/>
        </p:nvSpPr>
        <p:spPr>
          <a:xfrm>
            <a:off x="8357616" y="4133088"/>
            <a:ext cx="457200" cy="457200"/>
          </a:xfrm>
          <a:prstGeom prst="ellipse">
            <a:avLst/>
          </a:prstGeom>
          <a:solidFill>
            <a:srgbClr val="B04A3E"/>
          </a:solidFill>
          <a:ln/>
        </p:spPr>
      </p:sp>
      <p:pic>
        <p:nvPicPr>
          <p:cNvPr id="31" name="Image 5" descr="preencoded.png"/>
          <p:cNvPicPr>
            <a:picLocks noChangeAspect="1"/>
          </p:cNvPicPr>
          <p:nvPr/>
        </p:nvPicPr>
        <p:blipFill>
          <a:blip r:embed="rId3"/>
          <a:stretch>
            <a:fillRect/>
          </a:stretch>
        </p:blipFill>
        <p:spPr>
          <a:xfrm>
            <a:off x="8458200" y="4233672"/>
            <a:ext cx="256032" cy="256032"/>
          </a:xfrm>
          <a:prstGeom prst="rect">
            <a:avLst/>
          </a:prstGeom>
        </p:spPr>
      </p:pic>
      <p:sp>
        <p:nvSpPr>
          <p:cNvPr id="32" name="Text 24"/>
          <p:cNvSpPr/>
          <p:nvPr/>
        </p:nvSpPr>
        <p:spPr>
          <a:xfrm>
            <a:off x="8933688" y="4133088"/>
            <a:ext cx="2606040" cy="457200"/>
          </a:xfrm>
          <a:prstGeom prst="rect">
            <a:avLst/>
          </a:prstGeom>
          <a:noFill/>
          <a:ln/>
        </p:spPr>
        <p:txBody>
          <a:bodyPr wrap="square"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Only one LIS by default</a:t>
            </a:r>
            <a:endParaRPr lang="en-US" sz="1350" dirty="0"/>
          </a:p>
        </p:txBody>
      </p:sp>
      <p:sp>
        <p:nvSpPr>
          <p:cNvPr id="33" name="Text 25"/>
          <p:cNvSpPr/>
          <p:nvPr/>
        </p:nvSpPr>
        <p:spPr>
          <a:xfrm>
            <a:off x="8385048" y="4709160"/>
            <a:ext cx="3108960" cy="1417320"/>
          </a:xfrm>
          <a:prstGeom prst="rect">
            <a:avLst/>
          </a:prstGeom>
          <a:noFill/>
          <a:ln/>
        </p:spPr>
        <p:txBody>
          <a:bodyPr wrap="square" rtlCol="0" anchor="ctr"/>
          <a:lstStyle/>
          <a:p>
            <a:pPr marL="0" indent="0">
              <a:lnSpc>
                <a:spcPct val="130000"/>
              </a:lnSpc>
              <a:buNone/>
            </a:pPr>
            <a:r>
              <a:rPr lang="en-US" sz="1100" dirty="0">
                <a:solidFill>
                  <a:srgbClr val="1A1A2E"/>
                </a:solidFill>
                <a:latin typeface="Calibri" pitchFamily="34" charset="0"/>
                <a:ea typeface="Calibri" pitchFamily="34" charset="-122"/>
                <a:cs typeface="Calibri" pitchFamily="34" charset="-120"/>
              </a:rPr>
              <a:t>Counting all distinct longest subsequences — not just finding one — needs a separate, extended DP formulation.</a:t>
            </a:r>
            <a:endParaRPr lang="en-US" sz="1100" dirty="0"/>
          </a:p>
        </p:txBody>
      </p:sp>
      <p:sp>
        <p:nvSpPr>
          <p:cNvPr id="34" name="Text 26"/>
          <p:cNvSpPr/>
          <p:nvPr/>
        </p:nvSpPr>
        <p:spPr>
          <a:xfrm>
            <a:off x="548640" y="6510528"/>
            <a:ext cx="8229600" cy="274320"/>
          </a:xfrm>
          <a:prstGeom prst="rect">
            <a:avLst/>
          </a:prstGeom>
          <a:noFill/>
          <a:ln/>
        </p:spPr>
        <p:txBody>
          <a:bodyPr wrap="square" rtlCol="0" anchor="ctr"/>
          <a:lstStyle/>
          <a:p>
            <a:pPr marL="0" indent="0">
              <a:buNone/>
            </a:pPr>
            <a:r>
              <a:rPr lang="en-US" sz="850" kern="0" spc="100" dirty="0">
                <a:solidFill>
                  <a:srgbClr val="5B6472"/>
                </a:solidFill>
                <a:latin typeface="Calibri" pitchFamily="34" charset="0"/>
                <a:ea typeface="Calibri" pitchFamily="34" charset="-122"/>
                <a:cs typeface="Calibri" pitchFamily="34" charset="-120"/>
              </a:rPr>
              <a:t>LONGEST INCREASING SUBSEQUENCE  ·  DYNAMIC PROGRAMMING</a:t>
            </a:r>
            <a:endParaRPr lang="en-US" sz="850" dirty="0"/>
          </a:p>
        </p:txBody>
      </p:sp>
      <p:sp>
        <p:nvSpPr>
          <p:cNvPr id="35" name="Text 27"/>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bg>
      <p:bgPr>
        <a:solidFill>
          <a:srgbClr val="141A45"/>
        </a:solidFill>
        <a:effectLst/>
      </p:bgPr>
    </p:bg>
    <p:spTree>
      <p:nvGrpSpPr>
        <p:cNvPr id="1" name=""/>
        <p:cNvGrpSpPr/>
        <p:nvPr/>
      </p:nvGrpSpPr>
      <p:grpSpPr>
        <a:xfrm>
          <a:off x="0" y="0"/>
          <a:ext cx="0" cy="0"/>
          <a:chOff x="0" y="0"/>
          <a:chExt cx="0" cy="0"/>
        </a:xfrm>
      </p:grpSpPr>
      <p:sp>
        <p:nvSpPr>
          <p:cNvPr id="16" name="Shape 10"/>
          <p:cNvSpPr/>
          <p:nvPr/>
        </p:nvSpPr>
        <p:spPr>
          <a:xfrm>
            <a:off x="5054614" y="3585930"/>
            <a:ext cx="1399032" cy="0"/>
          </a:xfrm>
          <a:prstGeom prst="line">
            <a:avLst/>
          </a:prstGeom>
          <a:noFill/>
          <a:ln w="25400">
            <a:solidFill>
              <a:srgbClr val="E8A33D"/>
            </a:solidFill>
            <a:prstDash val="solid"/>
          </a:ln>
        </p:spPr>
      </p:sp>
      <p:sp>
        <p:nvSpPr>
          <p:cNvPr id="17" name="Text 11"/>
          <p:cNvSpPr/>
          <p:nvPr/>
        </p:nvSpPr>
        <p:spPr>
          <a:xfrm>
            <a:off x="453081" y="1544181"/>
            <a:ext cx="10783331" cy="45720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                </a:t>
            </a:r>
          </a:p>
          <a:p>
            <a:pPr marL="0" indent="0" algn="ctr">
              <a:buNone/>
            </a:pPr>
            <a:endParaRPr lang="en-US" sz="3200" b="1" dirty="0">
              <a:solidFill>
                <a:srgbClr val="FFFFFF"/>
              </a:solidFill>
              <a:latin typeface="Cambria" pitchFamily="34" charset="0"/>
              <a:ea typeface="Cambria" pitchFamily="34" charset="-122"/>
              <a:cs typeface="Cambria" pitchFamily="34" charset="-120"/>
            </a:endParaRPr>
          </a:p>
          <a:p>
            <a:pPr marL="0" indent="0" algn="ctr">
              <a:buNone/>
            </a:pPr>
            <a:endParaRPr lang="en-US" sz="3200" b="1" dirty="0">
              <a:solidFill>
                <a:srgbClr val="FFFFFF"/>
              </a:solidFill>
              <a:latin typeface="Cambria" pitchFamily="34" charset="0"/>
              <a:ea typeface="Cambria" pitchFamily="34" charset="-122"/>
              <a:cs typeface="Cambria" pitchFamily="34" charset="-120"/>
            </a:endParaRPr>
          </a:p>
          <a:p>
            <a:pPr marL="0" indent="0" algn="ctr">
              <a:buNone/>
            </a:pPr>
            <a:endParaRPr lang="en-US" sz="3200" b="1" dirty="0">
              <a:solidFill>
                <a:srgbClr val="FFFFFF"/>
              </a:solidFill>
              <a:latin typeface="Cambria" pitchFamily="34" charset="0"/>
              <a:ea typeface="Cambria" pitchFamily="34" charset="-122"/>
              <a:cs typeface="Cambria" pitchFamily="34" charset="-120"/>
            </a:endParaRPr>
          </a:p>
          <a:p>
            <a:pPr marL="0" indent="0" algn="ctr">
              <a:buNone/>
            </a:pPr>
            <a:endParaRPr lang="en-US" sz="3200" b="1" dirty="0">
              <a:solidFill>
                <a:srgbClr val="FFFFFF"/>
              </a:solidFill>
              <a:latin typeface="Cambria" pitchFamily="34" charset="0"/>
              <a:ea typeface="Cambria" pitchFamily="34" charset="-122"/>
              <a:cs typeface="Cambria" pitchFamily="34" charset="-120"/>
            </a:endParaRPr>
          </a:p>
          <a:p>
            <a:pPr marL="0" indent="0" algn="ctr">
              <a:buNone/>
            </a:pPr>
            <a:endParaRPr lang="en-US" sz="3200" b="1" dirty="0">
              <a:solidFill>
                <a:srgbClr val="FFFFFF"/>
              </a:solidFill>
              <a:latin typeface="Cambria" pitchFamily="34" charset="0"/>
              <a:ea typeface="Cambria" pitchFamily="34" charset="-122"/>
              <a:cs typeface="Cambria" pitchFamily="34" charset="-120"/>
            </a:endParaRPr>
          </a:p>
          <a:p>
            <a:pPr marL="0" indent="0" algn="ctr">
              <a:buNone/>
            </a:pPr>
            <a:r>
              <a:rPr lang="en-US" sz="3200" b="1" dirty="0">
                <a:solidFill>
                  <a:srgbClr val="FFFFFF"/>
                </a:solidFill>
                <a:latin typeface="Cambria" pitchFamily="34" charset="0"/>
                <a:ea typeface="Cambria" pitchFamily="34" charset="-122"/>
                <a:cs typeface="Cambria" pitchFamily="34" charset="-120"/>
              </a:rPr>
              <a:t>Thank You</a:t>
            </a:r>
            <a:endParaRPr lang="en-US" sz="3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09728"/>
            <a:ext cx="9144000" cy="274320"/>
          </a:xfrm>
          <a:prstGeom prst="rect">
            <a:avLst/>
          </a:prstGeom>
          <a:noFill/>
          <a:ln/>
        </p:spPr>
        <p:txBody>
          <a:bodyPr wrap="square" rtlCol="0" anchor="ctr"/>
          <a:lstStyle/>
          <a:p>
            <a:pPr marL="0" indent="0">
              <a:buNone/>
            </a:pPr>
            <a:r>
              <a:rPr lang="en-US" sz="1100" b="1" kern="0" spc="200" dirty="0">
                <a:solidFill>
                  <a:srgbClr val="E8A33D"/>
                </a:solidFill>
                <a:latin typeface="Calibri" pitchFamily="34" charset="0"/>
                <a:ea typeface="Calibri" pitchFamily="34" charset="-122"/>
                <a:cs typeface="Calibri" pitchFamily="34" charset="-120"/>
              </a:rPr>
              <a:t>SOURCES</a:t>
            </a:r>
            <a:endParaRPr lang="en-US" sz="1100" dirty="0"/>
          </a:p>
        </p:txBody>
      </p:sp>
      <p:sp>
        <p:nvSpPr>
          <p:cNvPr id="3" name="Text 1"/>
          <p:cNvSpPr/>
          <p:nvPr/>
        </p:nvSpPr>
        <p:spPr>
          <a:xfrm>
            <a:off x="548640" y="384048"/>
            <a:ext cx="1106424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References</a:t>
            </a:r>
            <a:endParaRPr lang="en-US" sz="3000" dirty="0"/>
          </a:p>
        </p:txBody>
      </p:sp>
      <p:sp>
        <p:nvSpPr>
          <p:cNvPr id="5" name="Shape 3"/>
          <p:cNvSpPr/>
          <p:nvPr/>
        </p:nvSpPr>
        <p:spPr>
          <a:xfrm>
            <a:off x="777240" y="1746504"/>
            <a:ext cx="457200" cy="457200"/>
          </a:xfrm>
          <a:prstGeom prst="roundRect">
            <a:avLst>
              <a:gd name="adj" fmla="val 16000"/>
            </a:avLst>
          </a:prstGeom>
          <a:solidFill>
            <a:srgbClr val="1E2761"/>
          </a:solidFill>
          <a:ln/>
        </p:spPr>
      </p:sp>
      <p:sp>
        <p:nvSpPr>
          <p:cNvPr id="6" name="Text 4"/>
          <p:cNvSpPr/>
          <p:nvPr/>
        </p:nvSpPr>
        <p:spPr>
          <a:xfrm>
            <a:off x="777240" y="1746504"/>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0" name="Shape 8"/>
          <p:cNvSpPr/>
          <p:nvPr/>
        </p:nvSpPr>
        <p:spPr>
          <a:xfrm>
            <a:off x="777240" y="2715768"/>
            <a:ext cx="457200" cy="457200"/>
          </a:xfrm>
          <a:prstGeom prst="roundRect">
            <a:avLst>
              <a:gd name="adj" fmla="val 16000"/>
            </a:avLst>
          </a:prstGeom>
          <a:solidFill>
            <a:srgbClr val="1E2761"/>
          </a:solidFill>
          <a:ln/>
        </p:spPr>
      </p:sp>
      <p:sp>
        <p:nvSpPr>
          <p:cNvPr id="11" name="Text 9"/>
          <p:cNvSpPr/>
          <p:nvPr/>
        </p:nvSpPr>
        <p:spPr>
          <a:xfrm>
            <a:off x="777240" y="2715768"/>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6" name="Text 14"/>
          <p:cNvSpPr/>
          <p:nvPr/>
        </p:nvSpPr>
        <p:spPr>
          <a:xfrm>
            <a:off x="777240" y="3685032"/>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6" name="Text 24"/>
          <p:cNvSpPr/>
          <p:nvPr/>
        </p:nvSpPr>
        <p:spPr>
          <a:xfrm>
            <a:off x="777240" y="5623560"/>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9" name="Text 27"/>
          <p:cNvSpPr/>
          <p:nvPr/>
        </p:nvSpPr>
        <p:spPr>
          <a:xfrm>
            <a:off x="548640" y="6510528"/>
            <a:ext cx="8229600" cy="274320"/>
          </a:xfrm>
          <a:prstGeom prst="rect">
            <a:avLst/>
          </a:prstGeom>
          <a:noFill/>
          <a:ln/>
        </p:spPr>
        <p:txBody>
          <a:bodyPr wrap="square" rtlCol="0" anchor="ctr"/>
          <a:lstStyle/>
          <a:p>
            <a:pPr marL="0" indent="0">
              <a:buNone/>
            </a:pPr>
            <a:r>
              <a:rPr lang="en-US" sz="850" kern="0" spc="100" dirty="0">
                <a:solidFill>
                  <a:srgbClr val="5B6472"/>
                </a:solidFill>
                <a:latin typeface="Calibri" pitchFamily="34" charset="0"/>
                <a:ea typeface="Calibri" pitchFamily="34" charset="-122"/>
                <a:cs typeface="Calibri" pitchFamily="34" charset="-120"/>
              </a:rPr>
              <a:t>LONGEST INCREASING SUBSEQUENCE  ·  DYNAMIC PROGRAMMING</a:t>
            </a:r>
            <a:endParaRPr lang="en-US" sz="850" dirty="0"/>
          </a:p>
        </p:txBody>
      </p:sp>
      <p:sp>
        <p:nvSpPr>
          <p:cNvPr id="30" name="Text 28"/>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17</a:t>
            </a:r>
            <a:endParaRPr lang="en-US" sz="900" dirty="0"/>
          </a:p>
        </p:txBody>
      </p:sp>
      <p:sp>
        <p:nvSpPr>
          <p:cNvPr id="31" name="TextBox 30">
            <a:extLst>
              <a:ext uri="{FF2B5EF4-FFF2-40B4-BE49-F238E27FC236}">
                <a16:creationId xmlns:a16="http://schemas.microsoft.com/office/drawing/2014/main" id="{2DFEFB43-2555-16DD-E7AB-80E0662F3B74}"/>
              </a:ext>
            </a:extLst>
          </p:cNvPr>
          <p:cNvSpPr txBox="1"/>
          <p:nvPr/>
        </p:nvSpPr>
        <p:spPr>
          <a:xfrm>
            <a:off x="1507524" y="1746504"/>
            <a:ext cx="6227806" cy="369332"/>
          </a:xfrm>
          <a:prstGeom prst="rect">
            <a:avLst/>
          </a:prstGeom>
          <a:noFill/>
        </p:spPr>
        <p:txBody>
          <a:bodyPr wrap="square" rtlCol="0">
            <a:spAutoFit/>
          </a:bodyPr>
          <a:lstStyle/>
          <a:p>
            <a:r>
              <a:rPr lang="en-IN" dirty="0">
                <a:solidFill>
                  <a:schemeClr val="accent1">
                    <a:lumMod val="50000"/>
                  </a:schemeClr>
                </a:solidFill>
              </a:rPr>
              <a:t>Geeks For Geeks : LIS Solved By Using Dynamic Programming</a:t>
            </a:r>
          </a:p>
        </p:txBody>
      </p:sp>
      <p:sp>
        <p:nvSpPr>
          <p:cNvPr id="32" name="TextBox 31">
            <a:extLst>
              <a:ext uri="{FF2B5EF4-FFF2-40B4-BE49-F238E27FC236}">
                <a16:creationId xmlns:a16="http://schemas.microsoft.com/office/drawing/2014/main" id="{BDC79942-E361-5D59-4761-C749A5BF4786}"/>
              </a:ext>
            </a:extLst>
          </p:cNvPr>
          <p:cNvSpPr txBox="1"/>
          <p:nvPr/>
        </p:nvSpPr>
        <p:spPr>
          <a:xfrm>
            <a:off x="1507524" y="2752345"/>
            <a:ext cx="8781535" cy="2585323"/>
          </a:xfrm>
          <a:prstGeom prst="rect">
            <a:avLst/>
          </a:prstGeom>
          <a:noFill/>
        </p:spPr>
        <p:txBody>
          <a:bodyPr wrap="square" rtlCol="0">
            <a:spAutoFit/>
          </a:bodyPr>
          <a:lstStyle/>
          <a:p>
            <a:r>
              <a:rPr lang="en-IN" dirty="0"/>
              <a:t>YouTube Videos :</a:t>
            </a:r>
          </a:p>
          <a:p>
            <a:r>
              <a:rPr lang="en-IN" dirty="0"/>
              <a:t> </a:t>
            </a:r>
            <a:r>
              <a:rPr lang="en-IN" dirty="0">
                <a:hlinkClick r:id="rId3"/>
              </a:rPr>
              <a:t>https://youtu.be/IFfYfonAFGc?si=HC0jWa90PWqd1QHY</a:t>
            </a:r>
            <a:br>
              <a:rPr lang="en-IN" dirty="0"/>
            </a:br>
            <a:br>
              <a:rPr lang="en-IN" dirty="0"/>
            </a:br>
            <a:r>
              <a:rPr lang="en-IN" dirty="0">
                <a:hlinkClick r:id="rId4"/>
              </a:rPr>
              <a:t>https://youtu.be/E6us4nmXTHs?si=CRGbNTGY2lwuznuH</a:t>
            </a:r>
            <a:br>
              <a:rPr lang="en-IN" dirty="0"/>
            </a:br>
            <a:br>
              <a:rPr lang="en-IN" dirty="0"/>
            </a:br>
            <a:r>
              <a:rPr lang="en-IN" dirty="0">
                <a:hlinkClick r:id="rId5"/>
              </a:rPr>
              <a:t>https://youtu.be/ekcwMsSIzVc?si=321Vu_RK7R-K-amf</a:t>
            </a:r>
            <a:br>
              <a:rPr lang="en-IN" dirty="0"/>
            </a:br>
            <a:br>
              <a:rPr lang="en-IN" dirty="0"/>
            </a:br>
            <a:r>
              <a:rPr lang="en-IN" dirty="0">
                <a:hlinkClick r:id="rId6"/>
              </a:rPr>
              <a:t>https://youtu.be/on2hvxBXJH4?si=GlyA59E6uDYCmJna</a:t>
            </a:r>
            <a:br>
              <a:rPr lang="en-IN" dirty="0"/>
            </a:br>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278</TotalTime>
  <Words>1998</Words>
  <Application>Microsoft Office PowerPoint</Application>
  <PresentationFormat>Widescreen</PresentationFormat>
  <Paragraphs>299</Paragraphs>
  <Slides>23</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AYAN DAS</cp:lastModifiedBy>
  <cp:revision>3</cp:revision>
  <dcterms:created xsi:type="dcterms:W3CDTF">2026-08-13T18:07:19Z</dcterms:created>
  <dcterms:modified xsi:type="dcterms:W3CDTF">2026-08-16T15:24:28Z</dcterms:modified>
</cp:coreProperties>
</file>