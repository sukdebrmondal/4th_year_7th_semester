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2743200" y="777240"/>
            <a:ext cx="420624" cy="420624"/>
          </a:xfrm>
          <a:prstGeom prst="ellipse">
            <a:avLst/>
          </a:prstGeom>
          <a:solidFill>
            <a:srgbClr val="02C39A"/>
          </a:solidFill>
          <a:ln/>
        </p:spPr>
      </p:sp>
      <p:sp>
        <p:nvSpPr>
          <p:cNvPr id="3" name="Text 1"/>
          <p:cNvSpPr/>
          <p:nvPr/>
        </p:nvSpPr>
        <p:spPr>
          <a:xfrm>
            <a:off x="2743200" y="777240"/>
            <a:ext cx="420624" cy="420624"/>
          </a:xfrm>
          <a:prstGeom prst="rect">
            <a:avLst/>
          </a:prstGeom>
          <a:noFill/>
          <a:ln/>
        </p:spPr>
        <p:txBody>
          <a:bodyPr wrap="square" lIns="0" tIns="0" rIns="0" bIns="0" rtlCol="0" anchor="ctr"/>
          <a:lstStyle/>
          <a:p>
            <a:pPr algn="ctr" indent="0" marL="0">
              <a:buNone/>
            </a:pPr>
            <a:r>
              <a:rPr lang="en-US" sz="1400" b="1" dirty="0">
                <a:solidFill>
                  <a:srgbClr val="0B2E33"/>
                </a:solidFill>
                <a:latin typeface="Calibri" pitchFamily="34" charset="0"/>
                <a:ea typeface="Calibri" pitchFamily="34" charset="-122"/>
                <a:cs typeface="Calibri" pitchFamily="34" charset="-120"/>
              </a:rPr>
              <a:t>G</a:t>
            </a:r>
            <a:endParaRPr lang="en-US" sz="1400" dirty="0"/>
          </a:p>
        </p:txBody>
      </p:sp>
      <p:sp>
        <p:nvSpPr>
          <p:cNvPr id="4" name="Shape 2"/>
          <p:cNvSpPr/>
          <p:nvPr/>
        </p:nvSpPr>
        <p:spPr>
          <a:xfrm>
            <a:off x="3310128" y="777240"/>
            <a:ext cx="420624" cy="420624"/>
          </a:xfrm>
          <a:prstGeom prst="ellipse">
            <a:avLst/>
          </a:prstGeom>
          <a:solidFill>
            <a:srgbClr val="154046"/>
          </a:solidFill>
          <a:ln/>
        </p:spPr>
      </p:sp>
      <p:sp>
        <p:nvSpPr>
          <p:cNvPr id="5" name="Text 3"/>
          <p:cNvSpPr/>
          <p:nvPr/>
        </p:nvSpPr>
        <p:spPr>
          <a:xfrm>
            <a:off x="3310128" y="777240"/>
            <a:ext cx="420624" cy="420624"/>
          </a:xfrm>
          <a:prstGeom prst="rect">
            <a:avLst/>
          </a:prstGeom>
          <a:noFill/>
          <a:ln/>
        </p:spPr>
        <p:txBody>
          <a:bodyPr wrap="square" lIns="0" tIns="0" rIns="0" bIns="0" rtlCol="0" anchor="ctr"/>
          <a:lstStyle/>
          <a:p>
            <a:pPr algn="ctr" indent="0" marL="0">
              <a:buNone/>
            </a:pPr>
            <a:r>
              <a:rPr lang="en-US" sz="1400" b="1" dirty="0">
                <a:solidFill>
                  <a:srgbClr val="6FA9A5"/>
                </a:solidFill>
                <a:latin typeface="Calibri" pitchFamily="34" charset="0"/>
                <a:ea typeface="Calibri" pitchFamily="34" charset="-122"/>
                <a:cs typeface="Calibri" pitchFamily="34" charset="-120"/>
              </a:rPr>
              <a:t>X</a:t>
            </a:r>
            <a:endParaRPr lang="en-US" sz="1400" dirty="0"/>
          </a:p>
        </p:txBody>
      </p:sp>
      <p:sp>
        <p:nvSpPr>
          <p:cNvPr id="6" name="Shape 4"/>
          <p:cNvSpPr/>
          <p:nvPr/>
        </p:nvSpPr>
        <p:spPr>
          <a:xfrm>
            <a:off x="3877056" y="777240"/>
            <a:ext cx="420624" cy="420624"/>
          </a:xfrm>
          <a:prstGeom prst="ellipse">
            <a:avLst/>
          </a:prstGeom>
          <a:solidFill>
            <a:srgbClr val="02C39A"/>
          </a:solidFill>
          <a:ln/>
        </p:spPr>
      </p:sp>
      <p:sp>
        <p:nvSpPr>
          <p:cNvPr id="7" name="Text 5"/>
          <p:cNvSpPr/>
          <p:nvPr/>
        </p:nvSpPr>
        <p:spPr>
          <a:xfrm>
            <a:off x="3877056" y="777240"/>
            <a:ext cx="420624" cy="420624"/>
          </a:xfrm>
          <a:prstGeom prst="rect">
            <a:avLst/>
          </a:prstGeom>
          <a:noFill/>
          <a:ln/>
        </p:spPr>
        <p:txBody>
          <a:bodyPr wrap="square" lIns="0" tIns="0" rIns="0" bIns="0" rtlCol="0" anchor="ctr"/>
          <a:lstStyle/>
          <a:p>
            <a:pPr algn="ctr" indent="0" marL="0">
              <a:buNone/>
            </a:pPr>
            <a:r>
              <a:rPr lang="en-US" sz="1400" b="1" dirty="0">
                <a:solidFill>
                  <a:srgbClr val="0B2E33"/>
                </a:solidFill>
                <a:latin typeface="Calibri" pitchFamily="34" charset="0"/>
                <a:ea typeface="Calibri" pitchFamily="34" charset="-122"/>
                <a:cs typeface="Calibri" pitchFamily="34" charset="-120"/>
              </a:rPr>
              <a:t>T</a:t>
            </a:r>
            <a:endParaRPr lang="en-US" sz="1400" dirty="0"/>
          </a:p>
        </p:txBody>
      </p:sp>
      <p:sp>
        <p:nvSpPr>
          <p:cNvPr id="8" name="Shape 6"/>
          <p:cNvSpPr/>
          <p:nvPr/>
        </p:nvSpPr>
        <p:spPr>
          <a:xfrm>
            <a:off x="4443984" y="777240"/>
            <a:ext cx="420624" cy="420624"/>
          </a:xfrm>
          <a:prstGeom prst="ellipse">
            <a:avLst/>
          </a:prstGeom>
          <a:solidFill>
            <a:srgbClr val="154046"/>
          </a:solidFill>
          <a:ln/>
        </p:spPr>
      </p:sp>
      <p:sp>
        <p:nvSpPr>
          <p:cNvPr id="9" name="Text 7"/>
          <p:cNvSpPr/>
          <p:nvPr/>
        </p:nvSpPr>
        <p:spPr>
          <a:xfrm>
            <a:off x="4443984" y="777240"/>
            <a:ext cx="420624" cy="420624"/>
          </a:xfrm>
          <a:prstGeom prst="rect">
            <a:avLst/>
          </a:prstGeom>
          <a:noFill/>
          <a:ln/>
        </p:spPr>
        <p:txBody>
          <a:bodyPr wrap="square" lIns="0" tIns="0" rIns="0" bIns="0" rtlCol="0" anchor="ctr"/>
          <a:lstStyle/>
          <a:p>
            <a:pPr algn="ctr" indent="0" marL="0">
              <a:buNone/>
            </a:pPr>
            <a:r>
              <a:rPr lang="en-US" sz="1400" b="1" dirty="0">
                <a:solidFill>
                  <a:srgbClr val="6FA9A5"/>
                </a:solidFill>
                <a:latin typeface="Calibri" pitchFamily="34" charset="0"/>
                <a:ea typeface="Calibri" pitchFamily="34" charset="-122"/>
                <a:cs typeface="Calibri" pitchFamily="34" charset="-120"/>
              </a:rPr>
              <a:t>X</a:t>
            </a:r>
            <a:endParaRPr lang="en-US" sz="1400" dirty="0"/>
          </a:p>
        </p:txBody>
      </p:sp>
      <p:sp>
        <p:nvSpPr>
          <p:cNvPr id="10" name="Shape 8"/>
          <p:cNvSpPr/>
          <p:nvPr/>
        </p:nvSpPr>
        <p:spPr>
          <a:xfrm>
            <a:off x="5010912" y="777240"/>
            <a:ext cx="420624" cy="420624"/>
          </a:xfrm>
          <a:prstGeom prst="ellipse">
            <a:avLst/>
          </a:prstGeom>
          <a:solidFill>
            <a:srgbClr val="02C39A"/>
          </a:solidFill>
          <a:ln/>
        </p:spPr>
      </p:sp>
      <p:sp>
        <p:nvSpPr>
          <p:cNvPr id="11" name="Text 9"/>
          <p:cNvSpPr/>
          <p:nvPr/>
        </p:nvSpPr>
        <p:spPr>
          <a:xfrm>
            <a:off x="5010912" y="777240"/>
            <a:ext cx="420624" cy="420624"/>
          </a:xfrm>
          <a:prstGeom prst="rect">
            <a:avLst/>
          </a:prstGeom>
          <a:noFill/>
          <a:ln/>
        </p:spPr>
        <p:txBody>
          <a:bodyPr wrap="square" lIns="0" tIns="0" rIns="0" bIns="0" rtlCol="0" anchor="ctr"/>
          <a:lstStyle/>
          <a:p>
            <a:pPr algn="ctr" indent="0" marL="0">
              <a:buNone/>
            </a:pPr>
            <a:r>
              <a:rPr lang="en-US" sz="1400" b="1" dirty="0">
                <a:solidFill>
                  <a:srgbClr val="0B2E33"/>
                </a:solidFill>
                <a:latin typeface="Calibri" pitchFamily="34" charset="0"/>
                <a:ea typeface="Calibri" pitchFamily="34" charset="-122"/>
                <a:cs typeface="Calibri" pitchFamily="34" charset="-120"/>
              </a:rPr>
              <a:t>A</a:t>
            </a:r>
            <a:endParaRPr lang="en-US" sz="1400" dirty="0"/>
          </a:p>
        </p:txBody>
      </p:sp>
      <p:sp>
        <p:nvSpPr>
          <p:cNvPr id="12" name="Shape 10"/>
          <p:cNvSpPr/>
          <p:nvPr/>
        </p:nvSpPr>
        <p:spPr>
          <a:xfrm>
            <a:off x="5577840" y="777240"/>
            <a:ext cx="420624" cy="420624"/>
          </a:xfrm>
          <a:prstGeom prst="ellipse">
            <a:avLst/>
          </a:prstGeom>
          <a:solidFill>
            <a:srgbClr val="154046"/>
          </a:solidFill>
          <a:ln/>
        </p:spPr>
      </p:sp>
      <p:sp>
        <p:nvSpPr>
          <p:cNvPr id="13" name="Text 11"/>
          <p:cNvSpPr/>
          <p:nvPr/>
        </p:nvSpPr>
        <p:spPr>
          <a:xfrm>
            <a:off x="5577840" y="777240"/>
            <a:ext cx="420624" cy="420624"/>
          </a:xfrm>
          <a:prstGeom prst="rect">
            <a:avLst/>
          </a:prstGeom>
          <a:noFill/>
          <a:ln/>
        </p:spPr>
        <p:txBody>
          <a:bodyPr wrap="square" lIns="0" tIns="0" rIns="0" bIns="0" rtlCol="0" anchor="ctr"/>
          <a:lstStyle/>
          <a:p>
            <a:pPr algn="ctr" indent="0" marL="0">
              <a:buNone/>
            </a:pPr>
            <a:r>
              <a:rPr lang="en-US" sz="1400" b="1" dirty="0">
                <a:solidFill>
                  <a:srgbClr val="6FA9A5"/>
                </a:solidFill>
                <a:latin typeface="Calibri" pitchFamily="34" charset="0"/>
                <a:ea typeface="Calibri" pitchFamily="34" charset="-122"/>
                <a:cs typeface="Calibri" pitchFamily="34" charset="-120"/>
              </a:rPr>
              <a:t>Y</a:t>
            </a:r>
            <a:endParaRPr lang="en-US" sz="1400" dirty="0"/>
          </a:p>
        </p:txBody>
      </p:sp>
      <p:sp>
        <p:nvSpPr>
          <p:cNvPr id="14" name="Shape 12"/>
          <p:cNvSpPr/>
          <p:nvPr/>
        </p:nvSpPr>
        <p:spPr>
          <a:xfrm>
            <a:off x="6144768" y="777240"/>
            <a:ext cx="420624" cy="420624"/>
          </a:xfrm>
          <a:prstGeom prst="ellipse">
            <a:avLst/>
          </a:prstGeom>
          <a:solidFill>
            <a:srgbClr val="02C39A"/>
          </a:solidFill>
          <a:ln/>
        </p:spPr>
      </p:sp>
      <p:sp>
        <p:nvSpPr>
          <p:cNvPr id="15" name="Text 13"/>
          <p:cNvSpPr/>
          <p:nvPr/>
        </p:nvSpPr>
        <p:spPr>
          <a:xfrm>
            <a:off x="6144768" y="777240"/>
            <a:ext cx="420624" cy="420624"/>
          </a:xfrm>
          <a:prstGeom prst="rect">
            <a:avLst/>
          </a:prstGeom>
          <a:noFill/>
          <a:ln/>
        </p:spPr>
        <p:txBody>
          <a:bodyPr wrap="square" lIns="0" tIns="0" rIns="0" bIns="0" rtlCol="0" anchor="ctr"/>
          <a:lstStyle/>
          <a:p>
            <a:pPr algn="ctr" indent="0" marL="0">
              <a:buNone/>
            </a:pPr>
            <a:r>
              <a:rPr lang="en-US" sz="1400" b="1" dirty="0">
                <a:solidFill>
                  <a:srgbClr val="0B2E33"/>
                </a:solidFill>
                <a:latin typeface="Calibri" pitchFamily="34" charset="0"/>
                <a:ea typeface="Calibri" pitchFamily="34" charset="-122"/>
                <a:cs typeface="Calibri" pitchFamily="34" charset="-120"/>
              </a:rPr>
              <a:t>B</a:t>
            </a:r>
            <a:endParaRPr lang="en-US" sz="1400" dirty="0"/>
          </a:p>
        </p:txBody>
      </p:sp>
      <p:sp>
        <p:nvSpPr>
          <p:cNvPr id="16" name="Shape 14"/>
          <p:cNvSpPr/>
          <p:nvPr/>
        </p:nvSpPr>
        <p:spPr>
          <a:xfrm>
            <a:off x="3026664" y="1417320"/>
            <a:ext cx="420624" cy="420624"/>
          </a:xfrm>
          <a:prstGeom prst="ellipse">
            <a:avLst/>
          </a:prstGeom>
          <a:solidFill>
            <a:srgbClr val="154046"/>
          </a:solidFill>
          <a:ln/>
        </p:spPr>
      </p:sp>
      <p:sp>
        <p:nvSpPr>
          <p:cNvPr id="17" name="Text 15"/>
          <p:cNvSpPr/>
          <p:nvPr/>
        </p:nvSpPr>
        <p:spPr>
          <a:xfrm>
            <a:off x="3026664" y="1417320"/>
            <a:ext cx="420624" cy="420624"/>
          </a:xfrm>
          <a:prstGeom prst="rect">
            <a:avLst/>
          </a:prstGeom>
          <a:noFill/>
          <a:ln/>
        </p:spPr>
        <p:txBody>
          <a:bodyPr wrap="square" lIns="0" tIns="0" rIns="0" bIns="0" rtlCol="0" anchor="ctr"/>
          <a:lstStyle/>
          <a:p>
            <a:pPr algn="ctr" indent="0" marL="0">
              <a:buNone/>
            </a:pPr>
            <a:r>
              <a:rPr lang="en-US" sz="1400" b="1" dirty="0">
                <a:solidFill>
                  <a:srgbClr val="6FA9A5"/>
                </a:solidFill>
                <a:latin typeface="Calibri" pitchFamily="34" charset="0"/>
                <a:ea typeface="Calibri" pitchFamily="34" charset="-122"/>
                <a:cs typeface="Calibri" pitchFamily="34" charset="-120"/>
              </a:rPr>
              <a:t>A</a:t>
            </a:r>
            <a:endParaRPr lang="en-US" sz="1400" dirty="0"/>
          </a:p>
        </p:txBody>
      </p:sp>
      <p:sp>
        <p:nvSpPr>
          <p:cNvPr id="18" name="Shape 16"/>
          <p:cNvSpPr/>
          <p:nvPr/>
        </p:nvSpPr>
        <p:spPr>
          <a:xfrm>
            <a:off x="3593592" y="1417320"/>
            <a:ext cx="420624" cy="420624"/>
          </a:xfrm>
          <a:prstGeom prst="ellipse">
            <a:avLst/>
          </a:prstGeom>
          <a:solidFill>
            <a:srgbClr val="02C39A"/>
          </a:solidFill>
          <a:ln/>
        </p:spPr>
      </p:sp>
      <p:sp>
        <p:nvSpPr>
          <p:cNvPr id="19" name="Text 17"/>
          <p:cNvSpPr/>
          <p:nvPr/>
        </p:nvSpPr>
        <p:spPr>
          <a:xfrm>
            <a:off x="3593592" y="1417320"/>
            <a:ext cx="420624" cy="420624"/>
          </a:xfrm>
          <a:prstGeom prst="rect">
            <a:avLst/>
          </a:prstGeom>
          <a:noFill/>
          <a:ln/>
        </p:spPr>
        <p:txBody>
          <a:bodyPr wrap="square" lIns="0" tIns="0" rIns="0" bIns="0" rtlCol="0" anchor="ctr"/>
          <a:lstStyle/>
          <a:p>
            <a:pPr algn="ctr" indent="0" marL="0">
              <a:buNone/>
            </a:pPr>
            <a:r>
              <a:rPr lang="en-US" sz="1400" b="1" dirty="0">
                <a:solidFill>
                  <a:srgbClr val="0B2E33"/>
                </a:solidFill>
                <a:latin typeface="Calibri" pitchFamily="34" charset="0"/>
                <a:ea typeface="Calibri" pitchFamily="34" charset="-122"/>
                <a:cs typeface="Calibri" pitchFamily="34" charset="-120"/>
              </a:rPr>
              <a:t>G</a:t>
            </a:r>
            <a:endParaRPr lang="en-US" sz="1400" dirty="0"/>
          </a:p>
        </p:txBody>
      </p:sp>
      <p:sp>
        <p:nvSpPr>
          <p:cNvPr id="20" name="Shape 18"/>
          <p:cNvSpPr/>
          <p:nvPr/>
        </p:nvSpPr>
        <p:spPr>
          <a:xfrm>
            <a:off x="4160520" y="1417320"/>
            <a:ext cx="420624" cy="420624"/>
          </a:xfrm>
          <a:prstGeom prst="ellipse">
            <a:avLst/>
          </a:prstGeom>
          <a:solidFill>
            <a:srgbClr val="154046"/>
          </a:solidFill>
          <a:ln/>
        </p:spPr>
      </p:sp>
      <p:sp>
        <p:nvSpPr>
          <p:cNvPr id="21" name="Text 19"/>
          <p:cNvSpPr/>
          <p:nvPr/>
        </p:nvSpPr>
        <p:spPr>
          <a:xfrm>
            <a:off x="4160520" y="1417320"/>
            <a:ext cx="420624" cy="420624"/>
          </a:xfrm>
          <a:prstGeom prst="rect">
            <a:avLst/>
          </a:prstGeom>
          <a:noFill/>
          <a:ln/>
        </p:spPr>
        <p:txBody>
          <a:bodyPr wrap="square" lIns="0" tIns="0" rIns="0" bIns="0" rtlCol="0" anchor="ctr"/>
          <a:lstStyle/>
          <a:p>
            <a:pPr algn="ctr" indent="0" marL="0">
              <a:buNone/>
            </a:pPr>
            <a:r>
              <a:rPr lang="en-US" sz="1400" b="1" dirty="0">
                <a:solidFill>
                  <a:srgbClr val="6FA9A5"/>
                </a:solidFill>
                <a:latin typeface="Calibri" pitchFamily="34" charset="0"/>
                <a:ea typeface="Calibri" pitchFamily="34" charset="-122"/>
                <a:cs typeface="Calibri" pitchFamily="34" charset="-120"/>
              </a:rPr>
              <a:t>G</a:t>
            </a:r>
            <a:endParaRPr lang="en-US" sz="1400" dirty="0"/>
          </a:p>
        </p:txBody>
      </p:sp>
      <p:sp>
        <p:nvSpPr>
          <p:cNvPr id="22" name="Shape 20"/>
          <p:cNvSpPr/>
          <p:nvPr/>
        </p:nvSpPr>
        <p:spPr>
          <a:xfrm>
            <a:off x="4727448" y="1417320"/>
            <a:ext cx="420624" cy="420624"/>
          </a:xfrm>
          <a:prstGeom prst="ellipse">
            <a:avLst/>
          </a:prstGeom>
          <a:solidFill>
            <a:srgbClr val="02C39A"/>
          </a:solidFill>
          <a:ln/>
        </p:spPr>
      </p:sp>
      <p:sp>
        <p:nvSpPr>
          <p:cNvPr id="23" name="Text 21"/>
          <p:cNvSpPr/>
          <p:nvPr/>
        </p:nvSpPr>
        <p:spPr>
          <a:xfrm>
            <a:off x="4727448" y="1417320"/>
            <a:ext cx="420624" cy="420624"/>
          </a:xfrm>
          <a:prstGeom prst="rect">
            <a:avLst/>
          </a:prstGeom>
          <a:noFill/>
          <a:ln/>
        </p:spPr>
        <p:txBody>
          <a:bodyPr wrap="square" lIns="0" tIns="0" rIns="0" bIns="0" rtlCol="0" anchor="ctr"/>
          <a:lstStyle/>
          <a:p>
            <a:pPr algn="ctr" indent="0" marL="0">
              <a:buNone/>
            </a:pPr>
            <a:r>
              <a:rPr lang="en-US" sz="1400" b="1" dirty="0">
                <a:solidFill>
                  <a:srgbClr val="0B2E33"/>
                </a:solidFill>
                <a:latin typeface="Calibri" pitchFamily="34" charset="0"/>
                <a:ea typeface="Calibri" pitchFamily="34" charset="-122"/>
                <a:cs typeface="Calibri" pitchFamily="34" charset="-120"/>
              </a:rPr>
              <a:t>T</a:t>
            </a:r>
            <a:endParaRPr lang="en-US" sz="1400" dirty="0"/>
          </a:p>
        </p:txBody>
      </p:sp>
      <p:sp>
        <p:nvSpPr>
          <p:cNvPr id="24" name="Shape 22"/>
          <p:cNvSpPr/>
          <p:nvPr/>
        </p:nvSpPr>
        <p:spPr>
          <a:xfrm>
            <a:off x="5294376" y="1417320"/>
            <a:ext cx="420624" cy="420624"/>
          </a:xfrm>
          <a:prstGeom prst="ellipse">
            <a:avLst/>
          </a:prstGeom>
          <a:solidFill>
            <a:srgbClr val="02C39A"/>
          </a:solidFill>
          <a:ln/>
        </p:spPr>
      </p:sp>
      <p:sp>
        <p:nvSpPr>
          <p:cNvPr id="25" name="Text 23"/>
          <p:cNvSpPr/>
          <p:nvPr/>
        </p:nvSpPr>
        <p:spPr>
          <a:xfrm>
            <a:off x="5294376" y="1417320"/>
            <a:ext cx="420624" cy="420624"/>
          </a:xfrm>
          <a:prstGeom prst="rect">
            <a:avLst/>
          </a:prstGeom>
          <a:noFill/>
          <a:ln/>
        </p:spPr>
        <p:txBody>
          <a:bodyPr wrap="square" lIns="0" tIns="0" rIns="0" bIns="0" rtlCol="0" anchor="ctr"/>
          <a:lstStyle/>
          <a:p>
            <a:pPr algn="ctr" indent="0" marL="0">
              <a:buNone/>
            </a:pPr>
            <a:r>
              <a:rPr lang="en-US" sz="1400" b="1" dirty="0">
                <a:solidFill>
                  <a:srgbClr val="0B2E33"/>
                </a:solidFill>
                <a:latin typeface="Calibri" pitchFamily="34" charset="0"/>
                <a:ea typeface="Calibri" pitchFamily="34" charset="-122"/>
                <a:cs typeface="Calibri" pitchFamily="34" charset="-120"/>
              </a:rPr>
              <a:t>A</a:t>
            </a:r>
            <a:endParaRPr lang="en-US" sz="1400" dirty="0"/>
          </a:p>
        </p:txBody>
      </p:sp>
      <p:sp>
        <p:nvSpPr>
          <p:cNvPr id="26" name="Shape 24"/>
          <p:cNvSpPr/>
          <p:nvPr/>
        </p:nvSpPr>
        <p:spPr>
          <a:xfrm>
            <a:off x="5861304" y="1417320"/>
            <a:ext cx="420624" cy="420624"/>
          </a:xfrm>
          <a:prstGeom prst="ellipse">
            <a:avLst/>
          </a:prstGeom>
          <a:solidFill>
            <a:srgbClr val="02C39A"/>
          </a:solidFill>
          <a:ln/>
        </p:spPr>
      </p:sp>
      <p:sp>
        <p:nvSpPr>
          <p:cNvPr id="27" name="Text 25"/>
          <p:cNvSpPr/>
          <p:nvPr/>
        </p:nvSpPr>
        <p:spPr>
          <a:xfrm>
            <a:off x="5861304" y="1417320"/>
            <a:ext cx="420624" cy="420624"/>
          </a:xfrm>
          <a:prstGeom prst="rect">
            <a:avLst/>
          </a:prstGeom>
          <a:noFill/>
          <a:ln/>
        </p:spPr>
        <p:txBody>
          <a:bodyPr wrap="square" lIns="0" tIns="0" rIns="0" bIns="0" rtlCol="0" anchor="ctr"/>
          <a:lstStyle/>
          <a:p>
            <a:pPr algn="ctr" indent="0" marL="0">
              <a:buNone/>
            </a:pPr>
            <a:r>
              <a:rPr lang="en-US" sz="1400" b="1" dirty="0">
                <a:solidFill>
                  <a:srgbClr val="0B2E33"/>
                </a:solidFill>
                <a:latin typeface="Calibri" pitchFamily="34" charset="0"/>
                <a:ea typeface="Calibri" pitchFamily="34" charset="-122"/>
                <a:cs typeface="Calibri" pitchFamily="34" charset="-120"/>
              </a:rPr>
              <a:t>B</a:t>
            </a:r>
            <a:endParaRPr lang="en-US" sz="1400" dirty="0"/>
          </a:p>
        </p:txBody>
      </p:sp>
      <p:sp>
        <p:nvSpPr>
          <p:cNvPr id="28" name="Shape 26"/>
          <p:cNvSpPr/>
          <p:nvPr/>
        </p:nvSpPr>
        <p:spPr>
          <a:xfrm>
            <a:off x="2953512" y="1197864"/>
            <a:ext cx="850392" cy="219456"/>
          </a:xfrm>
          <a:prstGeom prst="line">
            <a:avLst/>
          </a:prstGeom>
          <a:noFill/>
          <a:ln w="15875">
            <a:solidFill>
              <a:srgbClr val="02C39A"/>
            </a:solidFill>
            <a:prstDash val="sysDot"/>
          </a:ln>
        </p:spPr>
      </p:sp>
      <p:sp>
        <p:nvSpPr>
          <p:cNvPr id="29" name="Shape 27"/>
          <p:cNvSpPr/>
          <p:nvPr/>
        </p:nvSpPr>
        <p:spPr>
          <a:xfrm>
            <a:off x="4087368" y="1197864"/>
            <a:ext cx="850392" cy="219456"/>
          </a:xfrm>
          <a:prstGeom prst="line">
            <a:avLst/>
          </a:prstGeom>
          <a:noFill/>
          <a:ln w="15875">
            <a:solidFill>
              <a:srgbClr val="02C39A"/>
            </a:solidFill>
            <a:prstDash val="sysDot"/>
          </a:ln>
        </p:spPr>
      </p:sp>
      <p:sp>
        <p:nvSpPr>
          <p:cNvPr id="30" name="Shape 28"/>
          <p:cNvSpPr/>
          <p:nvPr/>
        </p:nvSpPr>
        <p:spPr>
          <a:xfrm>
            <a:off x="5221224" y="1197864"/>
            <a:ext cx="283464" cy="219456"/>
          </a:xfrm>
          <a:prstGeom prst="line">
            <a:avLst/>
          </a:prstGeom>
          <a:noFill/>
          <a:ln w="15875">
            <a:solidFill>
              <a:srgbClr val="02C39A"/>
            </a:solidFill>
            <a:prstDash val="sysDot"/>
          </a:ln>
        </p:spPr>
      </p:sp>
      <p:sp>
        <p:nvSpPr>
          <p:cNvPr id="31" name="Shape 29"/>
          <p:cNvSpPr/>
          <p:nvPr/>
        </p:nvSpPr>
        <p:spPr>
          <a:xfrm>
            <a:off x="6355080" y="1197864"/>
            <a:ext cx="-283464" cy="219456"/>
          </a:xfrm>
          <a:prstGeom prst="line">
            <a:avLst/>
          </a:prstGeom>
          <a:noFill/>
          <a:ln w="15875">
            <a:solidFill>
              <a:srgbClr val="02C39A"/>
            </a:solidFill>
            <a:prstDash val="sysDot"/>
          </a:ln>
        </p:spPr>
      </p:sp>
      <p:sp>
        <p:nvSpPr>
          <p:cNvPr id="32" name="Text 30"/>
          <p:cNvSpPr/>
          <p:nvPr/>
        </p:nvSpPr>
        <p:spPr>
          <a:xfrm>
            <a:off x="640080" y="2331720"/>
            <a:ext cx="1088136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LONGEST COMMON SUBSEQUENCE</a:t>
            </a:r>
            <a:endParaRPr lang="en-US" sz="4200" dirty="0"/>
          </a:p>
        </p:txBody>
      </p:sp>
      <p:sp>
        <p:nvSpPr>
          <p:cNvPr id="33" name="Text 31"/>
          <p:cNvSpPr/>
          <p:nvPr/>
        </p:nvSpPr>
        <p:spPr>
          <a:xfrm>
            <a:off x="640080" y="3127248"/>
            <a:ext cx="10881360" cy="502920"/>
          </a:xfrm>
          <a:prstGeom prst="rect">
            <a:avLst/>
          </a:prstGeom>
          <a:noFill/>
          <a:ln/>
        </p:spPr>
        <p:txBody>
          <a:bodyPr wrap="square" lIns="0" tIns="0" rIns="0" bIns="0" rtlCol="0" anchor="ctr"/>
          <a:lstStyle/>
          <a:p>
            <a:pPr indent="0" marL="0">
              <a:buNone/>
            </a:pPr>
            <a:r>
              <a:rPr lang="en-US" sz="1900" i="1" dirty="0">
                <a:solidFill>
                  <a:srgbClr val="02C39A"/>
                </a:solidFill>
                <a:latin typeface="Calibri" pitchFamily="34" charset="0"/>
                <a:ea typeface="Calibri" pitchFamily="34" charset="-122"/>
                <a:cs typeface="Calibri" pitchFamily="34" charset="-120"/>
              </a:rPr>
              <a:t>Where the LCS Problem Shows Up — and How It's Solved</a:t>
            </a:r>
            <a:endParaRPr lang="en-US" sz="1900" dirty="0"/>
          </a:p>
        </p:txBody>
      </p:sp>
      <p:sp>
        <p:nvSpPr>
          <p:cNvPr id="34" name="Text 32"/>
          <p:cNvSpPr/>
          <p:nvPr/>
        </p:nvSpPr>
        <p:spPr>
          <a:xfrm>
            <a:off x="640080" y="3886200"/>
            <a:ext cx="9144000" cy="365760"/>
          </a:xfrm>
          <a:prstGeom prst="rect">
            <a:avLst/>
          </a:prstGeom>
          <a:noFill/>
          <a:ln/>
        </p:spPr>
        <p:txBody>
          <a:bodyPr wrap="square" lIns="0" tIns="0" rIns="0" bIns="0" rtlCol="0" anchor="ctr"/>
          <a:lstStyle/>
          <a:p>
            <a:pPr indent="0" marL="0">
              <a:buNone/>
            </a:pPr>
            <a:r>
              <a:rPr lang="en-US" sz="1300" dirty="0">
                <a:solidFill>
                  <a:srgbClr val="9FC9C4"/>
                </a:solidFill>
                <a:latin typeface="Calibri" pitchFamily="34" charset="0"/>
                <a:ea typeface="Calibri" pitchFamily="34" charset="-122"/>
                <a:cs typeface="Calibri" pitchFamily="34" charset="-120"/>
              </a:rPr>
              <a:t>Problem domains   ·   Connection to LCS   ·   Solution approach</a:t>
            </a:r>
            <a:endParaRPr lang="en-US" sz="1300" dirty="0"/>
          </a:p>
        </p:txBody>
      </p:sp>
      <p:sp>
        <p:nvSpPr>
          <p:cNvPr id="35" name="Text 33"/>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9FC9C4"/>
                </a:solidFill>
                <a:latin typeface="Calibri" pitchFamily="34" charset="0"/>
                <a:ea typeface="Calibri" pitchFamily="34" charset="-122"/>
                <a:cs typeface="Calibri" pitchFamily="34" charset="-120"/>
              </a:rPr>
              <a:t>Algorithms in Practice</a:t>
            </a:r>
            <a:endParaRPr lang="en-US" sz="900" dirty="0"/>
          </a:p>
        </p:txBody>
      </p:sp>
      <p:sp>
        <p:nvSpPr>
          <p:cNvPr id="36" name="Text 34"/>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FC9C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274320"/>
          </a:xfrm>
          <a:prstGeom prst="rect">
            <a:avLst/>
          </a:prstGeom>
          <a:noFill/>
          <a:ln/>
        </p:spPr>
        <p:txBody>
          <a:bodyPr wrap="square" lIns="0" tIns="0" rIns="0" bIns="0"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40080" y="713232"/>
            <a:ext cx="10881360" cy="548640"/>
          </a:xfrm>
          <a:prstGeom prst="rect">
            <a:avLst/>
          </a:prstGeom>
          <a:noFill/>
          <a:ln/>
        </p:spPr>
        <p:txBody>
          <a:bodyPr wrap="square" lIns="0" tIns="0" rIns="0" bIns="0" rtlCol="0" anchor="ctr"/>
          <a:lstStyle/>
          <a:p>
            <a:pPr indent="0" marL="0">
              <a:buNone/>
            </a:pPr>
            <a:r>
              <a:rPr lang="en-US" sz="2800" b="1" dirty="0">
                <a:solidFill>
                  <a:srgbClr val="0B2E33"/>
                </a:solidFill>
                <a:latin typeface="Cambria" pitchFamily="34" charset="0"/>
                <a:ea typeface="Cambria" pitchFamily="34" charset="-122"/>
                <a:cs typeface="Cambria" pitchFamily="34" charset="-120"/>
              </a:rPr>
              <a:t>What Is the Longest Common Subsequence?</a:t>
            </a:r>
            <a:endParaRPr lang="en-US" sz="2800" dirty="0"/>
          </a:p>
        </p:txBody>
      </p:sp>
      <p:sp>
        <p:nvSpPr>
          <p:cNvPr id="4" name="Text 2"/>
          <p:cNvSpPr/>
          <p:nvPr/>
        </p:nvSpPr>
        <p:spPr>
          <a:xfrm>
            <a:off x="640080" y="1600200"/>
            <a:ext cx="5120640" cy="1188720"/>
          </a:xfrm>
          <a:prstGeom prst="rect">
            <a:avLst/>
          </a:prstGeom>
          <a:noFill/>
          <a:ln/>
        </p:spPr>
        <p:txBody>
          <a:bodyPr wrap="square" lIns="0" tIns="0" rIns="0" bIns="0" rtlCol="0" anchor="t"/>
          <a:lstStyle/>
          <a:p>
            <a:pPr indent="0" marL="0">
              <a:lnSpc>
                <a:spcPct val="125000"/>
              </a:lnSpc>
              <a:buNone/>
            </a:pPr>
            <a:r>
              <a:rPr lang="en-US" sz="1450" dirty="0">
                <a:solidFill>
                  <a:srgbClr val="1B2B2E"/>
                </a:solidFill>
                <a:latin typeface="Calibri" pitchFamily="34" charset="0"/>
                <a:ea typeface="Calibri" pitchFamily="34" charset="-122"/>
                <a:cs typeface="Calibri" pitchFamily="34" charset="-120"/>
              </a:rPr>
              <a:t>Given two sequences, find the longest sequence of elements that appears in both — </a:t>
            </a:r>
            <a:pPr indent="0" marL="0">
              <a:lnSpc>
                <a:spcPct val="125000"/>
              </a:lnSpc>
              <a:buNone/>
            </a:pPr>
            <a:r>
              <a:rPr lang="en-US" sz="1450" b="1" dirty="0">
                <a:solidFill>
                  <a:srgbClr val="028090"/>
                </a:solidFill>
                <a:latin typeface="Calibri" pitchFamily="34" charset="0"/>
                <a:ea typeface="Calibri" pitchFamily="34" charset="-122"/>
                <a:cs typeface="Calibri" pitchFamily="34" charset="-120"/>
              </a:rPr>
              <a:t>in the same relative order, but not necessarily contiguous.</a:t>
            </a:r>
            <a:endParaRPr lang="en-US" sz="1450" dirty="0"/>
          </a:p>
        </p:txBody>
      </p:sp>
      <p:sp>
        <p:nvSpPr>
          <p:cNvPr id="5" name="Text 3"/>
          <p:cNvSpPr/>
          <p:nvPr/>
        </p:nvSpPr>
        <p:spPr>
          <a:xfrm>
            <a:off x="640080" y="2880360"/>
            <a:ext cx="5120640" cy="237744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B2B2E"/>
                </a:solidFill>
                <a:latin typeface="Calibri" pitchFamily="34" charset="0"/>
                <a:ea typeface="Calibri" pitchFamily="34" charset="-122"/>
                <a:cs typeface="Calibri" pitchFamily="34" charset="-120"/>
              </a:rPr>
              <a:t>A subsequence skips elements freely, but never reorders them.</a:t>
            </a:r>
            <a:endParaRPr lang="en-US" sz="1300" dirty="0"/>
          </a:p>
          <a:p>
            <a:pPr marL="342900" indent="-342900">
              <a:spcAft>
                <a:spcPts val="1200"/>
              </a:spcAft>
              <a:buSzPct val="100000"/>
              <a:buChar char="▪"/>
            </a:pPr>
            <a:r>
              <a:rPr lang="en-US" sz="1300" dirty="0">
                <a:solidFill>
                  <a:srgbClr val="1B2B2E"/>
                </a:solidFill>
                <a:latin typeface="Calibri" pitchFamily="34" charset="0"/>
                <a:ea typeface="Calibri" pitchFamily="34" charset="-122"/>
                <a:cs typeface="Calibri" pitchFamily="34" charset="-120"/>
              </a:rPr>
              <a:t>Two strings can share a long subsequence while differing almost everywhere character-by-character.</a:t>
            </a:r>
            <a:endParaRPr lang="en-US" sz="1300" dirty="0"/>
          </a:p>
          <a:p>
            <a:pPr marL="342900" indent="-342900">
              <a:spcAft>
                <a:spcPts val="1200"/>
              </a:spcAft>
              <a:buSzPct val="100000"/>
              <a:buChar char="▪"/>
            </a:pPr>
            <a:r>
              <a:rPr lang="en-US" sz="1300" dirty="0">
                <a:solidFill>
                  <a:srgbClr val="1B2B2E"/>
                </a:solidFill>
                <a:latin typeface="Calibri" pitchFamily="34" charset="0"/>
                <a:ea typeface="Calibri" pitchFamily="34" charset="-122"/>
                <a:cs typeface="Calibri" pitchFamily="34" charset="-120"/>
              </a:rPr>
              <a:t>LCS length is a natural measure of similarity between two ordered sequences.</a:t>
            </a:r>
            <a:endParaRPr lang="en-US" sz="1300" dirty="0"/>
          </a:p>
        </p:txBody>
      </p:sp>
      <p:sp>
        <p:nvSpPr>
          <p:cNvPr id="6" name="Shape 4"/>
          <p:cNvSpPr/>
          <p:nvPr/>
        </p:nvSpPr>
        <p:spPr>
          <a:xfrm>
            <a:off x="6172200" y="1600200"/>
            <a:ext cx="5349240" cy="4709160"/>
          </a:xfrm>
          <a:prstGeom prst="roundRect">
            <a:avLst>
              <a:gd name="adj" fmla="val 1553"/>
            </a:avLst>
          </a:prstGeom>
          <a:solidFill>
            <a:srgbClr val="F4F8F7"/>
          </a:solidFill>
          <a:ln/>
          <a:effectLst>
            <a:outerShdw sx="100000" sy="100000" kx="0" ky="0" algn="bl" rotWithShape="0" blurRad="101600" dist="38100" dir="5400000">
              <a:srgbClr val="000000">
                <a:alpha val="12000"/>
              </a:srgbClr>
            </a:outerShdw>
          </a:effectLst>
        </p:spPr>
      </p:sp>
      <p:sp>
        <p:nvSpPr>
          <p:cNvPr id="7" name="Text 5"/>
          <p:cNvSpPr/>
          <p:nvPr/>
        </p:nvSpPr>
        <p:spPr>
          <a:xfrm>
            <a:off x="6492240" y="1856232"/>
            <a:ext cx="2743200" cy="274320"/>
          </a:xfrm>
          <a:prstGeom prst="rect">
            <a:avLst/>
          </a:prstGeom>
          <a:noFill/>
          <a:ln/>
        </p:spPr>
        <p:txBody>
          <a:bodyPr wrap="square" lIns="0" tIns="0" rIns="0" bIns="0"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EXAMPLE</a:t>
            </a:r>
            <a:endParaRPr lang="en-US" sz="1100" dirty="0"/>
          </a:p>
        </p:txBody>
      </p:sp>
      <p:sp>
        <p:nvSpPr>
          <p:cNvPr id="8" name="Text 6"/>
          <p:cNvSpPr/>
          <p:nvPr/>
        </p:nvSpPr>
        <p:spPr>
          <a:xfrm>
            <a:off x="6492240" y="2313432"/>
            <a:ext cx="1828800" cy="274320"/>
          </a:xfrm>
          <a:prstGeom prst="rect">
            <a:avLst/>
          </a:prstGeom>
          <a:noFill/>
          <a:ln/>
        </p:spPr>
        <p:txBody>
          <a:bodyPr wrap="square" lIns="0" tIns="0" rIns="0" bIns="0" rtlCol="0" anchor="ctr"/>
          <a:lstStyle/>
          <a:p>
            <a:pPr indent="0" marL="0">
              <a:buNone/>
            </a:pPr>
            <a:r>
              <a:rPr lang="en-US" sz="1200" b="1" dirty="0">
                <a:solidFill>
                  <a:srgbClr val="6E7E80"/>
                </a:solidFill>
                <a:latin typeface="Calibri" pitchFamily="34" charset="0"/>
                <a:ea typeface="Calibri" pitchFamily="34" charset="-122"/>
                <a:cs typeface="Calibri" pitchFamily="34" charset="-120"/>
              </a:rPr>
              <a:t>Sequence X</a:t>
            </a:r>
            <a:endParaRPr lang="en-US" sz="1200" dirty="0"/>
          </a:p>
        </p:txBody>
      </p:sp>
      <p:sp>
        <p:nvSpPr>
          <p:cNvPr id="9" name="Shape 7"/>
          <p:cNvSpPr/>
          <p:nvPr/>
        </p:nvSpPr>
        <p:spPr>
          <a:xfrm>
            <a:off x="6492240" y="2624328"/>
            <a:ext cx="548640" cy="502920"/>
          </a:xfrm>
          <a:prstGeom prst="roundRect">
            <a:avLst>
              <a:gd name="adj" fmla="val 7273"/>
            </a:avLst>
          </a:prstGeom>
          <a:solidFill>
            <a:srgbClr val="02C39A"/>
          </a:solidFill>
          <a:ln w="12700">
            <a:solidFill>
              <a:srgbClr val="02C39A"/>
            </a:solidFill>
            <a:prstDash val="solid"/>
          </a:ln>
        </p:spPr>
      </p:sp>
      <p:sp>
        <p:nvSpPr>
          <p:cNvPr id="10" name="Text 8"/>
          <p:cNvSpPr/>
          <p:nvPr/>
        </p:nvSpPr>
        <p:spPr>
          <a:xfrm>
            <a:off x="6492240" y="2624328"/>
            <a:ext cx="548640" cy="5029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G</a:t>
            </a:r>
            <a:endParaRPr lang="en-US" sz="1500" dirty="0"/>
          </a:p>
        </p:txBody>
      </p:sp>
      <p:sp>
        <p:nvSpPr>
          <p:cNvPr id="11" name="Shape 9"/>
          <p:cNvSpPr/>
          <p:nvPr/>
        </p:nvSpPr>
        <p:spPr>
          <a:xfrm>
            <a:off x="7114032" y="2624328"/>
            <a:ext cx="548640" cy="502920"/>
          </a:xfrm>
          <a:prstGeom prst="roundRect">
            <a:avLst>
              <a:gd name="adj" fmla="val 7273"/>
            </a:avLst>
          </a:prstGeom>
          <a:solidFill>
            <a:srgbClr val="FFFFFF"/>
          </a:solidFill>
          <a:ln w="12700">
            <a:solidFill>
              <a:srgbClr val="D8E2E0"/>
            </a:solidFill>
            <a:prstDash val="solid"/>
          </a:ln>
        </p:spPr>
      </p:sp>
      <p:sp>
        <p:nvSpPr>
          <p:cNvPr id="12" name="Text 10"/>
          <p:cNvSpPr/>
          <p:nvPr/>
        </p:nvSpPr>
        <p:spPr>
          <a:xfrm>
            <a:off x="7114032" y="2624328"/>
            <a:ext cx="548640" cy="502920"/>
          </a:xfrm>
          <a:prstGeom prst="rect">
            <a:avLst/>
          </a:prstGeom>
          <a:noFill/>
          <a:ln/>
        </p:spPr>
        <p:txBody>
          <a:bodyPr wrap="square" lIns="0" tIns="0" rIns="0" bIns="0" rtlCol="0" anchor="ctr"/>
          <a:lstStyle/>
          <a:p>
            <a:pPr algn="ctr" indent="0" marL="0">
              <a:buNone/>
            </a:pPr>
            <a:r>
              <a:rPr lang="en-US" sz="1500" b="1" dirty="0">
                <a:solidFill>
                  <a:srgbClr val="6E7E80"/>
                </a:solidFill>
                <a:latin typeface="Calibri" pitchFamily="34" charset="0"/>
                <a:ea typeface="Calibri" pitchFamily="34" charset="-122"/>
                <a:cs typeface="Calibri" pitchFamily="34" charset="-120"/>
              </a:rPr>
              <a:t>X</a:t>
            </a:r>
            <a:endParaRPr lang="en-US" sz="1500" dirty="0"/>
          </a:p>
        </p:txBody>
      </p:sp>
      <p:sp>
        <p:nvSpPr>
          <p:cNvPr id="13" name="Shape 11"/>
          <p:cNvSpPr/>
          <p:nvPr/>
        </p:nvSpPr>
        <p:spPr>
          <a:xfrm>
            <a:off x="7735824" y="2624328"/>
            <a:ext cx="548640" cy="502920"/>
          </a:xfrm>
          <a:prstGeom prst="roundRect">
            <a:avLst>
              <a:gd name="adj" fmla="val 7273"/>
            </a:avLst>
          </a:prstGeom>
          <a:solidFill>
            <a:srgbClr val="02C39A"/>
          </a:solidFill>
          <a:ln w="12700">
            <a:solidFill>
              <a:srgbClr val="02C39A"/>
            </a:solidFill>
            <a:prstDash val="solid"/>
          </a:ln>
        </p:spPr>
      </p:sp>
      <p:sp>
        <p:nvSpPr>
          <p:cNvPr id="14" name="Text 12"/>
          <p:cNvSpPr/>
          <p:nvPr/>
        </p:nvSpPr>
        <p:spPr>
          <a:xfrm>
            <a:off x="7735824" y="2624328"/>
            <a:ext cx="548640" cy="5029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T</a:t>
            </a:r>
            <a:endParaRPr lang="en-US" sz="1500" dirty="0"/>
          </a:p>
        </p:txBody>
      </p:sp>
      <p:sp>
        <p:nvSpPr>
          <p:cNvPr id="15" name="Shape 13"/>
          <p:cNvSpPr/>
          <p:nvPr/>
        </p:nvSpPr>
        <p:spPr>
          <a:xfrm>
            <a:off x="8357616" y="2624328"/>
            <a:ext cx="548640" cy="502920"/>
          </a:xfrm>
          <a:prstGeom prst="roundRect">
            <a:avLst>
              <a:gd name="adj" fmla="val 7273"/>
            </a:avLst>
          </a:prstGeom>
          <a:solidFill>
            <a:srgbClr val="FFFFFF"/>
          </a:solidFill>
          <a:ln w="12700">
            <a:solidFill>
              <a:srgbClr val="D8E2E0"/>
            </a:solidFill>
            <a:prstDash val="solid"/>
          </a:ln>
        </p:spPr>
      </p:sp>
      <p:sp>
        <p:nvSpPr>
          <p:cNvPr id="16" name="Text 14"/>
          <p:cNvSpPr/>
          <p:nvPr/>
        </p:nvSpPr>
        <p:spPr>
          <a:xfrm>
            <a:off x="8357616" y="2624328"/>
            <a:ext cx="548640" cy="502920"/>
          </a:xfrm>
          <a:prstGeom prst="rect">
            <a:avLst/>
          </a:prstGeom>
          <a:noFill/>
          <a:ln/>
        </p:spPr>
        <p:txBody>
          <a:bodyPr wrap="square" lIns="0" tIns="0" rIns="0" bIns="0" rtlCol="0" anchor="ctr"/>
          <a:lstStyle/>
          <a:p>
            <a:pPr algn="ctr" indent="0" marL="0">
              <a:buNone/>
            </a:pPr>
            <a:r>
              <a:rPr lang="en-US" sz="1500" b="1" dirty="0">
                <a:solidFill>
                  <a:srgbClr val="6E7E80"/>
                </a:solidFill>
                <a:latin typeface="Calibri" pitchFamily="34" charset="0"/>
                <a:ea typeface="Calibri" pitchFamily="34" charset="-122"/>
                <a:cs typeface="Calibri" pitchFamily="34" charset="-120"/>
              </a:rPr>
              <a:t>X</a:t>
            </a:r>
            <a:endParaRPr lang="en-US" sz="1500" dirty="0"/>
          </a:p>
        </p:txBody>
      </p:sp>
      <p:sp>
        <p:nvSpPr>
          <p:cNvPr id="17" name="Shape 15"/>
          <p:cNvSpPr/>
          <p:nvPr/>
        </p:nvSpPr>
        <p:spPr>
          <a:xfrm>
            <a:off x="8979408" y="2624328"/>
            <a:ext cx="548640" cy="502920"/>
          </a:xfrm>
          <a:prstGeom prst="roundRect">
            <a:avLst>
              <a:gd name="adj" fmla="val 7273"/>
            </a:avLst>
          </a:prstGeom>
          <a:solidFill>
            <a:srgbClr val="02C39A"/>
          </a:solidFill>
          <a:ln w="12700">
            <a:solidFill>
              <a:srgbClr val="02C39A"/>
            </a:solidFill>
            <a:prstDash val="solid"/>
          </a:ln>
        </p:spPr>
      </p:sp>
      <p:sp>
        <p:nvSpPr>
          <p:cNvPr id="18" name="Text 16"/>
          <p:cNvSpPr/>
          <p:nvPr/>
        </p:nvSpPr>
        <p:spPr>
          <a:xfrm>
            <a:off x="8979408" y="2624328"/>
            <a:ext cx="548640" cy="5029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A</a:t>
            </a:r>
            <a:endParaRPr lang="en-US" sz="1500" dirty="0"/>
          </a:p>
        </p:txBody>
      </p:sp>
      <p:sp>
        <p:nvSpPr>
          <p:cNvPr id="19" name="Shape 17"/>
          <p:cNvSpPr/>
          <p:nvPr/>
        </p:nvSpPr>
        <p:spPr>
          <a:xfrm>
            <a:off x="9601200" y="2624328"/>
            <a:ext cx="548640" cy="502920"/>
          </a:xfrm>
          <a:prstGeom prst="roundRect">
            <a:avLst>
              <a:gd name="adj" fmla="val 7273"/>
            </a:avLst>
          </a:prstGeom>
          <a:solidFill>
            <a:srgbClr val="FFFFFF"/>
          </a:solidFill>
          <a:ln w="12700">
            <a:solidFill>
              <a:srgbClr val="D8E2E0"/>
            </a:solidFill>
            <a:prstDash val="solid"/>
          </a:ln>
        </p:spPr>
      </p:sp>
      <p:sp>
        <p:nvSpPr>
          <p:cNvPr id="20" name="Text 18"/>
          <p:cNvSpPr/>
          <p:nvPr/>
        </p:nvSpPr>
        <p:spPr>
          <a:xfrm>
            <a:off x="9601200" y="2624328"/>
            <a:ext cx="548640" cy="502920"/>
          </a:xfrm>
          <a:prstGeom prst="rect">
            <a:avLst/>
          </a:prstGeom>
          <a:noFill/>
          <a:ln/>
        </p:spPr>
        <p:txBody>
          <a:bodyPr wrap="square" lIns="0" tIns="0" rIns="0" bIns="0" rtlCol="0" anchor="ctr"/>
          <a:lstStyle/>
          <a:p>
            <a:pPr algn="ctr" indent="0" marL="0">
              <a:buNone/>
            </a:pPr>
            <a:r>
              <a:rPr lang="en-US" sz="1500" b="1" dirty="0">
                <a:solidFill>
                  <a:srgbClr val="6E7E80"/>
                </a:solidFill>
                <a:latin typeface="Calibri" pitchFamily="34" charset="0"/>
                <a:ea typeface="Calibri" pitchFamily="34" charset="-122"/>
                <a:cs typeface="Calibri" pitchFamily="34" charset="-120"/>
              </a:rPr>
              <a:t>Y</a:t>
            </a:r>
            <a:endParaRPr lang="en-US" sz="1500" dirty="0"/>
          </a:p>
        </p:txBody>
      </p:sp>
      <p:sp>
        <p:nvSpPr>
          <p:cNvPr id="21" name="Shape 19"/>
          <p:cNvSpPr/>
          <p:nvPr/>
        </p:nvSpPr>
        <p:spPr>
          <a:xfrm>
            <a:off x="10222992" y="2624328"/>
            <a:ext cx="548640" cy="502920"/>
          </a:xfrm>
          <a:prstGeom prst="roundRect">
            <a:avLst>
              <a:gd name="adj" fmla="val 7273"/>
            </a:avLst>
          </a:prstGeom>
          <a:solidFill>
            <a:srgbClr val="02C39A"/>
          </a:solidFill>
          <a:ln w="12700">
            <a:solidFill>
              <a:srgbClr val="02C39A"/>
            </a:solidFill>
            <a:prstDash val="solid"/>
          </a:ln>
        </p:spPr>
      </p:sp>
      <p:sp>
        <p:nvSpPr>
          <p:cNvPr id="22" name="Text 20"/>
          <p:cNvSpPr/>
          <p:nvPr/>
        </p:nvSpPr>
        <p:spPr>
          <a:xfrm>
            <a:off x="10222992" y="2624328"/>
            <a:ext cx="548640" cy="5029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B</a:t>
            </a:r>
            <a:endParaRPr lang="en-US" sz="1500" dirty="0"/>
          </a:p>
        </p:txBody>
      </p:sp>
      <p:sp>
        <p:nvSpPr>
          <p:cNvPr id="23" name="Text 21"/>
          <p:cNvSpPr/>
          <p:nvPr/>
        </p:nvSpPr>
        <p:spPr>
          <a:xfrm>
            <a:off x="6492240" y="3172968"/>
            <a:ext cx="1828800" cy="274320"/>
          </a:xfrm>
          <a:prstGeom prst="rect">
            <a:avLst/>
          </a:prstGeom>
          <a:noFill/>
          <a:ln/>
        </p:spPr>
        <p:txBody>
          <a:bodyPr wrap="square" lIns="0" tIns="0" rIns="0" bIns="0" rtlCol="0" anchor="ctr"/>
          <a:lstStyle/>
          <a:p>
            <a:pPr indent="0" marL="0">
              <a:buNone/>
            </a:pPr>
            <a:r>
              <a:rPr lang="en-US" sz="1200" b="1" dirty="0">
                <a:solidFill>
                  <a:srgbClr val="6E7E80"/>
                </a:solidFill>
                <a:latin typeface="Calibri" pitchFamily="34" charset="0"/>
                <a:ea typeface="Calibri" pitchFamily="34" charset="-122"/>
                <a:cs typeface="Calibri" pitchFamily="34" charset="-120"/>
              </a:rPr>
              <a:t>Sequence Y</a:t>
            </a:r>
            <a:endParaRPr lang="en-US" sz="1200" dirty="0"/>
          </a:p>
        </p:txBody>
      </p:sp>
      <p:sp>
        <p:nvSpPr>
          <p:cNvPr id="24" name="Shape 22"/>
          <p:cNvSpPr/>
          <p:nvPr/>
        </p:nvSpPr>
        <p:spPr>
          <a:xfrm>
            <a:off x="6803136" y="3474720"/>
            <a:ext cx="548640" cy="502920"/>
          </a:xfrm>
          <a:prstGeom prst="roundRect">
            <a:avLst>
              <a:gd name="adj" fmla="val 7273"/>
            </a:avLst>
          </a:prstGeom>
          <a:solidFill>
            <a:srgbClr val="FFFFFF"/>
          </a:solidFill>
          <a:ln w="12700">
            <a:solidFill>
              <a:srgbClr val="D8E2E0"/>
            </a:solidFill>
            <a:prstDash val="solid"/>
          </a:ln>
        </p:spPr>
      </p:sp>
      <p:sp>
        <p:nvSpPr>
          <p:cNvPr id="25" name="Text 23"/>
          <p:cNvSpPr/>
          <p:nvPr/>
        </p:nvSpPr>
        <p:spPr>
          <a:xfrm>
            <a:off x="6803136" y="3474720"/>
            <a:ext cx="548640" cy="502920"/>
          </a:xfrm>
          <a:prstGeom prst="rect">
            <a:avLst/>
          </a:prstGeom>
          <a:noFill/>
          <a:ln/>
        </p:spPr>
        <p:txBody>
          <a:bodyPr wrap="square" lIns="0" tIns="0" rIns="0" bIns="0" rtlCol="0" anchor="ctr"/>
          <a:lstStyle/>
          <a:p>
            <a:pPr algn="ctr" indent="0" marL="0">
              <a:buNone/>
            </a:pPr>
            <a:r>
              <a:rPr lang="en-US" sz="1500" b="1" dirty="0">
                <a:solidFill>
                  <a:srgbClr val="6E7E80"/>
                </a:solidFill>
                <a:latin typeface="Calibri" pitchFamily="34" charset="0"/>
                <a:ea typeface="Calibri" pitchFamily="34" charset="-122"/>
                <a:cs typeface="Calibri" pitchFamily="34" charset="-120"/>
              </a:rPr>
              <a:t>A</a:t>
            </a:r>
            <a:endParaRPr lang="en-US" sz="1500" dirty="0"/>
          </a:p>
        </p:txBody>
      </p:sp>
      <p:sp>
        <p:nvSpPr>
          <p:cNvPr id="26" name="Shape 24"/>
          <p:cNvSpPr/>
          <p:nvPr/>
        </p:nvSpPr>
        <p:spPr>
          <a:xfrm>
            <a:off x="7424928" y="3474720"/>
            <a:ext cx="548640" cy="502920"/>
          </a:xfrm>
          <a:prstGeom prst="roundRect">
            <a:avLst>
              <a:gd name="adj" fmla="val 7273"/>
            </a:avLst>
          </a:prstGeom>
          <a:solidFill>
            <a:srgbClr val="02C39A"/>
          </a:solidFill>
          <a:ln w="12700">
            <a:solidFill>
              <a:srgbClr val="02C39A"/>
            </a:solidFill>
            <a:prstDash val="solid"/>
          </a:ln>
        </p:spPr>
      </p:sp>
      <p:sp>
        <p:nvSpPr>
          <p:cNvPr id="27" name="Text 25"/>
          <p:cNvSpPr/>
          <p:nvPr/>
        </p:nvSpPr>
        <p:spPr>
          <a:xfrm>
            <a:off x="7424928" y="3474720"/>
            <a:ext cx="548640" cy="5029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G</a:t>
            </a:r>
            <a:endParaRPr lang="en-US" sz="1500" dirty="0"/>
          </a:p>
        </p:txBody>
      </p:sp>
      <p:sp>
        <p:nvSpPr>
          <p:cNvPr id="28" name="Shape 26"/>
          <p:cNvSpPr/>
          <p:nvPr/>
        </p:nvSpPr>
        <p:spPr>
          <a:xfrm>
            <a:off x="8046720" y="3474720"/>
            <a:ext cx="548640" cy="502920"/>
          </a:xfrm>
          <a:prstGeom prst="roundRect">
            <a:avLst>
              <a:gd name="adj" fmla="val 7273"/>
            </a:avLst>
          </a:prstGeom>
          <a:solidFill>
            <a:srgbClr val="FFFFFF"/>
          </a:solidFill>
          <a:ln w="12700">
            <a:solidFill>
              <a:srgbClr val="D8E2E0"/>
            </a:solidFill>
            <a:prstDash val="solid"/>
          </a:ln>
        </p:spPr>
      </p:sp>
      <p:sp>
        <p:nvSpPr>
          <p:cNvPr id="29" name="Text 27"/>
          <p:cNvSpPr/>
          <p:nvPr/>
        </p:nvSpPr>
        <p:spPr>
          <a:xfrm>
            <a:off x="8046720" y="3474720"/>
            <a:ext cx="548640" cy="502920"/>
          </a:xfrm>
          <a:prstGeom prst="rect">
            <a:avLst/>
          </a:prstGeom>
          <a:noFill/>
          <a:ln/>
        </p:spPr>
        <p:txBody>
          <a:bodyPr wrap="square" lIns="0" tIns="0" rIns="0" bIns="0" rtlCol="0" anchor="ctr"/>
          <a:lstStyle/>
          <a:p>
            <a:pPr algn="ctr" indent="0" marL="0">
              <a:buNone/>
            </a:pPr>
            <a:r>
              <a:rPr lang="en-US" sz="1500" b="1" dirty="0">
                <a:solidFill>
                  <a:srgbClr val="6E7E80"/>
                </a:solidFill>
                <a:latin typeface="Calibri" pitchFamily="34" charset="0"/>
                <a:ea typeface="Calibri" pitchFamily="34" charset="-122"/>
                <a:cs typeface="Calibri" pitchFamily="34" charset="-120"/>
              </a:rPr>
              <a:t>G</a:t>
            </a:r>
            <a:endParaRPr lang="en-US" sz="1500" dirty="0"/>
          </a:p>
        </p:txBody>
      </p:sp>
      <p:sp>
        <p:nvSpPr>
          <p:cNvPr id="30" name="Shape 28"/>
          <p:cNvSpPr/>
          <p:nvPr/>
        </p:nvSpPr>
        <p:spPr>
          <a:xfrm>
            <a:off x="8668512" y="3474720"/>
            <a:ext cx="548640" cy="502920"/>
          </a:xfrm>
          <a:prstGeom prst="roundRect">
            <a:avLst>
              <a:gd name="adj" fmla="val 7273"/>
            </a:avLst>
          </a:prstGeom>
          <a:solidFill>
            <a:srgbClr val="02C39A"/>
          </a:solidFill>
          <a:ln w="12700">
            <a:solidFill>
              <a:srgbClr val="02C39A"/>
            </a:solidFill>
            <a:prstDash val="solid"/>
          </a:ln>
        </p:spPr>
      </p:sp>
      <p:sp>
        <p:nvSpPr>
          <p:cNvPr id="31" name="Text 29"/>
          <p:cNvSpPr/>
          <p:nvPr/>
        </p:nvSpPr>
        <p:spPr>
          <a:xfrm>
            <a:off x="8668512" y="3474720"/>
            <a:ext cx="548640" cy="5029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T</a:t>
            </a:r>
            <a:endParaRPr lang="en-US" sz="1500" dirty="0"/>
          </a:p>
        </p:txBody>
      </p:sp>
      <p:sp>
        <p:nvSpPr>
          <p:cNvPr id="32" name="Shape 30"/>
          <p:cNvSpPr/>
          <p:nvPr/>
        </p:nvSpPr>
        <p:spPr>
          <a:xfrm>
            <a:off x="9290304" y="3474720"/>
            <a:ext cx="548640" cy="502920"/>
          </a:xfrm>
          <a:prstGeom prst="roundRect">
            <a:avLst>
              <a:gd name="adj" fmla="val 7273"/>
            </a:avLst>
          </a:prstGeom>
          <a:solidFill>
            <a:srgbClr val="02C39A"/>
          </a:solidFill>
          <a:ln w="12700">
            <a:solidFill>
              <a:srgbClr val="02C39A"/>
            </a:solidFill>
            <a:prstDash val="solid"/>
          </a:ln>
        </p:spPr>
      </p:sp>
      <p:sp>
        <p:nvSpPr>
          <p:cNvPr id="33" name="Text 31"/>
          <p:cNvSpPr/>
          <p:nvPr/>
        </p:nvSpPr>
        <p:spPr>
          <a:xfrm>
            <a:off x="9290304" y="3474720"/>
            <a:ext cx="548640" cy="5029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A</a:t>
            </a:r>
            <a:endParaRPr lang="en-US" sz="1500" dirty="0"/>
          </a:p>
        </p:txBody>
      </p:sp>
      <p:sp>
        <p:nvSpPr>
          <p:cNvPr id="34" name="Shape 32"/>
          <p:cNvSpPr/>
          <p:nvPr/>
        </p:nvSpPr>
        <p:spPr>
          <a:xfrm>
            <a:off x="9912096" y="3474720"/>
            <a:ext cx="548640" cy="502920"/>
          </a:xfrm>
          <a:prstGeom prst="roundRect">
            <a:avLst>
              <a:gd name="adj" fmla="val 7273"/>
            </a:avLst>
          </a:prstGeom>
          <a:solidFill>
            <a:srgbClr val="02C39A"/>
          </a:solidFill>
          <a:ln w="12700">
            <a:solidFill>
              <a:srgbClr val="02C39A"/>
            </a:solidFill>
            <a:prstDash val="solid"/>
          </a:ln>
        </p:spPr>
      </p:sp>
      <p:sp>
        <p:nvSpPr>
          <p:cNvPr id="35" name="Text 33"/>
          <p:cNvSpPr/>
          <p:nvPr/>
        </p:nvSpPr>
        <p:spPr>
          <a:xfrm>
            <a:off x="9912096" y="3474720"/>
            <a:ext cx="548640" cy="502920"/>
          </a:xfrm>
          <a:prstGeom prst="rect">
            <a:avLst/>
          </a:prstGeom>
          <a:noFill/>
          <a:ln/>
        </p:spPr>
        <p:txBody>
          <a:bodyPr wrap="square" lIns="0" tIns="0" rIns="0" bIns="0" rtlCol="0" anchor="ctr"/>
          <a:lstStyle/>
          <a:p>
            <a:pPr algn="ctr" indent="0" marL="0">
              <a:buNone/>
            </a:pPr>
            <a:r>
              <a:rPr lang="en-US" sz="1500" b="1" dirty="0">
                <a:solidFill>
                  <a:srgbClr val="0B2E33"/>
                </a:solidFill>
                <a:latin typeface="Calibri" pitchFamily="34" charset="0"/>
                <a:ea typeface="Calibri" pitchFamily="34" charset="-122"/>
                <a:cs typeface="Calibri" pitchFamily="34" charset="-120"/>
              </a:rPr>
              <a:t>B</a:t>
            </a:r>
            <a:endParaRPr lang="en-US" sz="1500" dirty="0"/>
          </a:p>
        </p:txBody>
      </p:sp>
      <p:sp>
        <p:nvSpPr>
          <p:cNvPr id="36" name="Shape 34"/>
          <p:cNvSpPr/>
          <p:nvPr/>
        </p:nvSpPr>
        <p:spPr>
          <a:xfrm>
            <a:off x="6492240" y="4206240"/>
            <a:ext cx="4709160" cy="0"/>
          </a:xfrm>
          <a:prstGeom prst="line">
            <a:avLst/>
          </a:prstGeom>
          <a:noFill/>
          <a:ln w="12700">
            <a:solidFill>
              <a:srgbClr val="D8E2E0"/>
            </a:solidFill>
            <a:prstDash val="solid"/>
          </a:ln>
        </p:spPr>
      </p:sp>
      <p:sp>
        <p:nvSpPr>
          <p:cNvPr id="37" name="Text 35"/>
          <p:cNvSpPr/>
          <p:nvPr/>
        </p:nvSpPr>
        <p:spPr>
          <a:xfrm>
            <a:off x="6492240" y="4389120"/>
            <a:ext cx="4709160" cy="457200"/>
          </a:xfrm>
          <a:prstGeom prst="rect">
            <a:avLst/>
          </a:prstGeom>
          <a:noFill/>
          <a:ln/>
        </p:spPr>
        <p:txBody>
          <a:bodyPr wrap="square" lIns="0" tIns="0" rIns="0" bIns="0" rtlCol="0" anchor="ctr"/>
          <a:lstStyle/>
          <a:p>
            <a:pPr indent="0" marL="0">
              <a:buNone/>
            </a:pPr>
            <a:r>
              <a:rPr lang="en-US" sz="2000" dirty="0">
                <a:solidFill>
                  <a:srgbClr val="1B2B2E"/>
                </a:solidFill>
                <a:latin typeface="Cambria" pitchFamily="34" charset="0"/>
                <a:ea typeface="Cambria" pitchFamily="34" charset="-122"/>
                <a:cs typeface="Cambria" pitchFamily="34" charset="-120"/>
              </a:rPr>
              <a:t>LCS = </a:t>
            </a:r>
            <a:pPr indent="0" marL="0">
              <a:buNone/>
            </a:pPr>
            <a:r>
              <a:rPr lang="en-US" sz="2000" b="1" dirty="0">
                <a:solidFill>
                  <a:srgbClr val="028090"/>
                </a:solidFill>
                <a:latin typeface="Cambria" pitchFamily="34" charset="0"/>
                <a:ea typeface="Cambria" pitchFamily="34" charset="-122"/>
                <a:cs typeface="Cambria" pitchFamily="34" charset="-120"/>
              </a:rPr>
              <a:t>G T A B</a:t>
            </a:r>
            <a:pPr indent="0" marL="0">
              <a:buNone/>
            </a:pPr>
            <a:r>
              <a:rPr lang="en-US" sz="2000" dirty="0">
                <a:solidFill>
                  <a:srgbClr val="6E7E80"/>
                </a:solidFill>
                <a:latin typeface="Cambria" pitchFamily="34" charset="0"/>
                <a:ea typeface="Cambria" pitchFamily="34" charset="-122"/>
                <a:cs typeface="Cambria" pitchFamily="34" charset="-120"/>
              </a:rPr>
              <a:t>   (length 4)</a:t>
            </a:r>
            <a:endParaRPr lang="en-US" sz="2000" dirty="0"/>
          </a:p>
        </p:txBody>
      </p:sp>
      <p:sp>
        <p:nvSpPr>
          <p:cNvPr id="38" name="Text 36"/>
          <p:cNvSpPr/>
          <p:nvPr/>
        </p:nvSpPr>
        <p:spPr>
          <a:xfrm>
            <a:off x="6492240" y="4983480"/>
            <a:ext cx="4709160" cy="1097280"/>
          </a:xfrm>
          <a:prstGeom prst="rect">
            <a:avLst/>
          </a:prstGeom>
          <a:noFill/>
          <a:ln/>
        </p:spPr>
        <p:txBody>
          <a:bodyPr wrap="square" lIns="0" tIns="0" rIns="0" bIns="0" rtlCol="0" anchor="t"/>
          <a:lstStyle/>
          <a:p>
            <a:pPr indent="0" marL="0">
              <a:buNone/>
            </a:pPr>
            <a:r>
              <a:rPr lang="en-US" sz="1150" i="1" dirty="0">
                <a:solidFill>
                  <a:srgbClr val="6E7E80"/>
                </a:solidFill>
                <a:latin typeface="Calibri" pitchFamily="34" charset="0"/>
                <a:ea typeface="Calibri" pitchFamily="34" charset="-122"/>
                <a:cs typeface="Calibri" pitchFamily="34" charset="-120"/>
              </a:rPr>
              <a:t>Highlighted letters keep their left-to-right order in both X and Y, even though other characters sit between them.</a:t>
            </a:r>
            <a:endParaRPr lang="en-US" sz="1150" dirty="0"/>
          </a:p>
        </p:txBody>
      </p:sp>
      <p:sp>
        <p:nvSpPr>
          <p:cNvPr id="39" name="Text 37"/>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6E7E80"/>
                </a:solidFill>
                <a:latin typeface="Calibri" pitchFamily="34" charset="0"/>
                <a:ea typeface="Calibri" pitchFamily="34" charset="-122"/>
                <a:cs typeface="Calibri" pitchFamily="34" charset="-120"/>
              </a:rPr>
              <a:t>Algorithms in Practice</a:t>
            </a:r>
            <a:endParaRPr lang="en-US" sz="900" dirty="0"/>
          </a:p>
        </p:txBody>
      </p:sp>
      <p:sp>
        <p:nvSpPr>
          <p:cNvPr id="40" name="Text 3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7E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274320"/>
          </a:xfrm>
          <a:prstGeom prst="rect">
            <a:avLst/>
          </a:prstGeom>
          <a:noFill/>
          <a:ln/>
        </p:spPr>
        <p:txBody>
          <a:bodyPr wrap="square" lIns="0" tIns="0" rIns="0" bIns="0"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640080" y="713232"/>
            <a:ext cx="10881360" cy="548640"/>
          </a:xfrm>
          <a:prstGeom prst="rect">
            <a:avLst/>
          </a:prstGeom>
          <a:noFill/>
          <a:ln/>
        </p:spPr>
        <p:txBody>
          <a:bodyPr wrap="square" lIns="0" tIns="0" rIns="0" bIns="0" rtlCol="0" anchor="ctr"/>
          <a:lstStyle/>
          <a:p>
            <a:pPr indent="0" marL="0">
              <a:buNone/>
            </a:pPr>
            <a:r>
              <a:rPr lang="en-US" sz="2800" b="1" dirty="0">
                <a:solidFill>
                  <a:srgbClr val="0B2E33"/>
                </a:solidFill>
                <a:latin typeface="Cambria" pitchFamily="34" charset="0"/>
                <a:ea typeface="Cambria" pitchFamily="34" charset="-122"/>
                <a:cs typeface="Cambria" pitchFamily="34" charset="-120"/>
              </a:rPr>
              <a:t>Solving LCS with Dynamic Programming</a:t>
            </a:r>
            <a:endParaRPr lang="en-US" sz="2800" dirty="0"/>
          </a:p>
        </p:txBody>
      </p:sp>
      <p:sp>
        <p:nvSpPr>
          <p:cNvPr id="4" name="Text 2"/>
          <p:cNvSpPr/>
          <p:nvPr/>
        </p:nvSpPr>
        <p:spPr>
          <a:xfrm>
            <a:off x="640080" y="1554480"/>
            <a:ext cx="5029200" cy="822960"/>
          </a:xfrm>
          <a:prstGeom prst="rect">
            <a:avLst/>
          </a:prstGeom>
          <a:noFill/>
          <a:ln/>
        </p:spPr>
        <p:txBody>
          <a:bodyPr wrap="square" lIns="0" tIns="0" rIns="0" bIns="0" rtlCol="0" anchor="t"/>
          <a:lstStyle/>
          <a:p>
            <a:pPr indent="0" marL="0">
              <a:lnSpc>
                <a:spcPct val="120000"/>
              </a:lnSpc>
              <a:buNone/>
            </a:pPr>
            <a:r>
              <a:rPr lang="en-US" sz="1300" dirty="0">
                <a:solidFill>
                  <a:srgbClr val="1B2B2E"/>
                </a:solidFill>
                <a:latin typeface="Calibri" pitchFamily="34" charset="0"/>
                <a:ea typeface="Calibri" pitchFamily="34" charset="-122"/>
                <a:cs typeface="Calibri" pitchFamily="34" charset="-120"/>
              </a:rPr>
              <a:t>Build a table dp[i][j] = length of the LCS of the first i characters of X and the first j characters of Y.</a:t>
            </a:r>
            <a:endParaRPr lang="en-US" sz="1300" dirty="0"/>
          </a:p>
        </p:txBody>
      </p:sp>
      <p:sp>
        <p:nvSpPr>
          <p:cNvPr id="5" name="Shape 3"/>
          <p:cNvSpPr/>
          <p:nvPr/>
        </p:nvSpPr>
        <p:spPr>
          <a:xfrm>
            <a:off x="640080" y="2423160"/>
            <a:ext cx="5029200" cy="1600200"/>
          </a:xfrm>
          <a:prstGeom prst="roundRect">
            <a:avLst>
              <a:gd name="adj" fmla="val 3429"/>
            </a:avLst>
          </a:prstGeom>
          <a:solidFill>
            <a:srgbClr val="0B2E33"/>
          </a:solidFill>
          <a:ln/>
        </p:spPr>
      </p:sp>
      <p:sp>
        <p:nvSpPr>
          <p:cNvPr id="6" name="Text 4"/>
          <p:cNvSpPr/>
          <p:nvPr/>
        </p:nvSpPr>
        <p:spPr>
          <a:xfrm>
            <a:off x="868680" y="2606040"/>
            <a:ext cx="4572000" cy="1280160"/>
          </a:xfrm>
          <a:prstGeom prst="rect">
            <a:avLst/>
          </a:prstGeom>
          <a:noFill/>
          <a:ln/>
        </p:spPr>
        <p:txBody>
          <a:bodyPr wrap="square" lIns="0" tIns="0" rIns="0" bIns="0" rtlCol="0" anchor="t"/>
          <a:lstStyle/>
          <a:p>
            <a:pPr indent="0" marL="0">
              <a:buNone/>
            </a:pPr>
            <a:r>
              <a:rPr lang="en-US" sz="1200" dirty="0">
                <a:solidFill>
                  <a:srgbClr val="9FC9C4"/>
                </a:solidFill>
                <a:latin typeface="Courier New" pitchFamily="34" charset="0"/>
                <a:ea typeface="Courier New" pitchFamily="34" charset="-122"/>
                <a:cs typeface="Courier New" pitchFamily="34" charset="-120"/>
              </a:rPr>
              <a:t>dp[i][j] =
</a:t>
            </a:r>
            <a:endParaRPr lang="en-US" sz="1150" dirty="0"/>
          </a:p>
          <a:p>
            <a:pPr indent="0" marL="0">
              <a:buNone/>
            </a:pPr>
            <a:r>
              <a:rPr lang="en-US" sz="1150" b="1" dirty="0">
                <a:solidFill>
                  <a:srgbClr val="FFFFFF"/>
                </a:solidFill>
                <a:latin typeface="Courier New" pitchFamily="34" charset="0"/>
                <a:ea typeface="Courier New" pitchFamily="34" charset="-122"/>
                <a:cs typeface="Courier New" pitchFamily="34" charset="-120"/>
              </a:rPr>
              <a:t>0</a:t>
            </a:r>
            <a:pPr indent="0" marL="0">
              <a:buNone/>
            </a:pPr>
            <a:r>
              <a:rPr lang="en-US" sz="1150" dirty="0">
                <a:solidFill>
                  <a:srgbClr val="CFEAE7"/>
                </a:solidFill>
                <a:latin typeface="Courier New" pitchFamily="34" charset="0"/>
                <a:ea typeface="Courier New" pitchFamily="34" charset="-122"/>
                <a:cs typeface="Courier New" pitchFamily="34" charset="-120"/>
              </a:rPr>
              <a:t>                          if i=0 or j=0
</a:t>
            </a:r>
            <a:endParaRPr lang="en-US" sz="1150" dirty="0"/>
          </a:p>
          <a:p>
            <a:pPr indent="0" marL="0">
              <a:buNone/>
            </a:pPr>
            <a:r>
              <a:rPr lang="en-US" sz="1150" b="1" dirty="0">
                <a:solidFill>
                  <a:srgbClr val="02C39A"/>
                </a:solidFill>
                <a:latin typeface="Courier New" pitchFamily="34" charset="0"/>
                <a:ea typeface="Courier New" pitchFamily="34" charset="-122"/>
                <a:cs typeface="Courier New" pitchFamily="34" charset="-120"/>
              </a:rPr>
              <a:t>dp[i-1][j-1] + 1</a:t>
            </a:r>
            <a:pPr indent="0" marL="0">
              <a:buNone/>
            </a:pPr>
            <a:r>
              <a:rPr lang="en-US" sz="1150" dirty="0">
                <a:solidFill>
                  <a:srgbClr val="CFEAE7"/>
                </a:solidFill>
                <a:latin typeface="Courier New" pitchFamily="34" charset="0"/>
                <a:ea typeface="Courier New" pitchFamily="34" charset="-122"/>
                <a:cs typeface="Courier New" pitchFamily="34" charset="-120"/>
              </a:rPr>
              <a:t>      if X[i] = Y[j]
</a:t>
            </a:r>
            <a:endParaRPr lang="en-US" sz="1150" dirty="0"/>
          </a:p>
          <a:p>
            <a:pPr indent="0" marL="0">
              <a:buNone/>
            </a:pPr>
            <a:r>
              <a:rPr lang="en-US" sz="1150" b="1" dirty="0">
                <a:solidFill>
                  <a:srgbClr val="00A896"/>
                </a:solidFill>
                <a:latin typeface="Courier New" pitchFamily="34" charset="0"/>
                <a:ea typeface="Courier New" pitchFamily="34" charset="-122"/>
                <a:cs typeface="Courier New" pitchFamily="34" charset="-120"/>
              </a:rPr>
              <a:t>max(dp[i-1][j], dp[i][j-1])</a:t>
            </a:r>
            <a:pPr indent="0" marL="0">
              <a:buNone/>
            </a:pPr>
            <a:r>
              <a:rPr lang="en-US" sz="1150" dirty="0">
                <a:solidFill>
                  <a:srgbClr val="CFEAE7"/>
                </a:solidFill>
                <a:latin typeface="Courier New" pitchFamily="34" charset="0"/>
                <a:ea typeface="Courier New" pitchFamily="34" charset="-122"/>
                <a:cs typeface="Courier New" pitchFamily="34" charset="-120"/>
              </a:rPr>
              <a:t>  otherwise</a:t>
            </a:r>
            <a:endParaRPr lang="en-US" sz="1150" dirty="0"/>
          </a:p>
        </p:txBody>
      </p:sp>
      <p:sp>
        <p:nvSpPr>
          <p:cNvPr id="7" name="Text 5"/>
          <p:cNvSpPr/>
          <p:nvPr/>
        </p:nvSpPr>
        <p:spPr>
          <a:xfrm>
            <a:off x="640080" y="4224528"/>
            <a:ext cx="5029200" cy="21031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B2B2E"/>
                </a:solidFill>
                <a:latin typeface="Calibri" pitchFamily="34" charset="0"/>
                <a:ea typeface="Calibri" pitchFamily="34" charset="-122"/>
                <a:cs typeface="Calibri" pitchFamily="34" charset="-120"/>
              </a:rPr>
              <a:t>Fill the table row by row (or column by column) using the recurrence above.</a:t>
            </a:r>
            <a:endParaRPr lang="en-US" sz="1200" dirty="0"/>
          </a:p>
          <a:p>
            <a:pPr marL="342900" indent="-342900">
              <a:spcAft>
                <a:spcPts val="900"/>
              </a:spcAft>
              <a:buSzPct val="100000"/>
              <a:buChar char="▪"/>
            </a:pPr>
            <a:r>
              <a:rPr lang="en-US" sz="1200" dirty="0">
                <a:solidFill>
                  <a:srgbClr val="1B2B2E"/>
                </a:solidFill>
                <a:latin typeface="Calibri" pitchFamily="34" charset="0"/>
                <a:ea typeface="Calibri" pitchFamily="34" charset="-122"/>
                <a:cs typeface="Calibri" pitchFamily="34" charset="-120"/>
              </a:rPr>
              <a:t>dp[m][n] gives the length of the LCS.</a:t>
            </a:r>
            <a:endParaRPr lang="en-US" sz="1200" dirty="0"/>
          </a:p>
          <a:p>
            <a:pPr marL="342900" indent="-342900">
              <a:spcAft>
                <a:spcPts val="900"/>
              </a:spcAft>
              <a:buSzPct val="100000"/>
              <a:buChar char="▪"/>
            </a:pPr>
            <a:r>
              <a:rPr lang="en-US" sz="1200" dirty="0">
                <a:solidFill>
                  <a:srgbClr val="1B2B2E"/>
                </a:solidFill>
                <a:latin typeface="Calibri" pitchFamily="34" charset="0"/>
                <a:ea typeface="Calibri" pitchFamily="34" charset="-122"/>
                <a:cs typeface="Calibri" pitchFamily="34" charset="-120"/>
              </a:rPr>
              <a:t>Trace back through the table from dp[m][n] to recover the actual subsequence.</a:t>
            </a:r>
            <a:endParaRPr lang="en-US" sz="1200" dirty="0"/>
          </a:p>
          <a:p>
            <a:pPr marL="342900" indent="-342900">
              <a:spcAft>
                <a:spcPts val="900"/>
              </a:spcAft>
              <a:buSzPct val="100000"/>
              <a:buChar char="▪"/>
            </a:pPr>
            <a:r>
              <a:rPr lang="en-US" sz="1200" dirty="0">
                <a:solidFill>
                  <a:srgbClr val="1B2B2E"/>
                </a:solidFill>
                <a:latin typeface="Calibri" pitchFamily="34" charset="0"/>
                <a:ea typeface="Calibri" pitchFamily="34" charset="-122"/>
                <a:cs typeface="Calibri" pitchFamily="34" charset="-120"/>
              </a:rPr>
              <a:t>Time and space complexity: O(m x n), where m and n are the sequence lengths.</a:t>
            </a:r>
            <a:endParaRPr lang="en-US" sz="1200" dirty="0"/>
          </a:p>
        </p:txBody>
      </p:sp>
      <p:sp>
        <p:nvSpPr>
          <p:cNvPr id="8" name="Shape 6"/>
          <p:cNvSpPr/>
          <p:nvPr/>
        </p:nvSpPr>
        <p:spPr>
          <a:xfrm>
            <a:off x="6172200" y="1600200"/>
            <a:ext cx="566928" cy="457200"/>
          </a:xfrm>
          <a:prstGeom prst="roundRect">
            <a:avLst>
              <a:gd name="adj" fmla="val 6000"/>
            </a:avLst>
          </a:prstGeom>
          <a:solidFill>
            <a:srgbClr val="0B2E33"/>
          </a:solidFill>
          <a:ln/>
        </p:spPr>
      </p:sp>
      <p:sp>
        <p:nvSpPr>
          <p:cNvPr id="9" name="Text 7"/>
          <p:cNvSpPr/>
          <p:nvPr/>
        </p:nvSpPr>
        <p:spPr>
          <a:xfrm>
            <a:off x="6172200" y="1600200"/>
            <a:ext cx="566928" cy="457200"/>
          </a:xfrm>
          <a:prstGeom prst="rect">
            <a:avLst/>
          </a:prstGeom>
          <a:noFill/>
          <a:ln/>
        </p:spPr>
        <p:txBody>
          <a:bodyPr wrap="square" rtlCol="0" anchor="ctr"/>
          <a:lstStyle/>
          <a:p>
            <a:pPr indent="0" marL="0">
              <a:buNone/>
            </a:pPr>
            <a:endParaRPr lang="en-US" dirty="0"/>
          </a:p>
        </p:txBody>
      </p:sp>
      <p:sp>
        <p:nvSpPr>
          <p:cNvPr id="10" name="Shape 8"/>
          <p:cNvSpPr/>
          <p:nvPr/>
        </p:nvSpPr>
        <p:spPr>
          <a:xfrm>
            <a:off x="6172200" y="1600200"/>
            <a:ext cx="566928" cy="457200"/>
          </a:xfrm>
          <a:prstGeom prst="rect">
            <a:avLst/>
          </a:prstGeom>
          <a:solidFill>
            <a:srgbClr val="FFFFFF"/>
          </a:solidFill>
          <a:ln w="6350">
            <a:solidFill>
              <a:srgbClr val="FFFFFF"/>
            </a:solidFill>
            <a:prstDash val="solid"/>
          </a:ln>
        </p:spPr>
      </p:sp>
      <p:sp>
        <p:nvSpPr>
          <p:cNvPr id="11" name="Shape 9"/>
          <p:cNvSpPr/>
          <p:nvPr/>
        </p:nvSpPr>
        <p:spPr>
          <a:xfrm>
            <a:off x="6739128" y="1600200"/>
            <a:ext cx="566928" cy="457200"/>
          </a:xfrm>
          <a:prstGeom prst="rect">
            <a:avLst/>
          </a:prstGeom>
          <a:solidFill>
            <a:srgbClr val="0B2E33"/>
          </a:solidFill>
          <a:ln w="6350">
            <a:solidFill>
              <a:srgbClr val="FFFFFF"/>
            </a:solidFill>
            <a:prstDash val="solid"/>
          </a:ln>
        </p:spPr>
      </p:sp>
      <p:sp>
        <p:nvSpPr>
          <p:cNvPr id="12" name="Text 10"/>
          <p:cNvSpPr/>
          <p:nvPr/>
        </p:nvSpPr>
        <p:spPr>
          <a:xfrm>
            <a:off x="6739128" y="16002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Ø</a:t>
            </a:r>
            <a:endParaRPr lang="en-US" sz="1200" dirty="0"/>
          </a:p>
        </p:txBody>
      </p:sp>
      <p:sp>
        <p:nvSpPr>
          <p:cNvPr id="13" name="Shape 11"/>
          <p:cNvSpPr/>
          <p:nvPr/>
        </p:nvSpPr>
        <p:spPr>
          <a:xfrm>
            <a:off x="7306056" y="1600200"/>
            <a:ext cx="566928" cy="457200"/>
          </a:xfrm>
          <a:prstGeom prst="rect">
            <a:avLst/>
          </a:prstGeom>
          <a:solidFill>
            <a:srgbClr val="0B2E33"/>
          </a:solidFill>
          <a:ln w="6350">
            <a:solidFill>
              <a:srgbClr val="FFFFFF"/>
            </a:solidFill>
            <a:prstDash val="solid"/>
          </a:ln>
        </p:spPr>
      </p:sp>
      <p:sp>
        <p:nvSpPr>
          <p:cNvPr id="14" name="Text 12"/>
          <p:cNvSpPr/>
          <p:nvPr/>
        </p:nvSpPr>
        <p:spPr>
          <a:xfrm>
            <a:off x="7306056" y="16002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5" name="Shape 13"/>
          <p:cNvSpPr/>
          <p:nvPr/>
        </p:nvSpPr>
        <p:spPr>
          <a:xfrm>
            <a:off x="7872984" y="1600200"/>
            <a:ext cx="566928" cy="457200"/>
          </a:xfrm>
          <a:prstGeom prst="rect">
            <a:avLst/>
          </a:prstGeom>
          <a:solidFill>
            <a:srgbClr val="0B2E33"/>
          </a:solidFill>
          <a:ln w="6350">
            <a:solidFill>
              <a:srgbClr val="FFFFFF"/>
            </a:solidFill>
            <a:prstDash val="solid"/>
          </a:ln>
        </p:spPr>
      </p:sp>
      <p:sp>
        <p:nvSpPr>
          <p:cNvPr id="16" name="Text 14"/>
          <p:cNvSpPr/>
          <p:nvPr/>
        </p:nvSpPr>
        <p:spPr>
          <a:xfrm>
            <a:off x="7872984" y="16002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17" name="Shape 15"/>
          <p:cNvSpPr/>
          <p:nvPr/>
        </p:nvSpPr>
        <p:spPr>
          <a:xfrm>
            <a:off x="8439912" y="1600200"/>
            <a:ext cx="566928" cy="457200"/>
          </a:xfrm>
          <a:prstGeom prst="rect">
            <a:avLst/>
          </a:prstGeom>
          <a:solidFill>
            <a:srgbClr val="0B2E33"/>
          </a:solidFill>
          <a:ln w="6350">
            <a:solidFill>
              <a:srgbClr val="FFFFFF"/>
            </a:solidFill>
            <a:prstDash val="solid"/>
          </a:ln>
        </p:spPr>
      </p:sp>
      <p:sp>
        <p:nvSpPr>
          <p:cNvPr id="18" name="Text 16"/>
          <p:cNvSpPr/>
          <p:nvPr/>
        </p:nvSpPr>
        <p:spPr>
          <a:xfrm>
            <a:off x="8439912" y="16002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19" name="Shape 17"/>
          <p:cNvSpPr/>
          <p:nvPr/>
        </p:nvSpPr>
        <p:spPr>
          <a:xfrm>
            <a:off x="9006840" y="1600200"/>
            <a:ext cx="566928" cy="457200"/>
          </a:xfrm>
          <a:prstGeom prst="rect">
            <a:avLst/>
          </a:prstGeom>
          <a:solidFill>
            <a:srgbClr val="0B2E33"/>
          </a:solidFill>
          <a:ln w="6350">
            <a:solidFill>
              <a:srgbClr val="FFFFFF"/>
            </a:solidFill>
            <a:prstDash val="solid"/>
          </a:ln>
        </p:spPr>
      </p:sp>
      <p:sp>
        <p:nvSpPr>
          <p:cNvPr id="20" name="Text 18"/>
          <p:cNvSpPr/>
          <p:nvPr/>
        </p:nvSpPr>
        <p:spPr>
          <a:xfrm>
            <a:off x="9006840" y="16002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1" name="Shape 19"/>
          <p:cNvSpPr/>
          <p:nvPr/>
        </p:nvSpPr>
        <p:spPr>
          <a:xfrm>
            <a:off x="9573768" y="1600200"/>
            <a:ext cx="566928" cy="457200"/>
          </a:xfrm>
          <a:prstGeom prst="rect">
            <a:avLst/>
          </a:prstGeom>
          <a:solidFill>
            <a:srgbClr val="0B2E33"/>
          </a:solidFill>
          <a:ln w="6350">
            <a:solidFill>
              <a:srgbClr val="FFFFFF"/>
            </a:solidFill>
            <a:prstDash val="solid"/>
          </a:ln>
        </p:spPr>
      </p:sp>
      <p:sp>
        <p:nvSpPr>
          <p:cNvPr id="22" name="Text 20"/>
          <p:cNvSpPr/>
          <p:nvPr/>
        </p:nvSpPr>
        <p:spPr>
          <a:xfrm>
            <a:off x="9573768" y="16002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3" name="Shape 21"/>
          <p:cNvSpPr/>
          <p:nvPr/>
        </p:nvSpPr>
        <p:spPr>
          <a:xfrm>
            <a:off x="10140696" y="1600200"/>
            <a:ext cx="566928" cy="457200"/>
          </a:xfrm>
          <a:prstGeom prst="rect">
            <a:avLst/>
          </a:prstGeom>
          <a:solidFill>
            <a:srgbClr val="0B2E33"/>
          </a:solidFill>
          <a:ln w="6350">
            <a:solidFill>
              <a:srgbClr val="FFFFFF"/>
            </a:solidFill>
            <a:prstDash val="solid"/>
          </a:ln>
        </p:spPr>
      </p:sp>
      <p:sp>
        <p:nvSpPr>
          <p:cNvPr id="24" name="Text 22"/>
          <p:cNvSpPr/>
          <p:nvPr/>
        </p:nvSpPr>
        <p:spPr>
          <a:xfrm>
            <a:off x="10140696" y="16002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5" name="Shape 23"/>
          <p:cNvSpPr/>
          <p:nvPr/>
        </p:nvSpPr>
        <p:spPr>
          <a:xfrm>
            <a:off x="6172200" y="2057400"/>
            <a:ext cx="566928" cy="457200"/>
          </a:xfrm>
          <a:prstGeom prst="rect">
            <a:avLst/>
          </a:prstGeom>
          <a:solidFill>
            <a:srgbClr val="0B2E33"/>
          </a:solidFill>
          <a:ln w="6350">
            <a:solidFill>
              <a:srgbClr val="FFFFFF"/>
            </a:solidFill>
            <a:prstDash val="solid"/>
          </a:ln>
        </p:spPr>
      </p:sp>
      <p:sp>
        <p:nvSpPr>
          <p:cNvPr id="26" name="Text 24"/>
          <p:cNvSpPr/>
          <p:nvPr/>
        </p:nvSpPr>
        <p:spPr>
          <a:xfrm>
            <a:off x="6172200" y="20574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Ø</a:t>
            </a:r>
            <a:endParaRPr lang="en-US" sz="1200" dirty="0"/>
          </a:p>
        </p:txBody>
      </p:sp>
      <p:sp>
        <p:nvSpPr>
          <p:cNvPr id="27" name="Shape 25"/>
          <p:cNvSpPr/>
          <p:nvPr/>
        </p:nvSpPr>
        <p:spPr>
          <a:xfrm>
            <a:off x="6739128" y="2057400"/>
            <a:ext cx="566928" cy="457200"/>
          </a:xfrm>
          <a:prstGeom prst="rect">
            <a:avLst/>
          </a:prstGeom>
          <a:solidFill>
            <a:srgbClr val="FFFFFF"/>
          </a:solidFill>
          <a:ln w="6350">
            <a:solidFill>
              <a:srgbClr val="D8E2E0"/>
            </a:solidFill>
            <a:prstDash val="solid"/>
          </a:ln>
        </p:spPr>
      </p:sp>
      <p:sp>
        <p:nvSpPr>
          <p:cNvPr id="28" name="Text 26"/>
          <p:cNvSpPr/>
          <p:nvPr/>
        </p:nvSpPr>
        <p:spPr>
          <a:xfrm>
            <a:off x="6739128" y="2057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29" name="Shape 27"/>
          <p:cNvSpPr/>
          <p:nvPr/>
        </p:nvSpPr>
        <p:spPr>
          <a:xfrm>
            <a:off x="7306056" y="2057400"/>
            <a:ext cx="566928" cy="457200"/>
          </a:xfrm>
          <a:prstGeom prst="rect">
            <a:avLst/>
          </a:prstGeom>
          <a:solidFill>
            <a:srgbClr val="FFFFFF"/>
          </a:solidFill>
          <a:ln w="6350">
            <a:solidFill>
              <a:srgbClr val="D8E2E0"/>
            </a:solidFill>
            <a:prstDash val="solid"/>
          </a:ln>
        </p:spPr>
      </p:sp>
      <p:sp>
        <p:nvSpPr>
          <p:cNvPr id="30" name="Text 28"/>
          <p:cNvSpPr/>
          <p:nvPr/>
        </p:nvSpPr>
        <p:spPr>
          <a:xfrm>
            <a:off x="7306056" y="2057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31" name="Shape 29"/>
          <p:cNvSpPr/>
          <p:nvPr/>
        </p:nvSpPr>
        <p:spPr>
          <a:xfrm>
            <a:off x="7872984" y="2057400"/>
            <a:ext cx="566928" cy="457200"/>
          </a:xfrm>
          <a:prstGeom prst="rect">
            <a:avLst/>
          </a:prstGeom>
          <a:solidFill>
            <a:srgbClr val="FFFFFF"/>
          </a:solidFill>
          <a:ln w="6350">
            <a:solidFill>
              <a:srgbClr val="D8E2E0"/>
            </a:solidFill>
            <a:prstDash val="solid"/>
          </a:ln>
        </p:spPr>
      </p:sp>
      <p:sp>
        <p:nvSpPr>
          <p:cNvPr id="32" name="Text 30"/>
          <p:cNvSpPr/>
          <p:nvPr/>
        </p:nvSpPr>
        <p:spPr>
          <a:xfrm>
            <a:off x="7872984" y="2057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33" name="Shape 31"/>
          <p:cNvSpPr/>
          <p:nvPr/>
        </p:nvSpPr>
        <p:spPr>
          <a:xfrm>
            <a:off x="8439912" y="2057400"/>
            <a:ext cx="566928" cy="457200"/>
          </a:xfrm>
          <a:prstGeom prst="rect">
            <a:avLst/>
          </a:prstGeom>
          <a:solidFill>
            <a:srgbClr val="FFFFFF"/>
          </a:solidFill>
          <a:ln w="6350">
            <a:solidFill>
              <a:srgbClr val="D8E2E0"/>
            </a:solidFill>
            <a:prstDash val="solid"/>
          </a:ln>
        </p:spPr>
      </p:sp>
      <p:sp>
        <p:nvSpPr>
          <p:cNvPr id="34" name="Text 32"/>
          <p:cNvSpPr/>
          <p:nvPr/>
        </p:nvSpPr>
        <p:spPr>
          <a:xfrm>
            <a:off x="8439912" y="2057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35" name="Shape 33"/>
          <p:cNvSpPr/>
          <p:nvPr/>
        </p:nvSpPr>
        <p:spPr>
          <a:xfrm>
            <a:off x="9006840" y="2057400"/>
            <a:ext cx="566928" cy="457200"/>
          </a:xfrm>
          <a:prstGeom prst="rect">
            <a:avLst/>
          </a:prstGeom>
          <a:solidFill>
            <a:srgbClr val="FFFFFF"/>
          </a:solidFill>
          <a:ln w="6350">
            <a:solidFill>
              <a:srgbClr val="D8E2E0"/>
            </a:solidFill>
            <a:prstDash val="solid"/>
          </a:ln>
        </p:spPr>
      </p:sp>
      <p:sp>
        <p:nvSpPr>
          <p:cNvPr id="36" name="Text 34"/>
          <p:cNvSpPr/>
          <p:nvPr/>
        </p:nvSpPr>
        <p:spPr>
          <a:xfrm>
            <a:off x="9006840" y="2057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37" name="Shape 35"/>
          <p:cNvSpPr/>
          <p:nvPr/>
        </p:nvSpPr>
        <p:spPr>
          <a:xfrm>
            <a:off x="9573768" y="2057400"/>
            <a:ext cx="566928" cy="457200"/>
          </a:xfrm>
          <a:prstGeom prst="rect">
            <a:avLst/>
          </a:prstGeom>
          <a:solidFill>
            <a:srgbClr val="FFFFFF"/>
          </a:solidFill>
          <a:ln w="6350">
            <a:solidFill>
              <a:srgbClr val="D8E2E0"/>
            </a:solidFill>
            <a:prstDash val="solid"/>
          </a:ln>
        </p:spPr>
      </p:sp>
      <p:sp>
        <p:nvSpPr>
          <p:cNvPr id="38" name="Text 36"/>
          <p:cNvSpPr/>
          <p:nvPr/>
        </p:nvSpPr>
        <p:spPr>
          <a:xfrm>
            <a:off x="9573768" y="2057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39" name="Shape 37"/>
          <p:cNvSpPr/>
          <p:nvPr/>
        </p:nvSpPr>
        <p:spPr>
          <a:xfrm>
            <a:off x="10140696" y="2057400"/>
            <a:ext cx="566928" cy="457200"/>
          </a:xfrm>
          <a:prstGeom prst="rect">
            <a:avLst/>
          </a:prstGeom>
          <a:solidFill>
            <a:srgbClr val="FFFFFF"/>
          </a:solidFill>
          <a:ln w="6350">
            <a:solidFill>
              <a:srgbClr val="D8E2E0"/>
            </a:solidFill>
            <a:prstDash val="solid"/>
          </a:ln>
        </p:spPr>
      </p:sp>
      <p:sp>
        <p:nvSpPr>
          <p:cNvPr id="40" name="Text 38"/>
          <p:cNvSpPr/>
          <p:nvPr/>
        </p:nvSpPr>
        <p:spPr>
          <a:xfrm>
            <a:off x="10140696" y="2057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41" name="Shape 39"/>
          <p:cNvSpPr/>
          <p:nvPr/>
        </p:nvSpPr>
        <p:spPr>
          <a:xfrm>
            <a:off x="6172200" y="2514600"/>
            <a:ext cx="566928" cy="457200"/>
          </a:xfrm>
          <a:prstGeom prst="rect">
            <a:avLst/>
          </a:prstGeom>
          <a:solidFill>
            <a:srgbClr val="0B2E33"/>
          </a:solidFill>
          <a:ln w="6350">
            <a:solidFill>
              <a:srgbClr val="FFFFFF"/>
            </a:solidFill>
            <a:prstDash val="solid"/>
          </a:ln>
        </p:spPr>
      </p:sp>
      <p:sp>
        <p:nvSpPr>
          <p:cNvPr id="42" name="Text 40"/>
          <p:cNvSpPr/>
          <p:nvPr/>
        </p:nvSpPr>
        <p:spPr>
          <a:xfrm>
            <a:off x="6172200" y="25146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43" name="Shape 41"/>
          <p:cNvSpPr/>
          <p:nvPr/>
        </p:nvSpPr>
        <p:spPr>
          <a:xfrm>
            <a:off x="6739128" y="2514600"/>
            <a:ext cx="566928" cy="457200"/>
          </a:xfrm>
          <a:prstGeom prst="rect">
            <a:avLst/>
          </a:prstGeom>
          <a:solidFill>
            <a:srgbClr val="FFFFFF"/>
          </a:solidFill>
          <a:ln w="6350">
            <a:solidFill>
              <a:srgbClr val="D8E2E0"/>
            </a:solidFill>
            <a:prstDash val="solid"/>
          </a:ln>
        </p:spPr>
      </p:sp>
      <p:sp>
        <p:nvSpPr>
          <p:cNvPr id="44" name="Text 42"/>
          <p:cNvSpPr/>
          <p:nvPr/>
        </p:nvSpPr>
        <p:spPr>
          <a:xfrm>
            <a:off x="6739128" y="2514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45" name="Shape 43"/>
          <p:cNvSpPr/>
          <p:nvPr/>
        </p:nvSpPr>
        <p:spPr>
          <a:xfrm>
            <a:off x="7306056" y="2514600"/>
            <a:ext cx="566928" cy="457200"/>
          </a:xfrm>
          <a:prstGeom prst="rect">
            <a:avLst/>
          </a:prstGeom>
          <a:solidFill>
            <a:srgbClr val="FFFFFF"/>
          </a:solidFill>
          <a:ln w="6350">
            <a:solidFill>
              <a:srgbClr val="D8E2E0"/>
            </a:solidFill>
            <a:prstDash val="solid"/>
          </a:ln>
        </p:spPr>
      </p:sp>
      <p:sp>
        <p:nvSpPr>
          <p:cNvPr id="46" name="Text 44"/>
          <p:cNvSpPr/>
          <p:nvPr/>
        </p:nvSpPr>
        <p:spPr>
          <a:xfrm>
            <a:off x="7306056" y="2514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47" name="Shape 45"/>
          <p:cNvSpPr/>
          <p:nvPr/>
        </p:nvSpPr>
        <p:spPr>
          <a:xfrm>
            <a:off x="7872984" y="2514600"/>
            <a:ext cx="566928" cy="457200"/>
          </a:xfrm>
          <a:prstGeom prst="rect">
            <a:avLst/>
          </a:prstGeom>
          <a:solidFill>
            <a:srgbClr val="FFFFFF"/>
          </a:solidFill>
          <a:ln w="6350">
            <a:solidFill>
              <a:srgbClr val="D8E2E0"/>
            </a:solidFill>
            <a:prstDash val="solid"/>
          </a:ln>
        </p:spPr>
      </p:sp>
      <p:sp>
        <p:nvSpPr>
          <p:cNvPr id="48" name="Text 46"/>
          <p:cNvSpPr/>
          <p:nvPr/>
        </p:nvSpPr>
        <p:spPr>
          <a:xfrm>
            <a:off x="7872984" y="2514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49" name="Shape 47"/>
          <p:cNvSpPr/>
          <p:nvPr/>
        </p:nvSpPr>
        <p:spPr>
          <a:xfrm>
            <a:off x="8439912" y="2514600"/>
            <a:ext cx="566928" cy="457200"/>
          </a:xfrm>
          <a:prstGeom prst="rect">
            <a:avLst/>
          </a:prstGeom>
          <a:solidFill>
            <a:srgbClr val="02C39A"/>
          </a:solidFill>
          <a:ln w="6350">
            <a:solidFill>
              <a:srgbClr val="D8E2E0"/>
            </a:solidFill>
            <a:prstDash val="solid"/>
          </a:ln>
        </p:spPr>
      </p:sp>
      <p:sp>
        <p:nvSpPr>
          <p:cNvPr id="50" name="Text 48"/>
          <p:cNvSpPr/>
          <p:nvPr/>
        </p:nvSpPr>
        <p:spPr>
          <a:xfrm>
            <a:off x="8439912" y="2514600"/>
            <a:ext cx="566928" cy="457200"/>
          </a:xfrm>
          <a:prstGeom prst="rect">
            <a:avLst/>
          </a:prstGeom>
          <a:noFill/>
          <a:ln/>
        </p:spPr>
        <p:txBody>
          <a:bodyPr wrap="square" lIns="0" tIns="0" rIns="0" bIns="0" rtlCol="0" anchor="ctr"/>
          <a:lstStyle/>
          <a:p>
            <a:pPr algn="ctr" indent="0" marL="0">
              <a:buNone/>
            </a:pPr>
            <a:r>
              <a:rPr lang="en-US" sz="1150" b="1" dirty="0">
                <a:solidFill>
                  <a:srgbClr val="0B2E33"/>
                </a:solidFill>
                <a:latin typeface="Calibri" pitchFamily="34" charset="0"/>
                <a:ea typeface="Calibri" pitchFamily="34" charset="-122"/>
                <a:cs typeface="Calibri" pitchFamily="34" charset="-120"/>
              </a:rPr>
              <a:t>1</a:t>
            </a:r>
            <a:endParaRPr lang="en-US" sz="1150" dirty="0"/>
          </a:p>
        </p:txBody>
      </p:sp>
      <p:sp>
        <p:nvSpPr>
          <p:cNvPr id="51" name="Shape 49"/>
          <p:cNvSpPr/>
          <p:nvPr/>
        </p:nvSpPr>
        <p:spPr>
          <a:xfrm>
            <a:off x="9006840" y="2514600"/>
            <a:ext cx="566928" cy="457200"/>
          </a:xfrm>
          <a:prstGeom prst="rect">
            <a:avLst/>
          </a:prstGeom>
          <a:solidFill>
            <a:srgbClr val="FFFFFF"/>
          </a:solidFill>
          <a:ln w="6350">
            <a:solidFill>
              <a:srgbClr val="D8E2E0"/>
            </a:solidFill>
            <a:prstDash val="solid"/>
          </a:ln>
        </p:spPr>
      </p:sp>
      <p:sp>
        <p:nvSpPr>
          <p:cNvPr id="52" name="Text 50"/>
          <p:cNvSpPr/>
          <p:nvPr/>
        </p:nvSpPr>
        <p:spPr>
          <a:xfrm>
            <a:off x="9006840" y="2514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53" name="Shape 51"/>
          <p:cNvSpPr/>
          <p:nvPr/>
        </p:nvSpPr>
        <p:spPr>
          <a:xfrm>
            <a:off x="9573768" y="2514600"/>
            <a:ext cx="566928" cy="457200"/>
          </a:xfrm>
          <a:prstGeom prst="rect">
            <a:avLst/>
          </a:prstGeom>
          <a:solidFill>
            <a:srgbClr val="FFFFFF"/>
          </a:solidFill>
          <a:ln w="6350">
            <a:solidFill>
              <a:srgbClr val="D8E2E0"/>
            </a:solidFill>
            <a:prstDash val="solid"/>
          </a:ln>
        </p:spPr>
      </p:sp>
      <p:sp>
        <p:nvSpPr>
          <p:cNvPr id="54" name="Text 52"/>
          <p:cNvSpPr/>
          <p:nvPr/>
        </p:nvSpPr>
        <p:spPr>
          <a:xfrm>
            <a:off x="9573768" y="2514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55" name="Shape 53"/>
          <p:cNvSpPr/>
          <p:nvPr/>
        </p:nvSpPr>
        <p:spPr>
          <a:xfrm>
            <a:off x="10140696" y="2514600"/>
            <a:ext cx="566928" cy="457200"/>
          </a:xfrm>
          <a:prstGeom prst="rect">
            <a:avLst/>
          </a:prstGeom>
          <a:solidFill>
            <a:srgbClr val="FFFFFF"/>
          </a:solidFill>
          <a:ln w="6350">
            <a:solidFill>
              <a:srgbClr val="D8E2E0"/>
            </a:solidFill>
            <a:prstDash val="solid"/>
          </a:ln>
        </p:spPr>
      </p:sp>
      <p:sp>
        <p:nvSpPr>
          <p:cNvPr id="56" name="Text 54"/>
          <p:cNvSpPr/>
          <p:nvPr/>
        </p:nvSpPr>
        <p:spPr>
          <a:xfrm>
            <a:off x="10140696" y="2514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57" name="Shape 55"/>
          <p:cNvSpPr/>
          <p:nvPr/>
        </p:nvSpPr>
        <p:spPr>
          <a:xfrm>
            <a:off x="6172200" y="2971800"/>
            <a:ext cx="566928" cy="457200"/>
          </a:xfrm>
          <a:prstGeom prst="rect">
            <a:avLst/>
          </a:prstGeom>
          <a:solidFill>
            <a:srgbClr val="0B2E33"/>
          </a:solidFill>
          <a:ln w="6350">
            <a:solidFill>
              <a:srgbClr val="FFFFFF"/>
            </a:solidFill>
            <a:prstDash val="solid"/>
          </a:ln>
        </p:spPr>
      </p:sp>
      <p:sp>
        <p:nvSpPr>
          <p:cNvPr id="58" name="Text 56"/>
          <p:cNvSpPr/>
          <p:nvPr/>
        </p:nvSpPr>
        <p:spPr>
          <a:xfrm>
            <a:off x="6172200" y="29718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a:t>
            </a:r>
            <a:endParaRPr lang="en-US" sz="1200" dirty="0"/>
          </a:p>
        </p:txBody>
      </p:sp>
      <p:sp>
        <p:nvSpPr>
          <p:cNvPr id="59" name="Shape 57"/>
          <p:cNvSpPr/>
          <p:nvPr/>
        </p:nvSpPr>
        <p:spPr>
          <a:xfrm>
            <a:off x="6739128" y="2971800"/>
            <a:ext cx="566928" cy="457200"/>
          </a:xfrm>
          <a:prstGeom prst="rect">
            <a:avLst/>
          </a:prstGeom>
          <a:solidFill>
            <a:srgbClr val="FFFFFF"/>
          </a:solidFill>
          <a:ln w="6350">
            <a:solidFill>
              <a:srgbClr val="D8E2E0"/>
            </a:solidFill>
            <a:prstDash val="solid"/>
          </a:ln>
        </p:spPr>
      </p:sp>
      <p:sp>
        <p:nvSpPr>
          <p:cNvPr id="60" name="Text 58"/>
          <p:cNvSpPr/>
          <p:nvPr/>
        </p:nvSpPr>
        <p:spPr>
          <a:xfrm>
            <a:off x="6739128" y="2971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61" name="Shape 59"/>
          <p:cNvSpPr/>
          <p:nvPr/>
        </p:nvSpPr>
        <p:spPr>
          <a:xfrm>
            <a:off x="7306056" y="2971800"/>
            <a:ext cx="566928" cy="457200"/>
          </a:xfrm>
          <a:prstGeom prst="rect">
            <a:avLst/>
          </a:prstGeom>
          <a:solidFill>
            <a:srgbClr val="FFFFFF"/>
          </a:solidFill>
          <a:ln w="6350">
            <a:solidFill>
              <a:srgbClr val="D8E2E0"/>
            </a:solidFill>
            <a:prstDash val="solid"/>
          </a:ln>
        </p:spPr>
      </p:sp>
      <p:sp>
        <p:nvSpPr>
          <p:cNvPr id="62" name="Text 60"/>
          <p:cNvSpPr/>
          <p:nvPr/>
        </p:nvSpPr>
        <p:spPr>
          <a:xfrm>
            <a:off x="7306056" y="2971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63" name="Shape 61"/>
          <p:cNvSpPr/>
          <p:nvPr/>
        </p:nvSpPr>
        <p:spPr>
          <a:xfrm>
            <a:off x="7872984" y="2971800"/>
            <a:ext cx="566928" cy="457200"/>
          </a:xfrm>
          <a:prstGeom prst="rect">
            <a:avLst/>
          </a:prstGeom>
          <a:solidFill>
            <a:srgbClr val="FFFFFF"/>
          </a:solidFill>
          <a:ln w="6350">
            <a:solidFill>
              <a:srgbClr val="D8E2E0"/>
            </a:solidFill>
            <a:prstDash val="solid"/>
          </a:ln>
        </p:spPr>
      </p:sp>
      <p:sp>
        <p:nvSpPr>
          <p:cNvPr id="64" name="Text 62"/>
          <p:cNvSpPr/>
          <p:nvPr/>
        </p:nvSpPr>
        <p:spPr>
          <a:xfrm>
            <a:off x="7872984" y="2971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65" name="Shape 63"/>
          <p:cNvSpPr/>
          <p:nvPr/>
        </p:nvSpPr>
        <p:spPr>
          <a:xfrm>
            <a:off x="8439912" y="2971800"/>
            <a:ext cx="566928" cy="457200"/>
          </a:xfrm>
          <a:prstGeom prst="rect">
            <a:avLst/>
          </a:prstGeom>
          <a:solidFill>
            <a:srgbClr val="FFFFFF"/>
          </a:solidFill>
          <a:ln w="6350">
            <a:solidFill>
              <a:srgbClr val="D8E2E0"/>
            </a:solidFill>
            <a:prstDash val="solid"/>
          </a:ln>
        </p:spPr>
      </p:sp>
      <p:sp>
        <p:nvSpPr>
          <p:cNvPr id="66" name="Text 64"/>
          <p:cNvSpPr/>
          <p:nvPr/>
        </p:nvSpPr>
        <p:spPr>
          <a:xfrm>
            <a:off x="8439912" y="2971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67" name="Shape 65"/>
          <p:cNvSpPr/>
          <p:nvPr/>
        </p:nvSpPr>
        <p:spPr>
          <a:xfrm>
            <a:off x="9006840" y="2971800"/>
            <a:ext cx="566928" cy="457200"/>
          </a:xfrm>
          <a:prstGeom prst="rect">
            <a:avLst/>
          </a:prstGeom>
          <a:solidFill>
            <a:srgbClr val="FFFFFF"/>
          </a:solidFill>
          <a:ln w="6350">
            <a:solidFill>
              <a:srgbClr val="D8E2E0"/>
            </a:solidFill>
            <a:prstDash val="solid"/>
          </a:ln>
        </p:spPr>
      </p:sp>
      <p:sp>
        <p:nvSpPr>
          <p:cNvPr id="68" name="Text 66"/>
          <p:cNvSpPr/>
          <p:nvPr/>
        </p:nvSpPr>
        <p:spPr>
          <a:xfrm>
            <a:off x="9006840" y="2971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69" name="Shape 67"/>
          <p:cNvSpPr/>
          <p:nvPr/>
        </p:nvSpPr>
        <p:spPr>
          <a:xfrm>
            <a:off x="9573768" y="2971800"/>
            <a:ext cx="566928" cy="457200"/>
          </a:xfrm>
          <a:prstGeom prst="rect">
            <a:avLst/>
          </a:prstGeom>
          <a:solidFill>
            <a:srgbClr val="FFFFFF"/>
          </a:solidFill>
          <a:ln w="6350">
            <a:solidFill>
              <a:srgbClr val="D8E2E0"/>
            </a:solidFill>
            <a:prstDash val="solid"/>
          </a:ln>
        </p:spPr>
      </p:sp>
      <p:sp>
        <p:nvSpPr>
          <p:cNvPr id="70" name="Text 68"/>
          <p:cNvSpPr/>
          <p:nvPr/>
        </p:nvSpPr>
        <p:spPr>
          <a:xfrm>
            <a:off x="9573768" y="2971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71" name="Shape 69"/>
          <p:cNvSpPr/>
          <p:nvPr/>
        </p:nvSpPr>
        <p:spPr>
          <a:xfrm>
            <a:off x="10140696" y="2971800"/>
            <a:ext cx="566928" cy="457200"/>
          </a:xfrm>
          <a:prstGeom prst="rect">
            <a:avLst/>
          </a:prstGeom>
          <a:solidFill>
            <a:srgbClr val="FFFFFF"/>
          </a:solidFill>
          <a:ln w="6350">
            <a:solidFill>
              <a:srgbClr val="D8E2E0"/>
            </a:solidFill>
            <a:prstDash val="solid"/>
          </a:ln>
        </p:spPr>
      </p:sp>
      <p:sp>
        <p:nvSpPr>
          <p:cNvPr id="72" name="Text 70"/>
          <p:cNvSpPr/>
          <p:nvPr/>
        </p:nvSpPr>
        <p:spPr>
          <a:xfrm>
            <a:off x="10140696" y="2971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73" name="Shape 71"/>
          <p:cNvSpPr/>
          <p:nvPr/>
        </p:nvSpPr>
        <p:spPr>
          <a:xfrm>
            <a:off x="6172200" y="3429000"/>
            <a:ext cx="566928" cy="457200"/>
          </a:xfrm>
          <a:prstGeom prst="rect">
            <a:avLst/>
          </a:prstGeom>
          <a:solidFill>
            <a:srgbClr val="0B2E33"/>
          </a:solidFill>
          <a:ln w="6350">
            <a:solidFill>
              <a:srgbClr val="FFFFFF"/>
            </a:solidFill>
            <a:prstDash val="solid"/>
          </a:ln>
        </p:spPr>
      </p:sp>
      <p:sp>
        <p:nvSpPr>
          <p:cNvPr id="74" name="Text 72"/>
          <p:cNvSpPr/>
          <p:nvPr/>
        </p:nvSpPr>
        <p:spPr>
          <a:xfrm>
            <a:off x="6172200" y="34290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75" name="Shape 73"/>
          <p:cNvSpPr/>
          <p:nvPr/>
        </p:nvSpPr>
        <p:spPr>
          <a:xfrm>
            <a:off x="6739128" y="3429000"/>
            <a:ext cx="566928" cy="457200"/>
          </a:xfrm>
          <a:prstGeom prst="rect">
            <a:avLst/>
          </a:prstGeom>
          <a:solidFill>
            <a:srgbClr val="FFFFFF"/>
          </a:solidFill>
          <a:ln w="6350">
            <a:solidFill>
              <a:srgbClr val="D8E2E0"/>
            </a:solidFill>
            <a:prstDash val="solid"/>
          </a:ln>
        </p:spPr>
      </p:sp>
      <p:sp>
        <p:nvSpPr>
          <p:cNvPr id="76" name="Text 74"/>
          <p:cNvSpPr/>
          <p:nvPr/>
        </p:nvSpPr>
        <p:spPr>
          <a:xfrm>
            <a:off x="6739128" y="34290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77" name="Shape 75"/>
          <p:cNvSpPr/>
          <p:nvPr/>
        </p:nvSpPr>
        <p:spPr>
          <a:xfrm>
            <a:off x="7306056" y="3429000"/>
            <a:ext cx="566928" cy="457200"/>
          </a:xfrm>
          <a:prstGeom prst="rect">
            <a:avLst/>
          </a:prstGeom>
          <a:solidFill>
            <a:srgbClr val="FFFFFF"/>
          </a:solidFill>
          <a:ln w="6350">
            <a:solidFill>
              <a:srgbClr val="D8E2E0"/>
            </a:solidFill>
            <a:prstDash val="solid"/>
          </a:ln>
        </p:spPr>
      </p:sp>
      <p:sp>
        <p:nvSpPr>
          <p:cNvPr id="78" name="Text 76"/>
          <p:cNvSpPr/>
          <p:nvPr/>
        </p:nvSpPr>
        <p:spPr>
          <a:xfrm>
            <a:off x="7306056" y="34290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79" name="Shape 77"/>
          <p:cNvSpPr/>
          <p:nvPr/>
        </p:nvSpPr>
        <p:spPr>
          <a:xfrm>
            <a:off x="7872984" y="3429000"/>
            <a:ext cx="566928" cy="457200"/>
          </a:xfrm>
          <a:prstGeom prst="rect">
            <a:avLst/>
          </a:prstGeom>
          <a:solidFill>
            <a:srgbClr val="FFFFFF"/>
          </a:solidFill>
          <a:ln w="6350">
            <a:solidFill>
              <a:srgbClr val="D8E2E0"/>
            </a:solidFill>
            <a:prstDash val="solid"/>
          </a:ln>
        </p:spPr>
      </p:sp>
      <p:sp>
        <p:nvSpPr>
          <p:cNvPr id="80" name="Text 78"/>
          <p:cNvSpPr/>
          <p:nvPr/>
        </p:nvSpPr>
        <p:spPr>
          <a:xfrm>
            <a:off x="7872984" y="34290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81" name="Shape 79"/>
          <p:cNvSpPr/>
          <p:nvPr/>
        </p:nvSpPr>
        <p:spPr>
          <a:xfrm>
            <a:off x="8439912" y="3429000"/>
            <a:ext cx="566928" cy="457200"/>
          </a:xfrm>
          <a:prstGeom prst="rect">
            <a:avLst/>
          </a:prstGeom>
          <a:solidFill>
            <a:srgbClr val="FFFFFF"/>
          </a:solidFill>
          <a:ln w="6350">
            <a:solidFill>
              <a:srgbClr val="D8E2E0"/>
            </a:solidFill>
            <a:prstDash val="solid"/>
          </a:ln>
        </p:spPr>
      </p:sp>
      <p:sp>
        <p:nvSpPr>
          <p:cNvPr id="82" name="Text 80"/>
          <p:cNvSpPr/>
          <p:nvPr/>
        </p:nvSpPr>
        <p:spPr>
          <a:xfrm>
            <a:off x="8439912" y="34290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83" name="Shape 81"/>
          <p:cNvSpPr/>
          <p:nvPr/>
        </p:nvSpPr>
        <p:spPr>
          <a:xfrm>
            <a:off x="9006840" y="3429000"/>
            <a:ext cx="566928" cy="457200"/>
          </a:xfrm>
          <a:prstGeom prst="rect">
            <a:avLst/>
          </a:prstGeom>
          <a:solidFill>
            <a:srgbClr val="02C39A"/>
          </a:solidFill>
          <a:ln w="6350">
            <a:solidFill>
              <a:srgbClr val="D8E2E0"/>
            </a:solidFill>
            <a:prstDash val="solid"/>
          </a:ln>
        </p:spPr>
      </p:sp>
      <p:sp>
        <p:nvSpPr>
          <p:cNvPr id="84" name="Text 82"/>
          <p:cNvSpPr/>
          <p:nvPr/>
        </p:nvSpPr>
        <p:spPr>
          <a:xfrm>
            <a:off x="9006840" y="3429000"/>
            <a:ext cx="566928" cy="457200"/>
          </a:xfrm>
          <a:prstGeom prst="rect">
            <a:avLst/>
          </a:prstGeom>
          <a:noFill/>
          <a:ln/>
        </p:spPr>
        <p:txBody>
          <a:bodyPr wrap="square" lIns="0" tIns="0" rIns="0" bIns="0" rtlCol="0" anchor="ctr"/>
          <a:lstStyle/>
          <a:p>
            <a:pPr algn="ctr" indent="0" marL="0">
              <a:buNone/>
            </a:pPr>
            <a:r>
              <a:rPr lang="en-US" sz="1150" b="1" dirty="0">
                <a:solidFill>
                  <a:srgbClr val="0B2E33"/>
                </a:solidFill>
                <a:latin typeface="Calibri" pitchFamily="34" charset="0"/>
                <a:ea typeface="Calibri" pitchFamily="34" charset="-122"/>
                <a:cs typeface="Calibri" pitchFamily="34" charset="-120"/>
              </a:rPr>
              <a:t>2</a:t>
            </a:r>
            <a:endParaRPr lang="en-US" sz="1150" dirty="0"/>
          </a:p>
        </p:txBody>
      </p:sp>
      <p:sp>
        <p:nvSpPr>
          <p:cNvPr id="85" name="Shape 83"/>
          <p:cNvSpPr/>
          <p:nvPr/>
        </p:nvSpPr>
        <p:spPr>
          <a:xfrm>
            <a:off x="9573768" y="3429000"/>
            <a:ext cx="566928" cy="457200"/>
          </a:xfrm>
          <a:prstGeom prst="rect">
            <a:avLst/>
          </a:prstGeom>
          <a:solidFill>
            <a:srgbClr val="FFFFFF"/>
          </a:solidFill>
          <a:ln w="6350">
            <a:solidFill>
              <a:srgbClr val="D8E2E0"/>
            </a:solidFill>
            <a:prstDash val="solid"/>
          </a:ln>
        </p:spPr>
      </p:sp>
      <p:sp>
        <p:nvSpPr>
          <p:cNvPr id="86" name="Text 84"/>
          <p:cNvSpPr/>
          <p:nvPr/>
        </p:nvSpPr>
        <p:spPr>
          <a:xfrm>
            <a:off x="9573768" y="34290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2</a:t>
            </a:r>
            <a:endParaRPr lang="en-US" sz="1150" dirty="0"/>
          </a:p>
        </p:txBody>
      </p:sp>
      <p:sp>
        <p:nvSpPr>
          <p:cNvPr id="87" name="Shape 85"/>
          <p:cNvSpPr/>
          <p:nvPr/>
        </p:nvSpPr>
        <p:spPr>
          <a:xfrm>
            <a:off x="10140696" y="3429000"/>
            <a:ext cx="566928" cy="457200"/>
          </a:xfrm>
          <a:prstGeom prst="rect">
            <a:avLst/>
          </a:prstGeom>
          <a:solidFill>
            <a:srgbClr val="FFFFFF"/>
          </a:solidFill>
          <a:ln w="6350">
            <a:solidFill>
              <a:srgbClr val="D8E2E0"/>
            </a:solidFill>
            <a:prstDash val="solid"/>
          </a:ln>
        </p:spPr>
      </p:sp>
      <p:sp>
        <p:nvSpPr>
          <p:cNvPr id="88" name="Text 86"/>
          <p:cNvSpPr/>
          <p:nvPr/>
        </p:nvSpPr>
        <p:spPr>
          <a:xfrm>
            <a:off x="10140696" y="34290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2</a:t>
            </a:r>
            <a:endParaRPr lang="en-US" sz="1150" dirty="0"/>
          </a:p>
        </p:txBody>
      </p:sp>
      <p:sp>
        <p:nvSpPr>
          <p:cNvPr id="89" name="Shape 87"/>
          <p:cNvSpPr/>
          <p:nvPr/>
        </p:nvSpPr>
        <p:spPr>
          <a:xfrm>
            <a:off x="6172200" y="3886200"/>
            <a:ext cx="566928" cy="457200"/>
          </a:xfrm>
          <a:prstGeom prst="rect">
            <a:avLst/>
          </a:prstGeom>
          <a:solidFill>
            <a:srgbClr val="0B2E33"/>
          </a:solidFill>
          <a:ln w="6350">
            <a:solidFill>
              <a:srgbClr val="FFFFFF"/>
            </a:solidFill>
            <a:prstDash val="solid"/>
          </a:ln>
        </p:spPr>
      </p:sp>
      <p:sp>
        <p:nvSpPr>
          <p:cNvPr id="90" name="Text 88"/>
          <p:cNvSpPr/>
          <p:nvPr/>
        </p:nvSpPr>
        <p:spPr>
          <a:xfrm>
            <a:off x="6172200" y="38862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a:t>
            </a:r>
            <a:endParaRPr lang="en-US" sz="1200" dirty="0"/>
          </a:p>
        </p:txBody>
      </p:sp>
      <p:sp>
        <p:nvSpPr>
          <p:cNvPr id="91" name="Shape 89"/>
          <p:cNvSpPr/>
          <p:nvPr/>
        </p:nvSpPr>
        <p:spPr>
          <a:xfrm>
            <a:off x="6739128" y="3886200"/>
            <a:ext cx="566928" cy="457200"/>
          </a:xfrm>
          <a:prstGeom prst="rect">
            <a:avLst/>
          </a:prstGeom>
          <a:solidFill>
            <a:srgbClr val="FFFFFF"/>
          </a:solidFill>
          <a:ln w="6350">
            <a:solidFill>
              <a:srgbClr val="D8E2E0"/>
            </a:solidFill>
            <a:prstDash val="solid"/>
          </a:ln>
        </p:spPr>
      </p:sp>
      <p:sp>
        <p:nvSpPr>
          <p:cNvPr id="92" name="Text 90"/>
          <p:cNvSpPr/>
          <p:nvPr/>
        </p:nvSpPr>
        <p:spPr>
          <a:xfrm>
            <a:off x="6739128" y="38862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93" name="Shape 91"/>
          <p:cNvSpPr/>
          <p:nvPr/>
        </p:nvSpPr>
        <p:spPr>
          <a:xfrm>
            <a:off x="7306056" y="3886200"/>
            <a:ext cx="566928" cy="457200"/>
          </a:xfrm>
          <a:prstGeom prst="rect">
            <a:avLst/>
          </a:prstGeom>
          <a:solidFill>
            <a:srgbClr val="FFFFFF"/>
          </a:solidFill>
          <a:ln w="6350">
            <a:solidFill>
              <a:srgbClr val="D8E2E0"/>
            </a:solidFill>
            <a:prstDash val="solid"/>
          </a:ln>
        </p:spPr>
      </p:sp>
      <p:sp>
        <p:nvSpPr>
          <p:cNvPr id="94" name="Text 92"/>
          <p:cNvSpPr/>
          <p:nvPr/>
        </p:nvSpPr>
        <p:spPr>
          <a:xfrm>
            <a:off x="7306056" y="38862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95" name="Shape 93"/>
          <p:cNvSpPr/>
          <p:nvPr/>
        </p:nvSpPr>
        <p:spPr>
          <a:xfrm>
            <a:off x="7872984" y="3886200"/>
            <a:ext cx="566928" cy="457200"/>
          </a:xfrm>
          <a:prstGeom prst="rect">
            <a:avLst/>
          </a:prstGeom>
          <a:solidFill>
            <a:srgbClr val="FFFFFF"/>
          </a:solidFill>
          <a:ln w="6350">
            <a:solidFill>
              <a:srgbClr val="D8E2E0"/>
            </a:solidFill>
            <a:prstDash val="solid"/>
          </a:ln>
        </p:spPr>
      </p:sp>
      <p:sp>
        <p:nvSpPr>
          <p:cNvPr id="96" name="Text 94"/>
          <p:cNvSpPr/>
          <p:nvPr/>
        </p:nvSpPr>
        <p:spPr>
          <a:xfrm>
            <a:off x="7872984" y="38862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97" name="Shape 95"/>
          <p:cNvSpPr/>
          <p:nvPr/>
        </p:nvSpPr>
        <p:spPr>
          <a:xfrm>
            <a:off x="8439912" y="3886200"/>
            <a:ext cx="566928" cy="457200"/>
          </a:xfrm>
          <a:prstGeom prst="rect">
            <a:avLst/>
          </a:prstGeom>
          <a:solidFill>
            <a:srgbClr val="FFFFFF"/>
          </a:solidFill>
          <a:ln w="6350">
            <a:solidFill>
              <a:srgbClr val="D8E2E0"/>
            </a:solidFill>
            <a:prstDash val="solid"/>
          </a:ln>
        </p:spPr>
      </p:sp>
      <p:sp>
        <p:nvSpPr>
          <p:cNvPr id="98" name="Text 96"/>
          <p:cNvSpPr/>
          <p:nvPr/>
        </p:nvSpPr>
        <p:spPr>
          <a:xfrm>
            <a:off x="8439912" y="38862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99" name="Shape 97"/>
          <p:cNvSpPr/>
          <p:nvPr/>
        </p:nvSpPr>
        <p:spPr>
          <a:xfrm>
            <a:off x="9006840" y="3886200"/>
            <a:ext cx="566928" cy="457200"/>
          </a:xfrm>
          <a:prstGeom prst="rect">
            <a:avLst/>
          </a:prstGeom>
          <a:solidFill>
            <a:srgbClr val="FFFFFF"/>
          </a:solidFill>
          <a:ln w="6350">
            <a:solidFill>
              <a:srgbClr val="D8E2E0"/>
            </a:solidFill>
            <a:prstDash val="solid"/>
          </a:ln>
        </p:spPr>
      </p:sp>
      <p:sp>
        <p:nvSpPr>
          <p:cNvPr id="100" name="Text 98"/>
          <p:cNvSpPr/>
          <p:nvPr/>
        </p:nvSpPr>
        <p:spPr>
          <a:xfrm>
            <a:off x="9006840" y="38862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2</a:t>
            </a:r>
            <a:endParaRPr lang="en-US" sz="1150" dirty="0"/>
          </a:p>
        </p:txBody>
      </p:sp>
      <p:sp>
        <p:nvSpPr>
          <p:cNvPr id="101" name="Shape 99"/>
          <p:cNvSpPr/>
          <p:nvPr/>
        </p:nvSpPr>
        <p:spPr>
          <a:xfrm>
            <a:off x="9573768" y="3886200"/>
            <a:ext cx="566928" cy="457200"/>
          </a:xfrm>
          <a:prstGeom prst="rect">
            <a:avLst/>
          </a:prstGeom>
          <a:solidFill>
            <a:srgbClr val="FFFFFF"/>
          </a:solidFill>
          <a:ln w="6350">
            <a:solidFill>
              <a:srgbClr val="D8E2E0"/>
            </a:solidFill>
            <a:prstDash val="solid"/>
          </a:ln>
        </p:spPr>
      </p:sp>
      <p:sp>
        <p:nvSpPr>
          <p:cNvPr id="102" name="Text 100"/>
          <p:cNvSpPr/>
          <p:nvPr/>
        </p:nvSpPr>
        <p:spPr>
          <a:xfrm>
            <a:off x="9573768" y="38862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2</a:t>
            </a:r>
            <a:endParaRPr lang="en-US" sz="1150" dirty="0"/>
          </a:p>
        </p:txBody>
      </p:sp>
      <p:sp>
        <p:nvSpPr>
          <p:cNvPr id="103" name="Shape 101"/>
          <p:cNvSpPr/>
          <p:nvPr/>
        </p:nvSpPr>
        <p:spPr>
          <a:xfrm>
            <a:off x="10140696" y="3886200"/>
            <a:ext cx="566928" cy="457200"/>
          </a:xfrm>
          <a:prstGeom prst="rect">
            <a:avLst/>
          </a:prstGeom>
          <a:solidFill>
            <a:srgbClr val="FFFFFF"/>
          </a:solidFill>
          <a:ln w="6350">
            <a:solidFill>
              <a:srgbClr val="D8E2E0"/>
            </a:solidFill>
            <a:prstDash val="solid"/>
          </a:ln>
        </p:spPr>
      </p:sp>
      <p:sp>
        <p:nvSpPr>
          <p:cNvPr id="104" name="Text 102"/>
          <p:cNvSpPr/>
          <p:nvPr/>
        </p:nvSpPr>
        <p:spPr>
          <a:xfrm>
            <a:off x="10140696" y="38862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2</a:t>
            </a:r>
            <a:endParaRPr lang="en-US" sz="1150" dirty="0"/>
          </a:p>
        </p:txBody>
      </p:sp>
      <p:sp>
        <p:nvSpPr>
          <p:cNvPr id="105" name="Shape 103"/>
          <p:cNvSpPr/>
          <p:nvPr/>
        </p:nvSpPr>
        <p:spPr>
          <a:xfrm>
            <a:off x="6172200" y="4343400"/>
            <a:ext cx="566928" cy="457200"/>
          </a:xfrm>
          <a:prstGeom prst="rect">
            <a:avLst/>
          </a:prstGeom>
          <a:solidFill>
            <a:srgbClr val="0B2E33"/>
          </a:solidFill>
          <a:ln w="6350">
            <a:solidFill>
              <a:srgbClr val="FFFFFF"/>
            </a:solidFill>
            <a:prstDash val="solid"/>
          </a:ln>
        </p:spPr>
      </p:sp>
      <p:sp>
        <p:nvSpPr>
          <p:cNvPr id="106" name="Text 104"/>
          <p:cNvSpPr/>
          <p:nvPr/>
        </p:nvSpPr>
        <p:spPr>
          <a:xfrm>
            <a:off x="6172200" y="43434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07" name="Shape 105"/>
          <p:cNvSpPr/>
          <p:nvPr/>
        </p:nvSpPr>
        <p:spPr>
          <a:xfrm>
            <a:off x="6739128" y="4343400"/>
            <a:ext cx="566928" cy="457200"/>
          </a:xfrm>
          <a:prstGeom prst="rect">
            <a:avLst/>
          </a:prstGeom>
          <a:solidFill>
            <a:srgbClr val="FFFFFF"/>
          </a:solidFill>
          <a:ln w="6350">
            <a:solidFill>
              <a:srgbClr val="D8E2E0"/>
            </a:solidFill>
            <a:prstDash val="solid"/>
          </a:ln>
        </p:spPr>
      </p:sp>
      <p:sp>
        <p:nvSpPr>
          <p:cNvPr id="108" name="Text 106"/>
          <p:cNvSpPr/>
          <p:nvPr/>
        </p:nvSpPr>
        <p:spPr>
          <a:xfrm>
            <a:off x="6739128" y="4343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109" name="Shape 107"/>
          <p:cNvSpPr/>
          <p:nvPr/>
        </p:nvSpPr>
        <p:spPr>
          <a:xfrm>
            <a:off x="7306056" y="4343400"/>
            <a:ext cx="566928" cy="457200"/>
          </a:xfrm>
          <a:prstGeom prst="rect">
            <a:avLst/>
          </a:prstGeom>
          <a:solidFill>
            <a:srgbClr val="FFFFFF"/>
          </a:solidFill>
          <a:ln w="6350">
            <a:solidFill>
              <a:srgbClr val="D8E2E0"/>
            </a:solidFill>
            <a:prstDash val="solid"/>
          </a:ln>
        </p:spPr>
      </p:sp>
      <p:sp>
        <p:nvSpPr>
          <p:cNvPr id="110" name="Text 108"/>
          <p:cNvSpPr/>
          <p:nvPr/>
        </p:nvSpPr>
        <p:spPr>
          <a:xfrm>
            <a:off x="7306056" y="4343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11" name="Shape 109"/>
          <p:cNvSpPr/>
          <p:nvPr/>
        </p:nvSpPr>
        <p:spPr>
          <a:xfrm>
            <a:off x="7872984" y="4343400"/>
            <a:ext cx="566928" cy="457200"/>
          </a:xfrm>
          <a:prstGeom prst="rect">
            <a:avLst/>
          </a:prstGeom>
          <a:solidFill>
            <a:srgbClr val="FFFFFF"/>
          </a:solidFill>
          <a:ln w="6350">
            <a:solidFill>
              <a:srgbClr val="D8E2E0"/>
            </a:solidFill>
            <a:prstDash val="solid"/>
          </a:ln>
        </p:spPr>
      </p:sp>
      <p:sp>
        <p:nvSpPr>
          <p:cNvPr id="112" name="Text 110"/>
          <p:cNvSpPr/>
          <p:nvPr/>
        </p:nvSpPr>
        <p:spPr>
          <a:xfrm>
            <a:off x="7872984" y="4343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13" name="Shape 111"/>
          <p:cNvSpPr/>
          <p:nvPr/>
        </p:nvSpPr>
        <p:spPr>
          <a:xfrm>
            <a:off x="8439912" y="4343400"/>
            <a:ext cx="566928" cy="457200"/>
          </a:xfrm>
          <a:prstGeom prst="rect">
            <a:avLst/>
          </a:prstGeom>
          <a:solidFill>
            <a:srgbClr val="FFFFFF"/>
          </a:solidFill>
          <a:ln w="6350">
            <a:solidFill>
              <a:srgbClr val="D8E2E0"/>
            </a:solidFill>
            <a:prstDash val="solid"/>
          </a:ln>
        </p:spPr>
      </p:sp>
      <p:sp>
        <p:nvSpPr>
          <p:cNvPr id="114" name="Text 112"/>
          <p:cNvSpPr/>
          <p:nvPr/>
        </p:nvSpPr>
        <p:spPr>
          <a:xfrm>
            <a:off x="8439912" y="4343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15" name="Shape 113"/>
          <p:cNvSpPr/>
          <p:nvPr/>
        </p:nvSpPr>
        <p:spPr>
          <a:xfrm>
            <a:off x="9006840" y="4343400"/>
            <a:ext cx="566928" cy="457200"/>
          </a:xfrm>
          <a:prstGeom prst="rect">
            <a:avLst/>
          </a:prstGeom>
          <a:solidFill>
            <a:srgbClr val="FFFFFF"/>
          </a:solidFill>
          <a:ln w="6350">
            <a:solidFill>
              <a:srgbClr val="D8E2E0"/>
            </a:solidFill>
            <a:prstDash val="solid"/>
          </a:ln>
        </p:spPr>
      </p:sp>
      <p:sp>
        <p:nvSpPr>
          <p:cNvPr id="116" name="Text 114"/>
          <p:cNvSpPr/>
          <p:nvPr/>
        </p:nvSpPr>
        <p:spPr>
          <a:xfrm>
            <a:off x="9006840" y="4343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2</a:t>
            </a:r>
            <a:endParaRPr lang="en-US" sz="1150" dirty="0"/>
          </a:p>
        </p:txBody>
      </p:sp>
      <p:sp>
        <p:nvSpPr>
          <p:cNvPr id="117" name="Shape 115"/>
          <p:cNvSpPr/>
          <p:nvPr/>
        </p:nvSpPr>
        <p:spPr>
          <a:xfrm>
            <a:off x="9573768" y="4343400"/>
            <a:ext cx="566928" cy="457200"/>
          </a:xfrm>
          <a:prstGeom prst="rect">
            <a:avLst/>
          </a:prstGeom>
          <a:solidFill>
            <a:srgbClr val="02C39A"/>
          </a:solidFill>
          <a:ln w="6350">
            <a:solidFill>
              <a:srgbClr val="D8E2E0"/>
            </a:solidFill>
            <a:prstDash val="solid"/>
          </a:ln>
        </p:spPr>
      </p:sp>
      <p:sp>
        <p:nvSpPr>
          <p:cNvPr id="118" name="Text 116"/>
          <p:cNvSpPr/>
          <p:nvPr/>
        </p:nvSpPr>
        <p:spPr>
          <a:xfrm>
            <a:off x="9573768" y="4343400"/>
            <a:ext cx="566928" cy="457200"/>
          </a:xfrm>
          <a:prstGeom prst="rect">
            <a:avLst/>
          </a:prstGeom>
          <a:noFill/>
          <a:ln/>
        </p:spPr>
        <p:txBody>
          <a:bodyPr wrap="square" lIns="0" tIns="0" rIns="0" bIns="0" rtlCol="0" anchor="ctr"/>
          <a:lstStyle/>
          <a:p>
            <a:pPr algn="ctr" indent="0" marL="0">
              <a:buNone/>
            </a:pPr>
            <a:r>
              <a:rPr lang="en-US" sz="1150" b="1" dirty="0">
                <a:solidFill>
                  <a:srgbClr val="0B2E33"/>
                </a:solidFill>
                <a:latin typeface="Calibri" pitchFamily="34" charset="0"/>
                <a:ea typeface="Calibri" pitchFamily="34" charset="-122"/>
                <a:cs typeface="Calibri" pitchFamily="34" charset="-120"/>
              </a:rPr>
              <a:t>3</a:t>
            </a:r>
            <a:endParaRPr lang="en-US" sz="1150" dirty="0"/>
          </a:p>
        </p:txBody>
      </p:sp>
      <p:sp>
        <p:nvSpPr>
          <p:cNvPr id="119" name="Shape 117"/>
          <p:cNvSpPr/>
          <p:nvPr/>
        </p:nvSpPr>
        <p:spPr>
          <a:xfrm>
            <a:off x="10140696" y="4343400"/>
            <a:ext cx="566928" cy="457200"/>
          </a:xfrm>
          <a:prstGeom prst="rect">
            <a:avLst/>
          </a:prstGeom>
          <a:solidFill>
            <a:srgbClr val="FFFFFF"/>
          </a:solidFill>
          <a:ln w="6350">
            <a:solidFill>
              <a:srgbClr val="D8E2E0"/>
            </a:solidFill>
            <a:prstDash val="solid"/>
          </a:ln>
        </p:spPr>
      </p:sp>
      <p:sp>
        <p:nvSpPr>
          <p:cNvPr id="120" name="Text 118"/>
          <p:cNvSpPr/>
          <p:nvPr/>
        </p:nvSpPr>
        <p:spPr>
          <a:xfrm>
            <a:off x="10140696" y="43434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3</a:t>
            </a:r>
            <a:endParaRPr lang="en-US" sz="1150" dirty="0"/>
          </a:p>
        </p:txBody>
      </p:sp>
      <p:sp>
        <p:nvSpPr>
          <p:cNvPr id="121" name="Shape 119"/>
          <p:cNvSpPr/>
          <p:nvPr/>
        </p:nvSpPr>
        <p:spPr>
          <a:xfrm>
            <a:off x="6172200" y="4800600"/>
            <a:ext cx="566928" cy="457200"/>
          </a:xfrm>
          <a:prstGeom prst="rect">
            <a:avLst/>
          </a:prstGeom>
          <a:solidFill>
            <a:srgbClr val="0B2E33"/>
          </a:solidFill>
          <a:ln w="6350">
            <a:solidFill>
              <a:srgbClr val="FFFFFF"/>
            </a:solidFill>
            <a:prstDash val="solid"/>
          </a:ln>
        </p:spPr>
      </p:sp>
      <p:sp>
        <p:nvSpPr>
          <p:cNvPr id="122" name="Text 120"/>
          <p:cNvSpPr/>
          <p:nvPr/>
        </p:nvSpPr>
        <p:spPr>
          <a:xfrm>
            <a:off x="6172200" y="48006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p>
        </p:txBody>
      </p:sp>
      <p:sp>
        <p:nvSpPr>
          <p:cNvPr id="123" name="Shape 121"/>
          <p:cNvSpPr/>
          <p:nvPr/>
        </p:nvSpPr>
        <p:spPr>
          <a:xfrm>
            <a:off x="6739128" y="4800600"/>
            <a:ext cx="566928" cy="457200"/>
          </a:xfrm>
          <a:prstGeom prst="rect">
            <a:avLst/>
          </a:prstGeom>
          <a:solidFill>
            <a:srgbClr val="FFFFFF"/>
          </a:solidFill>
          <a:ln w="6350">
            <a:solidFill>
              <a:srgbClr val="D8E2E0"/>
            </a:solidFill>
            <a:prstDash val="solid"/>
          </a:ln>
        </p:spPr>
      </p:sp>
      <p:sp>
        <p:nvSpPr>
          <p:cNvPr id="124" name="Text 122"/>
          <p:cNvSpPr/>
          <p:nvPr/>
        </p:nvSpPr>
        <p:spPr>
          <a:xfrm>
            <a:off x="6739128" y="4800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125" name="Shape 123"/>
          <p:cNvSpPr/>
          <p:nvPr/>
        </p:nvSpPr>
        <p:spPr>
          <a:xfrm>
            <a:off x="7306056" y="4800600"/>
            <a:ext cx="566928" cy="457200"/>
          </a:xfrm>
          <a:prstGeom prst="rect">
            <a:avLst/>
          </a:prstGeom>
          <a:solidFill>
            <a:srgbClr val="FFFFFF"/>
          </a:solidFill>
          <a:ln w="6350">
            <a:solidFill>
              <a:srgbClr val="D8E2E0"/>
            </a:solidFill>
            <a:prstDash val="solid"/>
          </a:ln>
        </p:spPr>
      </p:sp>
      <p:sp>
        <p:nvSpPr>
          <p:cNvPr id="126" name="Text 124"/>
          <p:cNvSpPr/>
          <p:nvPr/>
        </p:nvSpPr>
        <p:spPr>
          <a:xfrm>
            <a:off x="7306056" y="4800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27" name="Shape 125"/>
          <p:cNvSpPr/>
          <p:nvPr/>
        </p:nvSpPr>
        <p:spPr>
          <a:xfrm>
            <a:off x="7872984" y="4800600"/>
            <a:ext cx="566928" cy="457200"/>
          </a:xfrm>
          <a:prstGeom prst="rect">
            <a:avLst/>
          </a:prstGeom>
          <a:solidFill>
            <a:srgbClr val="FFFFFF"/>
          </a:solidFill>
          <a:ln w="6350">
            <a:solidFill>
              <a:srgbClr val="D8E2E0"/>
            </a:solidFill>
            <a:prstDash val="solid"/>
          </a:ln>
        </p:spPr>
      </p:sp>
      <p:sp>
        <p:nvSpPr>
          <p:cNvPr id="128" name="Text 126"/>
          <p:cNvSpPr/>
          <p:nvPr/>
        </p:nvSpPr>
        <p:spPr>
          <a:xfrm>
            <a:off x="7872984" y="4800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29" name="Shape 127"/>
          <p:cNvSpPr/>
          <p:nvPr/>
        </p:nvSpPr>
        <p:spPr>
          <a:xfrm>
            <a:off x="8439912" y="4800600"/>
            <a:ext cx="566928" cy="457200"/>
          </a:xfrm>
          <a:prstGeom prst="rect">
            <a:avLst/>
          </a:prstGeom>
          <a:solidFill>
            <a:srgbClr val="FFFFFF"/>
          </a:solidFill>
          <a:ln w="6350">
            <a:solidFill>
              <a:srgbClr val="D8E2E0"/>
            </a:solidFill>
            <a:prstDash val="solid"/>
          </a:ln>
        </p:spPr>
      </p:sp>
      <p:sp>
        <p:nvSpPr>
          <p:cNvPr id="130" name="Text 128"/>
          <p:cNvSpPr/>
          <p:nvPr/>
        </p:nvSpPr>
        <p:spPr>
          <a:xfrm>
            <a:off x="8439912" y="4800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31" name="Shape 129"/>
          <p:cNvSpPr/>
          <p:nvPr/>
        </p:nvSpPr>
        <p:spPr>
          <a:xfrm>
            <a:off x="9006840" y="4800600"/>
            <a:ext cx="566928" cy="457200"/>
          </a:xfrm>
          <a:prstGeom prst="rect">
            <a:avLst/>
          </a:prstGeom>
          <a:solidFill>
            <a:srgbClr val="FFFFFF"/>
          </a:solidFill>
          <a:ln w="6350">
            <a:solidFill>
              <a:srgbClr val="D8E2E0"/>
            </a:solidFill>
            <a:prstDash val="solid"/>
          </a:ln>
        </p:spPr>
      </p:sp>
      <p:sp>
        <p:nvSpPr>
          <p:cNvPr id="132" name="Text 130"/>
          <p:cNvSpPr/>
          <p:nvPr/>
        </p:nvSpPr>
        <p:spPr>
          <a:xfrm>
            <a:off x="9006840" y="4800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2</a:t>
            </a:r>
            <a:endParaRPr lang="en-US" sz="1150" dirty="0"/>
          </a:p>
        </p:txBody>
      </p:sp>
      <p:sp>
        <p:nvSpPr>
          <p:cNvPr id="133" name="Shape 131"/>
          <p:cNvSpPr/>
          <p:nvPr/>
        </p:nvSpPr>
        <p:spPr>
          <a:xfrm>
            <a:off x="9573768" y="4800600"/>
            <a:ext cx="566928" cy="457200"/>
          </a:xfrm>
          <a:prstGeom prst="rect">
            <a:avLst/>
          </a:prstGeom>
          <a:solidFill>
            <a:srgbClr val="FFFFFF"/>
          </a:solidFill>
          <a:ln w="6350">
            <a:solidFill>
              <a:srgbClr val="D8E2E0"/>
            </a:solidFill>
            <a:prstDash val="solid"/>
          </a:ln>
        </p:spPr>
      </p:sp>
      <p:sp>
        <p:nvSpPr>
          <p:cNvPr id="134" name="Text 132"/>
          <p:cNvSpPr/>
          <p:nvPr/>
        </p:nvSpPr>
        <p:spPr>
          <a:xfrm>
            <a:off x="9573768" y="4800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3</a:t>
            </a:r>
            <a:endParaRPr lang="en-US" sz="1150" dirty="0"/>
          </a:p>
        </p:txBody>
      </p:sp>
      <p:sp>
        <p:nvSpPr>
          <p:cNvPr id="135" name="Shape 133"/>
          <p:cNvSpPr/>
          <p:nvPr/>
        </p:nvSpPr>
        <p:spPr>
          <a:xfrm>
            <a:off x="10140696" y="4800600"/>
            <a:ext cx="566928" cy="457200"/>
          </a:xfrm>
          <a:prstGeom prst="rect">
            <a:avLst/>
          </a:prstGeom>
          <a:solidFill>
            <a:srgbClr val="FFFFFF"/>
          </a:solidFill>
          <a:ln w="6350">
            <a:solidFill>
              <a:srgbClr val="D8E2E0"/>
            </a:solidFill>
            <a:prstDash val="solid"/>
          </a:ln>
        </p:spPr>
      </p:sp>
      <p:sp>
        <p:nvSpPr>
          <p:cNvPr id="136" name="Text 134"/>
          <p:cNvSpPr/>
          <p:nvPr/>
        </p:nvSpPr>
        <p:spPr>
          <a:xfrm>
            <a:off x="10140696" y="48006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3</a:t>
            </a:r>
            <a:endParaRPr lang="en-US" sz="1150" dirty="0"/>
          </a:p>
        </p:txBody>
      </p:sp>
      <p:sp>
        <p:nvSpPr>
          <p:cNvPr id="137" name="Shape 135"/>
          <p:cNvSpPr/>
          <p:nvPr/>
        </p:nvSpPr>
        <p:spPr>
          <a:xfrm>
            <a:off x="6172200" y="5257800"/>
            <a:ext cx="566928" cy="457200"/>
          </a:xfrm>
          <a:prstGeom prst="rect">
            <a:avLst/>
          </a:prstGeom>
          <a:solidFill>
            <a:srgbClr val="0B2E33"/>
          </a:solidFill>
          <a:ln w="6350">
            <a:solidFill>
              <a:srgbClr val="FFFFFF"/>
            </a:solidFill>
            <a:prstDash val="solid"/>
          </a:ln>
        </p:spPr>
      </p:sp>
      <p:sp>
        <p:nvSpPr>
          <p:cNvPr id="138" name="Text 136"/>
          <p:cNvSpPr/>
          <p:nvPr/>
        </p:nvSpPr>
        <p:spPr>
          <a:xfrm>
            <a:off x="6172200" y="5257800"/>
            <a:ext cx="5669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39" name="Shape 137"/>
          <p:cNvSpPr/>
          <p:nvPr/>
        </p:nvSpPr>
        <p:spPr>
          <a:xfrm>
            <a:off x="6739128" y="5257800"/>
            <a:ext cx="566928" cy="457200"/>
          </a:xfrm>
          <a:prstGeom prst="rect">
            <a:avLst/>
          </a:prstGeom>
          <a:solidFill>
            <a:srgbClr val="FFFFFF"/>
          </a:solidFill>
          <a:ln w="6350">
            <a:solidFill>
              <a:srgbClr val="D8E2E0"/>
            </a:solidFill>
            <a:prstDash val="solid"/>
          </a:ln>
        </p:spPr>
      </p:sp>
      <p:sp>
        <p:nvSpPr>
          <p:cNvPr id="140" name="Text 138"/>
          <p:cNvSpPr/>
          <p:nvPr/>
        </p:nvSpPr>
        <p:spPr>
          <a:xfrm>
            <a:off x="6739128" y="5257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0</a:t>
            </a:r>
            <a:endParaRPr lang="en-US" sz="1150" dirty="0"/>
          </a:p>
        </p:txBody>
      </p:sp>
      <p:sp>
        <p:nvSpPr>
          <p:cNvPr id="141" name="Shape 139"/>
          <p:cNvSpPr/>
          <p:nvPr/>
        </p:nvSpPr>
        <p:spPr>
          <a:xfrm>
            <a:off x="7306056" y="5257800"/>
            <a:ext cx="566928" cy="457200"/>
          </a:xfrm>
          <a:prstGeom prst="rect">
            <a:avLst/>
          </a:prstGeom>
          <a:solidFill>
            <a:srgbClr val="FFFFFF"/>
          </a:solidFill>
          <a:ln w="6350">
            <a:solidFill>
              <a:srgbClr val="D8E2E0"/>
            </a:solidFill>
            <a:prstDash val="solid"/>
          </a:ln>
        </p:spPr>
      </p:sp>
      <p:sp>
        <p:nvSpPr>
          <p:cNvPr id="142" name="Text 140"/>
          <p:cNvSpPr/>
          <p:nvPr/>
        </p:nvSpPr>
        <p:spPr>
          <a:xfrm>
            <a:off x="7306056" y="5257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43" name="Shape 141"/>
          <p:cNvSpPr/>
          <p:nvPr/>
        </p:nvSpPr>
        <p:spPr>
          <a:xfrm>
            <a:off x="7872984" y="5257800"/>
            <a:ext cx="566928" cy="457200"/>
          </a:xfrm>
          <a:prstGeom prst="rect">
            <a:avLst/>
          </a:prstGeom>
          <a:solidFill>
            <a:srgbClr val="FFFFFF"/>
          </a:solidFill>
          <a:ln w="6350">
            <a:solidFill>
              <a:srgbClr val="D8E2E0"/>
            </a:solidFill>
            <a:prstDash val="solid"/>
          </a:ln>
        </p:spPr>
      </p:sp>
      <p:sp>
        <p:nvSpPr>
          <p:cNvPr id="144" name="Text 142"/>
          <p:cNvSpPr/>
          <p:nvPr/>
        </p:nvSpPr>
        <p:spPr>
          <a:xfrm>
            <a:off x="7872984" y="5257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45" name="Shape 143"/>
          <p:cNvSpPr/>
          <p:nvPr/>
        </p:nvSpPr>
        <p:spPr>
          <a:xfrm>
            <a:off x="8439912" y="5257800"/>
            <a:ext cx="566928" cy="457200"/>
          </a:xfrm>
          <a:prstGeom prst="rect">
            <a:avLst/>
          </a:prstGeom>
          <a:solidFill>
            <a:srgbClr val="FFFFFF"/>
          </a:solidFill>
          <a:ln w="6350">
            <a:solidFill>
              <a:srgbClr val="D8E2E0"/>
            </a:solidFill>
            <a:prstDash val="solid"/>
          </a:ln>
        </p:spPr>
      </p:sp>
      <p:sp>
        <p:nvSpPr>
          <p:cNvPr id="146" name="Text 144"/>
          <p:cNvSpPr/>
          <p:nvPr/>
        </p:nvSpPr>
        <p:spPr>
          <a:xfrm>
            <a:off x="8439912" y="5257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1</a:t>
            </a:r>
            <a:endParaRPr lang="en-US" sz="1150" dirty="0"/>
          </a:p>
        </p:txBody>
      </p:sp>
      <p:sp>
        <p:nvSpPr>
          <p:cNvPr id="147" name="Shape 145"/>
          <p:cNvSpPr/>
          <p:nvPr/>
        </p:nvSpPr>
        <p:spPr>
          <a:xfrm>
            <a:off x="9006840" y="5257800"/>
            <a:ext cx="566928" cy="457200"/>
          </a:xfrm>
          <a:prstGeom prst="rect">
            <a:avLst/>
          </a:prstGeom>
          <a:solidFill>
            <a:srgbClr val="FFFFFF"/>
          </a:solidFill>
          <a:ln w="6350">
            <a:solidFill>
              <a:srgbClr val="D8E2E0"/>
            </a:solidFill>
            <a:prstDash val="solid"/>
          </a:ln>
        </p:spPr>
      </p:sp>
      <p:sp>
        <p:nvSpPr>
          <p:cNvPr id="148" name="Text 146"/>
          <p:cNvSpPr/>
          <p:nvPr/>
        </p:nvSpPr>
        <p:spPr>
          <a:xfrm>
            <a:off x="9006840" y="5257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2</a:t>
            </a:r>
            <a:endParaRPr lang="en-US" sz="1150" dirty="0"/>
          </a:p>
        </p:txBody>
      </p:sp>
      <p:sp>
        <p:nvSpPr>
          <p:cNvPr id="149" name="Shape 147"/>
          <p:cNvSpPr/>
          <p:nvPr/>
        </p:nvSpPr>
        <p:spPr>
          <a:xfrm>
            <a:off x="9573768" y="5257800"/>
            <a:ext cx="566928" cy="457200"/>
          </a:xfrm>
          <a:prstGeom prst="rect">
            <a:avLst/>
          </a:prstGeom>
          <a:solidFill>
            <a:srgbClr val="FFFFFF"/>
          </a:solidFill>
          <a:ln w="6350">
            <a:solidFill>
              <a:srgbClr val="D8E2E0"/>
            </a:solidFill>
            <a:prstDash val="solid"/>
          </a:ln>
        </p:spPr>
      </p:sp>
      <p:sp>
        <p:nvSpPr>
          <p:cNvPr id="150" name="Text 148"/>
          <p:cNvSpPr/>
          <p:nvPr/>
        </p:nvSpPr>
        <p:spPr>
          <a:xfrm>
            <a:off x="9573768" y="5257800"/>
            <a:ext cx="566928" cy="457200"/>
          </a:xfrm>
          <a:prstGeom prst="rect">
            <a:avLst/>
          </a:prstGeom>
          <a:noFill/>
          <a:ln/>
        </p:spPr>
        <p:txBody>
          <a:bodyPr wrap="square" lIns="0" tIns="0" rIns="0" bIns="0" rtlCol="0" anchor="ctr"/>
          <a:lstStyle/>
          <a:p>
            <a:pPr algn="ctr" indent="0" marL="0">
              <a:buNone/>
            </a:pPr>
            <a:r>
              <a:rPr lang="en-US" sz="1150" dirty="0">
                <a:solidFill>
                  <a:srgbClr val="1B2B2E"/>
                </a:solidFill>
                <a:latin typeface="Calibri" pitchFamily="34" charset="0"/>
                <a:ea typeface="Calibri" pitchFamily="34" charset="-122"/>
                <a:cs typeface="Calibri" pitchFamily="34" charset="-120"/>
              </a:rPr>
              <a:t>3</a:t>
            </a:r>
            <a:endParaRPr lang="en-US" sz="1150" dirty="0"/>
          </a:p>
        </p:txBody>
      </p:sp>
      <p:sp>
        <p:nvSpPr>
          <p:cNvPr id="151" name="Shape 149"/>
          <p:cNvSpPr/>
          <p:nvPr/>
        </p:nvSpPr>
        <p:spPr>
          <a:xfrm>
            <a:off x="10140696" y="5257800"/>
            <a:ext cx="566928" cy="457200"/>
          </a:xfrm>
          <a:prstGeom prst="rect">
            <a:avLst/>
          </a:prstGeom>
          <a:solidFill>
            <a:srgbClr val="02C39A"/>
          </a:solidFill>
          <a:ln w="6350">
            <a:solidFill>
              <a:srgbClr val="D8E2E0"/>
            </a:solidFill>
            <a:prstDash val="solid"/>
          </a:ln>
        </p:spPr>
      </p:sp>
      <p:sp>
        <p:nvSpPr>
          <p:cNvPr id="152" name="Text 150"/>
          <p:cNvSpPr/>
          <p:nvPr/>
        </p:nvSpPr>
        <p:spPr>
          <a:xfrm>
            <a:off x="10140696" y="5257800"/>
            <a:ext cx="566928" cy="457200"/>
          </a:xfrm>
          <a:prstGeom prst="rect">
            <a:avLst/>
          </a:prstGeom>
          <a:noFill/>
          <a:ln/>
        </p:spPr>
        <p:txBody>
          <a:bodyPr wrap="square" lIns="0" tIns="0" rIns="0" bIns="0" rtlCol="0" anchor="ctr"/>
          <a:lstStyle/>
          <a:p>
            <a:pPr algn="ctr" indent="0" marL="0">
              <a:buNone/>
            </a:pPr>
            <a:r>
              <a:rPr lang="en-US" sz="1150" b="1" dirty="0">
                <a:solidFill>
                  <a:srgbClr val="0B2E33"/>
                </a:solidFill>
                <a:latin typeface="Calibri" pitchFamily="34" charset="0"/>
                <a:ea typeface="Calibri" pitchFamily="34" charset="-122"/>
                <a:cs typeface="Calibri" pitchFamily="34" charset="-120"/>
              </a:rPr>
              <a:t>4</a:t>
            </a:r>
            <a:endParaRPr lang="en-US" sz="1150" dirty="0"/>
          </a:p>
        </p:txBody>
      </p:sp>
      <p:sp>
        <p:nvSpPr>
          <p:cNvPr id="153" name="Text 151"/>
          <p:cNvSpPr/>
          <p:nvPr/>
        </p:nvSpPr>
        <p:spPr>
          <a:xfrm>
            <a:off x="6172200" y="5852160"/>
            <a:ext cx="5120640" cy="320040"/>
          </a:xfrm>
          <a:prstGeom prst="rect">
            <a:avLst/>
          </a:prstGeom>
          <a:noFill/>
          <a:ln/>
        </p:spPr>
        <p:txBody>
          <a:bodyPr wrap="square" lIns="0" tIns="0" rIns="0" bIns="0" rtlCol="0" anchor="ctr"/>
          <a:lstStyle/>
          <a:p>
            <a:pPr indent="0" marL="0">
              <a:buNone/>
            </a:pPr>
            <a:r>
              <a:rPr lang="en-US" sz="1100" i="1" dirty="0">
                <a:solidFill>
                  <a:srgbClr val="6E7E80"/>
                </a:solidFill>
                <a:latin typeface="Calibri" pitchFamily="34" charset="0"/>
                <a:ea typeface="Calibri" pitchFamily="34" charset="-122"/>
                <a:cs typeface="Calibri" pitchFamily="34" charset="-120"/>
              </a:rPr>
              <a:t>Highlighted cells trace the path back to LCS = GTAB</a:t>
            </a:r>
            <a:endParaRPr lang="en-US" sz="1100" dirty="0"/>
          </a:p>
        </p:txBody>
      </p:sp>
      <p:sp>
        <p:nvSpPr>
          <p:cNvPr id="154" name="Text 152"/>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6E7E80"/>
                </a:solidFill>
                <a:latin typeface="Calibri" pitchFamily="34" charset="0"/>
                <a:ea typeface="Calibri" pitchFamily="34" charset="-122"/>
                <a:cs typeface="Calibri" pitchFamily="34" charset="-120"/>
              </a:rPr>
              <a:t>Algorithms in Practice</a:t>
            </a:r>
            <a:endParaRPr lang="en-US" sz="900" dirty="0"/>
          </a:p>
        </p:txBody>
      </p:sp>
      <p:sp>
        <p:nvSpPr>
          <p:cNvPr id="155" name="Text 15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7E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685800" cy="685800"/>
          </a:xfrm>
          <a:prstGeom prst="ellipse">
            <a:avLst/>
          </a:prstGeom>
          <a:solidFill>
            <a:srgbClr val="028090"/>
          </a:solidFill>
          <a:ln/>
        </p:spPr>
      </p:sp>
      <p:sp>
        <p:nvSpPr>
          <p:cNvPr id="3" name="Text 1"/>
          <p:cNvSpPr/>
          <p:nvPr/>
        </p:nvSpPr>
        <p:spPr>
          <a:xfrm>
            <a:off x="640080" y="502920"/>
            <a:ext cx="685800" cy="685800"/>
          </a:xfrm>
          <a:prstGeom prst="rect">
            <a:avLst/>
          </a:prstGeom>
          <a:noFill/>
          <a:ln/>
        </p:spPr>
        <p:txBody>
          <a:bodyPr wrap="square" lIns="0" tIns="0" rIns="0" bIns="0" rtlCol="0" anchor="ctr"/>
          <a:lstStyle/>
          <a:p>
            <a:pPr algn="ctr" indent="0" marL="0">
              <a:buNone/>
            </a:pPr>
            <a:r>
              <a:rPr lang="en-US" sz="2600" b="1" spc="-50" kern="0" dirty="0">
                <a:solidFill>
                  <a:srgbClr val="FFFFFF"/>
                </a:solidFill>
                <a:latin typeface="Calibri" pitchFamily="34" charset="0"/>
                <a:ea typeface="Calibri" pitchFamily="34" charset="-122"/>
                <a:cs typeface="Calibri" pitchFamily="34" charset="-120"/>
              </a:rPr>
              <a:t>DNA</a:t>
            </a:r>
            <a:endParaRPr lang="en-US" sz="2600" dirty="0"/>
          </a:p>
        </p:txBody>
      </p:sp>
      <p:sp>
        <p:nvSpPr>
          <p:cNvPr id="4" name="Text 2"/>
          <p:cNvSpPr/>
          <p:nvPr/>
        </p:nvSpPr>
        <p:spPr>
          <a:xfrm>
            <a:off x="1508760" y="502920"/>
            <a:ext cx="4572000" cy="256032"/>
          </a:xfrm>
          <a:prstGeom prst="rect">
            <a:avLst/>
          </a:prstGeom>
          <a:noFill/>
          <a:ln/>
        </p:spPr>
        <p:txBody>
          <a:bodyPr wrap="square" lIns="0" tIns="0" rIns="0" bIns="0"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APPLICATION 1</a:t>
            </a:r>
            <a:endParaRPr lang="en-US" sz="1100" dirty="0"/>
          </a:p>
        </p:txBody>
      </p:sp>
      <p:sp>
        <p:nvSpPr>
          <p:cNvPr id="5" name="Text 3"/>
          <p:cNvSpPr/>
          <p:nvPr/>
        </p:nvSpPr>
        <p:spPr>
          <a:xfrm>
            <a:off x="1508760" y="749808"/>
            <a:ext cx="9966960" cy="502920"/>
          </a:xfrm>
          <a:prstGeom prst="rect">
            <a:avLst/>
          </a:prstGeom>
          <a:noFill/>
          <a:ln/>
        </p:spPr>
        <p:txBody>
          <a:bodyPr wrap="square" lIns="0" tIns="0" rIns="0" bIns="0" rtlCol="0" anchor="ctr"/>
          <a:lstStyle/>
          <a:p>
            <a:pPr indent="0" marL="0">
              <a:buNone/>
            </a:pPr>
            <a:r>
              <a:rPr lang="en-US" sz="2400" b="1" dirty="0">
                <a:solidFill>
                  <a:srgbClr val="0B2E33"/>
                </a:solidFill>
                <a:latin typeface="Cambria" pitchFamily="34" charset="0"/>
                <a:ea typeface="Cambria" pitchFamily="34" charset="-122"/>
                <a:cs typeface="Cambria" pitchFamily="34" charset="-120"/>
              </a:rPr>
              <a:t>Bioinformatics: DNA &amp; Protein Alignment</a:t>
            </a:r>
            <a:endParaRPr lang="en-US" sz="2400" dirty="0"/>
          </a:p>
        </p:txBody>
      </p:sp>
      <p:sp>
        <p:nvSpPr>
          <p:cNvPr id="6" name="Text 4"/>
          <p:cNvSpPr/>
          <p:nvPr/>
        </p:nvSpPr>
        <p:spPr>
          <a:xfrm>
            <a:off x="1508760" y="1207008"/>
            <a:ext cx="9966960" cy="320040"/>
          </a:xfrm>
          <a:prstGeom prst="rect">
            <a:avLst/>
          </a:prstGeom>
          <a:noFill/>
          <a:ln/>
        </p:spPr>
        <p:txBody>
          <a:bodyPr wrap="square" lIns="0" tIns="0" rIns="0" bIns="0" rtlCol="0" anchor="ctr"/>
          <a:lstStyle/>
          <a:p>
            <a:pPr indent="0" marL="0">
              <a:buNone/>
            </a:pPr>
            <a:r>
              <a:rPr lang="en-US" sz="1250" i="1" dirty="0">
                <a:solidFill>
                  <a:srgbClr val="6E7E80"/>
                </a:solidFill>
                <a:latin typeface="Calibri" pitchFamily="34" charset="0"/>
                <a:ea typeface="Calibri" pitchFamily="34" charset="-122"/>
                <a:cs typeface="Calibri" pitchFamily="34" charset="-120"/>
              </a:rPr>
              <a:t>Comparing genetic sequences to find shared ancestry and function</a:t>
            </a:r>
            <a:endParaRPr lang="en-US" sz="1250" dirty="0"/>
          </a:p>
        </p:txBody>
      </p:sp>
      <p:sp>
        <p:nvSpPr>
          <p:cNvPr id="7" name="Shape 5"/>
          <p:cNvSpPr/>
          <p:nvPr/>
        </p:nvSpPr>
        <p:spPr>
          <a:xfrm>
            <a:off x="640080" y="1783080"/>
            <a:ext cx="6537960" cy="1481328"/>
          </a:xfrm>
          <a:prstGeom prst="rect">
            <a:avLst/>
          </a:prstGeom>
          <a:solidFill>
            <a:srgbClr val="F4F8F7"/>
          </a:solidFill>
          <a:ln/>
        </p:spPr>
      </p:sp>
      <p:sp>
        <p:nvSpPr>
          <p:cNvPr id="8" name="Shape 6"/>
          <p:cNvSpPr/>
          <p:nvPr/>
        </p:nvSpPr>
        <p:spPr>
          <a:xfrm>
            <a:off x="640080" y="1783080"/>
            <a:ext cx="54864" cy="1481328"/>
          </a:xfrm>
          <a:prstGeom prst="rect">
            <a:avLst/>
          </a:prstGeom>
          <a:solidFill>
            <a:srgbClr val="028090"/>
          </a:solidFill>
          <a:ln/>
        </p:spPr>
      </p:sp>
      <p:sp>
        <p:nvSpPr>
          <p:cNvPr id="9" name="Text 7"/>
          <p:cNvSpPr/>
          <p:nvPr/>
        </p:nvSpPr>
        <p:spPr>
          <a:xfrm>
            <a:off x="841248" y="1892808"/>
            <a:ext cx="6172200" cy="256032"/>
          </a:xfrm>
          <a:prstGeom prst="rect">
            <a:avLst/>
          </a:prstGeom>
          <a:noFill/>
          <a:ln/>
        </p:spPr>
        <p:txBody>
          <a:bodyPr wrap="square" lIns="0" tIns="0" rIns="0" bIns="0" rtlCol="0" anchor="ctr"/>
          <a:lstStyle/>
          <a:p>
            <a:pPr indent="0" marL="0">
              <a:buNone/>
            </a:pPr>
            <a:r>
              <a:rPr lang="en-US" sz="1150" b="1" spc="50" kern="0" dirty="0">
                <a:solidFill>
                  <a:srgbClr val="028090"/>
                </a:solidFill>
                <a:latin typeface="Calibri" pitchFamily="34" charset="0"/>
                <a:ea typeface="Calibri" pitchFamily="34" charset="-122"/>
                <a:cs typeface="Calibri" pitchFamily="34" charset="-120"/>
              </a:rPr>
              <a:t>PROBLEM DOMAIN</a:t>
            </a:r>
            <a:endParaRPr lang="en-US" sz="1150" dirty="0"/>
          </a:p>
        </p:txBody>
      </p:sp>
      <p:sp>
        <p:nvSpPr>
          <p:cNvPr id="10" name="Text 8"/>
          <p:cNvSpPr/>
          <p:nvPr/>
        </p:nvSpPr>
        <p:spPr>
          <a:xfrm>
            <a:off x="841248" y="216712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Biologists compare DNA, RNA, or protein sequences to study evolutionary relationships, detect mutations, and identify shared functional regions between organisms or genes.</a:t>
            </a:r>
            <a:endParaRPr lang="en-US" sz="1250" dirty="0"/>
          </a:p>
        </p:txBody>
      </p:sp>
      <p:sp>
        <p:nvSpPr>
          <p:cNvPr id="11" name="Shape 9"/>
          <p:cNvSpPr/>
          <p:nvPr/>
        </p:nvSpPr>
        <p:spPr>
          <a:xfrm>
            <a:off x="640080" y="3520440"/>
            <a:ext cx="6537960" cy="1481328"/>
          </a:xfrm>
          <a:prstGeom prst="rect">
            <a:avLst/>
          </a:prstGeom>
          <a:solidFill>
            <a:srgbClr val="F4F8F7"/>
          </a:solidFill>
          <a:ln/>
        </p:spPr>
      </p:sp>
      <p:sp>
        <p:nvSpPr>
          <p:cNvPr id="12" name="Shape 10"/>
          <p:cNvSpPr/>
          <p:nvPr/>
        </p:nvSpPr>
        <p:spPr>
          <a:xfrm>
            <a:off x="640080" y="3520440"/>
            <a:ext cx="54864" cy="1481328"/>
          </a:xfrm>
          <a:prstGeom prst="rect">
            <a:avLst/>
          </a:prstGeom>
          <a:solidFill>
            <a:srgbClr val="028090"/>
          </a:solidFill>
          <a:ln/>
        </p:spPr>
      </p:sp>
      <p:sp>
        <p:nvSpPr>
          <p:cNvPr id="13" name="Text 11"/>
          <p:cNvSpPr/>
          <p:nvPr/>
        </p:nvSpPr>
        <p:spPr>
          <a:xfrm>
            <a:off x="841248" y="3630168"/>
            <a:ext cx="6172200" cy="256032"/>
          </a:xfrm>
          <a:prstGeom prst="rect">
            <a:avLst/>
          </a:prstGeom>
          <a:noFill/>
          <a:ln/>
        </p:spPr>
        <p:txBody>
          <a:bodyPr wrap="square" lIns="0" tIns="0" rIns="0" bIns="0" rtlCol="0" anchor="ctr"/>
          <a:lstStyle/>
          <a:p>
            <a:pPr indent="0" marL="0">
              <a:buNone/>
            </a:pPr>
            <a:r>
              <a:rPr lang="en-US" sz="1150" b="1" spc="50" kern="0" dirty="0">
                <a:solidFill>
                  <a:srgbClr val="028090"/>
                </a:solidFill>
                <a:latin typeface="Calibri" pitchFamily="34" charset="0"/>
                <a:ea typeface="Calibri" pitchFamily="34" charset="-122"/>
                <a:cs typeface="Calibri" pitchFamily="34" charset="-120"/>
              </a:rPr>
              <a:t>CONNECTION TO LCS</a:t>
            </a:r>
            <a:endParaRPr lang="en-US" sz="1150" dirty="0"/>
          </a:p>
        </p:txBody>
      </p:sp>
      <p:sp>
        <p:nvSpPr>
          <p:cNvPr id="14" name="Text 12"/>
          <p:cNvSpPr/>
          <p:nvPr/>
        </p:nvSpPr>
        <p:spPr>
          <a:xfrm>
            <a:off x="841248" y="390448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A DNA strand is just a string over the alphabet {A, C, G, T}. The longest common subsequence between two strands highlights conserved regions that likely serve the same biological role.</a:t>
            </a:r>
            <a:endParaRPr lang="en-US" sz="1250" dirty="0"/>
          </a:p>
        </p:txBody>
      </p:sp>
      <p:sp>
        <p:nvSpPr>
          <p:cNvPr id="15" name="Shape 13"/>
          <p:cNvSpPr/>
          <p:nvPr/>
        </p:nvSpPr>
        <p:spPr>
          <a:xfrm>
            <a:off x="640080" y="5257800"/>
            <a:ext cx="6537960" cy="1481328"/>
          </a:xfrm>
          <a:prstGeom prst="rect">
            <a:avLst/>
          </a:prstGeom>
          <a:solidFill>
            <a:srgbClr val="F4F8F7"/>
          </a:solidFill>
          <a:ln/>
        </p:spPr>
      </p:sp>
      <p:sp>
        <p:nvSpPr>
          <p:cNvPr id="16" name="Shape 14"/>
          <p:cNvSpPr/>
          <p:nvPr/>
        </p:nvSpPr>
        <p:spPr>
          <a:xfrm>
            <a:off x="640080" y="5257800"/>
            <a:ext cx="54864" cy="1481328"/>
          </a:xfrm>
          <a:prstGeom prst="rect">
            <a:avLst/>
          </a:prstGeom>
          <a:solidFill>
            <a:srgbClr val="028090"/>
          </a:solidFill>
          <a:ln/>
        </p:spPr>
      </p:sp>
      <p:sp>
        <p:nvSpPr>
          <p:cNvPr id="17" name="Text 15"/>
          <p:cNvSpPr/>
          <p:nvPr/>
        </p:nvSpPr>
        <p:spPr>
          <a:xfrm>
            <a:off x="841248" y="5367528"/>
            <a:ext cx="6172200" cy="256032"/>
          </a:xfrm>
          <a:prstGeom prst="rect">
            <a:avLst/>
          </a:prstGeom>
          <a:noFill/>
          <a:ln/>
        </p:spPr>
        <p:txBody>
          <a:bodyPr wrap="square" lIns="0" tIns="0" rIns="0" bIns="0" rtlCol="0" anchor="ctr"/>
          <a:lstStyle/>
          <a:p>
            <a:pPr indent="0" marL="0">
              <a:buNone/>
            </a:pPr>
            <a:r>
              <a:rPr lang="en-US" sz="1150" b="1" spc="50" kern="0" dirty="0">
                <a:solidFill>
                  <a:srgbClr val="028090"/>
                </a:solidFill>
                <a:latin typeface="Calibri" pitchFamily="34" charset="0"/>
                <a:ea typeface="Calibri" pitchFamily="34" charset="-122"/>
                <a:cs typeface="Calibri" pitchFamily="34" charset="-120"/>
              </a:rPr>
              <a:t>HOW IT'S SOLVED</a:t>
            </a:r>
            <a:endParaRPr lang="en-US" sz="1150" dirty="0"/>
          </a:p>
        </p:txBody>
      </p:sp>
      <p:sp>
        <p:nvSpPr>
          <p:cNvPr id="18" name="Text 16"/>
          <p:cNvSpPr/>
          <p:nvPr/>
        </p:nvSpPr>
        <p:spPr>
          <a:xfrm>
            <a:off x="841248" y="564184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Classic LCS dynamic programming underlies sequence alignment scoring; tools such as Needleman-Wunsch (global) and Smith-Waterman (local) extend the same O(mn) table with gap penalties, and BLAST uses fast heuristics for genome-scale search.</a:t>
            </a:r>
            <a:endParaRPr lang="en-US" sz="1250" dirty="0"/>
          </a:p>
        </p:txBody>
      </p:sp>
      <p:sp>
        <p:nvSpPr>
          <p:cNvPr id="19" name="Shape 17"/>
          <p:cNvSpPr/>
          <p:nvPr/>
        </p:nvSpPr>
        <p:spPr>
          <a:xfrm>
            <a:off x="8572500" y="1965960"/>
            <a:ext cx="1828800" cy="0"/>
          </a:xfrm>
          <a:prstGeom prst="line">
            <a:avLst/>
          </a:prstGeom>
          <a:noFill/>
          <a:ln w="12700">
            <a:solidFill>
              <a:srgbClr val="D8E2E0"/>
            </a:solidFill>
            <a:prstDash val="solid"/>
          </a:ln>
        </p:spPr>
      </p:sp>
      <p:sp>
        <p:nvSpPr>
          <p:cNvPr id="20" name="Shape 18"/>
          <p:cNvSpPr/>
          <p:nvPr/>
        </p:nvSpPr>
        <p:spPr>
          <a:xfrm>
            <a:off x="8435340" y="1874520"/>
            <a:ext cx="274320" cy="274320"/>
          </a:xfrm>
          <a:prstGeom prst="ellipse">
            <a:avLst/>
          </a:prstGeom>
          <a:solidFill>
            <a:srgbClr val="028090"/>
          </a:solidFill>
          <a:ln/>
        </p:spPr>
      </p:sp>
      <p:sp>
        <p:nvSpPr>
          <p:cNvPr id="21" name="Shape 19"/>
          <p:cNvSpPr/>
          <p:nvPr/>
        </p:nvSpPr>
        <p:spPr>
          <a:xfrm>
            <a:off x="10264140" y="1874520"/>
            <a:ext cx="274320" cy="274320"/>
          </a:xfrm>
          <a:prstGeom prst="ellipse">
            <a:avLst/>
          </a:prstGeom>
          <a:solidFill>
            <a:srgbClr val="00A896"/>
          </a:solidFill>
          <a:ln/>
        </p:spPr>
      </p:sp>
      <p:sp>
        <p:nvSpPr>
          <p:cNvPr id="22" name="Shape 20"/>
          <p:cNvSpPr/>
          <p:nvPr/>
        </p:nvSpPr>
        <p:spPr>
          <a:xfrm>
            <a:off x="8893045" y="2516632"/>
            <a:ext cx="1187711" cy="0"/>
          </a:xfrm>
          <a:prstGeom prst="line">
            <a:avLst/>
          </a:prstGeom>
          <a:noFill/>
          <a:ln w="12700">
            <a:solidFill>
              <a:srgbClr val="D8E2E0"/>
            </a:solidFill>
            <a:prstDash val="solid"/>
          </a:ln>
        </p:spPr>
      </p:sp>
      <p:sp>
        <p:nvSpPr>
          <p:cNvPr id="23" name="Shape 21"/>
          <p:cNvSpPr/>
          <p:nvPr/>
        </p:nvSpPr>
        <p:spPr>
          <a:xfrm>
            <a:off x="8755885" y="2425192"/>
            <a:ext cx="274320" cy="274320"/>
          </a:xfrm>
          <a:prstGeom prst="ellipse">
            <a:avLst/>
          </a:prstGeom>
          <a:solidFill>
            <a:srgbClr val="00A896"/>
          </a:solidFill>
          <a:ln/>
        </p:spPr>
      </p:sp>
      <p:sp>
        <p:nvSpPr>
          <p:cNvPr id="24" name="Shape 22"/>
          <p:cNvSpPr/>
          <p:nvPr/>
        </p:nvSpPr>
        <p:spPr>
          <a:xfrm>
            <a:off x="9943595" y="2425192"/>
            <a:ext cx="274320" cy="274320"/>
          </a:xfrm>
          <a:prstGeom prst="ellipse">
            <a:avLst/>
          </a:prstGeom>
          <a:solidFill>
            <a:srgbClr val="02C39A"/>
          </a:solidFill>
          <a:ln/>
        </p:spPr>
      </p:sp>
      <p:sp>
        <p:nvSpPr>
          <p:cNvPr id="25" name="Shape 23"/>
          <p:cNvSpPr/>
          <p:nvPr/>
        </p:nvSpPr>
        <p:spPr>
          <a:xfrm>
            <a:off x="9343856" y="3067304"/>
            <a:ext cx="286087" cy="0"/>
          </a:xfrm>
          <a:prstGeom prst="line">
            <a:avLst/>
          </a:prstGeom>
          <a:noFill/>
          <a:ln w="12700">
            <a:solidFill>
              <a:srgbClr val="D8E2E0"/>
            </a:solidFill>
            <a:prstDash val="solid"/>
          </a:ln>
        </p:spPr>
      </p:sp>
      <p:sp>
        <p:nvSpPr>
          <p:cNvPr id="26" name="Shape 24"/>
          <p:cNvSpPr/>
          <p:nvPr/>
        </p:nvSpPr>
        <p:spPr>
          <a:xfrm>
            <a:off x="9492784" y="2975864"/>
            <a:ext cx="274320" cy="274320"/>
          </a:xfrm>
          <a:prstGeom prst="ellipse">
            <a:avLst/>
          </a:prstGeom>
          <a:solidFill>
            <a:srgbClr val="028090"/>
          </a:solidFill>
          <a:ln/>
        </p:spPr>
      </p:sp>
      <p:sp>
        <p:nvSpPr>
          <p:cNvPr id="27" name="Shape 25"/>
          <p:cNvSpPr/>
          <p:nvPr/>
        </p:nvSpPr>
        <p:spPr>
          <a:xfrm>
            <a:off x="9206696" y="2975864"/>
            <a:ext cx="274320" cy="274320"/>
          </a:xfrm>
          <a:prstGeom prst="ellipse">
            <a:avLst/>
          </a:prstGeom>
          <a:solidFill>
            <a:srgbClr val="00A896"/>
          </a:solidFill>
          <a:ln/>
        </p:spPr>
      </p:sp>
      <p:sp>
        <p:nvSpPr>
          <p:cNvPr id="28" name="Shape 26"/>
          <p:cNvSpPr/>
          <p:nvPr/>
        </p:nvSpPr>
        <p:spPr>
          <a:xfrm>
            <a:off x="8707246" y="3617976"/>
            <a:ext cx="1559308" cy="0"/>
          </a:xfrm>
          <a:prstGeom prst="line">
            <a:avLst/>
          </a:prstGeom>
          <a:noFill/>
          <a:ln w="12700">
            <a:solidFill>
              <a:srgbClr val="D8E2E0"/>
            </a:solidFill>
            <a:prstDash val="solid"/>
          </a:ln>
        </p:spPr>
      </p:sp>
      <p:sp>
        <p:nvSpPr>
          <p:cNvPr id="29" name="Shape 27"/>
          <p:cNvSpPr/>
          <p:nvPr/>
        </p:nvSpPr>
        <p:spPr>
          <a:xfrm>
            <a:off x="10129394" y="3526536"/>
            <a:ext cx="274320" cy="274320"/>
          </a:xfrm>
          <a:prstGeom prst="ellipse">
            <a:avLst/>
          </a:prstGeom>
          <a:solidFill>
            <a:srgbClr val="00A896"/>
          </a:solidFill>
          <a:ln/>
        </p:spPr>
      </p:sp>
      <p:sp>
        <p:nvSpPr>
          <p:cNvPr id="30" name="Shape 28"/>
          <p:cNvSpPr/>
          <p:nvPr/>
        </p:nvSpPr>
        <p:spPr>
          <a:xfrm>
            <a:off x="8570086" y="3526536"/>
            <a:ext cx="274320" cy="274320"/>
          </a:xfrm>
          <a:prstGeom prst="ellipse">
            <a:avLst/>
          </a:prstGeom>
          <a:solidFill>
            <a:srgbClr val="02C39A"/>
          </a:solidFill>
          <a:ln/>
        </p:spPr>
      </p:sp>
      <p:sp>
        <p:nvSpPr>
          <p:cNvPr id="31" name="Shape 29"/>
          <p:cNvSpPr/>
          <p:nvPr/>
        </p:nvSpPr>
        <p:spPr>
          <a:xfrm>
            <a:off x="8617254" y="4168648"/>
            <a:ext cx="1739292" cy="0"/>
          </a:xfrm>
          <a:prstGeom prst="line">
            <a:avLst/>
          </a:prstGeom>
          <a:noFill/>
          <a:ln w="12700">
            <a:solidFill>
              <a:srgbClr val="D8E2E0"/>
            </a:solidFill>
            <a:prstDash val="solid"/>
          </a:ln>
        </p:spPr>
      </p:sp>
      <p:sp>
        <p:nvSpPr>
          <p:cNvPr id="32" name="Shape 30"/>
          <p:cNvSpPr/>
          <p:nvPr/>
        </p:nvSpPr>
        <p:spPr>
          <a:xfrm>
            <a:off x="10219386" y="4077208"/>
            <a:ext cx="274320" cy="274320"/>
          </a:xfrm>
          <a:prstGeom prst="ellipse">
            <a:avLst/>
          </a:prstGeom>
          <a:solidFill>
            <a:srgbClr val="028090"/>
          </a:solidFill>
          <a:ln/>
        </p:spPr>
      </p:sp>
      <p:sp>
        <p:nvSpPr>
          <p:cNvPr id="33" name="Shape 31"/>
          <p:cNvSpPr/>
          <p:nvPr/>
        </p:nvSpPr>
        <p:spPr>
          <a:xfrm>
            <a:off x="8480094" y="4077208"/>
            <a:ext cx="274320" cy="274320"/>
          </a:xfrm>
          <a:prstGeom prst="ellipse">
            <a:avLst/>
          </a:prstGeom>
          <a:solidFill>
            <a:srgbClr val="00A896"/>
          </a:solidFill>
          <a:ln/>
        </p:spPr>
      </p:sp>
      <p:sp>
        <p:nvSpPr>
          <p:cNvPr id="34" name="Shape 32"/>
          <p:cNvSpPr/>
          <p:nvPr/>
        </p:nvSpPr>
        <p:spPr>
          <a:xfrm>
            <a:off x="9136974" y="4719320"/>
            <a:ext cx="699851" cy="0"/>
          </a:xfrm>
          <a:prstGeom prst="line">
            <a:avLst/>
          </a:prstGeom>
          <a:noFill/>
          <a:ln w="12700">
            <a:solidFill>
              <a:srgbClr val="D8E2E0"/>
            </a:solidFill>
            <a:prstDash val="solid"/>
          </a:ln>
        </p:spPr>
      </p:sp>
      <p:sp>
        <p:nvSpPr>
          <p:cNvPr id="35" name="Shape 33"/>
          <p:cNvSpPr/>
          <p:nvPr/>
        </p:nvSpPr>
        <p:spPr>
          <a:xfrm>
            <a:off x="9699666" y="4627880"/>
            <a:ext cx="274320" cy="274320"/>
          </a:xfrm>
          <a:prstGeom prst="ellipse">
            <a:avLst/>
          </a:prstGeom>
          <a:solidFill>
            <a:srgbClr val="00A896"/>
          </a:solidFill>
          <a:ln/>
        </p:spPr>
      </p:sp>
      <p:sp>
        <p:nvSpPr>
          <p:cNvPr id="36" name="Shape 34"/>
          <p:cNvSpPr/>
          <p:nvPr/>
        </p:nvSpPr>
        <p:spPr>
          <a:xfrm>
            <a:off x="8999814" y="4627880"/>
            <a:ext cx="274320" cy="274320"/>
          </a:xfrm>
          <a:prstGeom prst="ellipse">
            <a:avLst/>
          </a:prstGeom>
          <a:solidFill>
            <a:srgbClr val="02C39A"/>
          </a:solidFill>
          <a:ln/>
        </p:spPr>
      </p:sp>
      <p:sp>
        <p:nvSpPr>
          <p:cNvPr id="37" name="Shape 35"/>
          <p:cNvSpPr/>
          <p:nvPr/>
        </p:nvSpPr>
        <p:spPr>
          <a:xfrm>
            <a:off x="9071771" y="5269992"/>
            <a:ext cx="830258" cy="0"/>
          </a:xfrm>
          <a:prstGeom prst="line">
            <a:avLst/>
          </a:prstGeom>
          <a:noFill/>
          <a:ln w="12700">
            <a:solidFill>
              <a:srgbClr val="D8E2E0"/>
            </a:solidFill>
            <a:prstDash val="solid"/>
          </a:ln>
        </p:spPr>
      </p:sp>
      <p:sp>
        <p:nvSpPr>
          <p:cNvPr id="38" name="Shape 36"/>
          <p:cNvSpPr/>
          <p:nvPr/>
        </p:nvSpPr>
        <p:spPr>
          <a:xfrm>
            <a:off x="8934611" y="5178552"/>
            <a:ext cx="274320" cy="274320"/>
          </a:xfrm>
          <a:prstGeom prst="ellipse">
            <a:avLst/>
          </a:prstGeom>
          <a:solidFill>
            <a:srgbClr val="028090"/>
          </a:solidFill>
          <a:ln/>
        </p:spPr>
      </p:sp>
      <p:sp>
        <p:nvSpPr>
          <p:cNvPr id="39" name="Shape 37"/>
          <p:cNvSpPr/>
          <p:nvPr/>
        </p:nvSpPr>
        <p:spPr>
          <a:xfrm>
            <a:off x="9764869" y="5178552"/>
            <a:ext cx="274320" cy="274320"/>
          </a:xfrm>
          <a:prstGeom prst="ellipse">
            <a:avLst/>
          </a:prstGeom>
          <a:solidFill>
            <a:srgbClr val="00A896"/>
          </a:solidFill>
          <a:ln/>
        </p:spPr>
      </p:sp>
      <p:sp>
        <p:nvSpPr>
          <p:cNvPr id="40" name="Shape 38"/>
          <p:cNvSpPr/>
          <p:nvPr/>
        </p:nvSpPr>
        <p:spPr>
          <a:xfrm>
            <a:off x="8597765" y="5820664"/>
            <a:ext cx="1778270" cy="0"/>
          </a:xfrm>
          <a:prstGeom prst="line">
            <a:avLst/>
          </a:prstGeom>
          <a:noFill/>
          <a:ln w="12700">
            <a:solidFill>
              <a:srgbClr val="D8E2E0"/>
            </a:solidFill>
            <a:prstDash val="solid"/>
          </a:ln>
        </p:spPr>
      </p:sp>
      <p:sp>
        <p:nvSpPr>
          <p:cNvPr id="41" name="Shape 39"/>
          <p:cNvSpPr/>
          <p:nvPr/>
        </p:nvSpPr>
        <p:spPr>
          <a:xfrm>
            <a:off x="8460605" y="5729224"/>
            <a:ext cx="274320" cy="274320"/>
          </a:xfrm>
          <a:prstGeom prst="ellipse">
            <a:avLst/>
          </a:prstGeom>
          <a:solidFill>
            <a:srgbClr val="00A896"/>
          </a:solidFill>
          <a:ln/>
        </p:spPr>
      </p:sp>
      <p:sp>
        <p:nvSpPr>
          <p:cNvPr id="42" name="Shape 40"/>
          <p:cNvSpPr/>
          <p:nvPr/>
        </p:nvSpPr>
        <p:spPr>
          <a:xfrm>
            <a:off x="10238875" y="5729224"/>
            <a:ext cx="274320" cy="274320"/>
          </a:xfrm>
          <a:prstGeom prst="ellipse">
            <a:avLst/>
          </a:prstGeom>
          <a:solidFill>
            <a:srgbClr val="02C39A"/>
          </a:solidFill>
          <a:ln/>
        </p:spPr>
      </p:sp>
      <p:sp>
        <p:nvSpPr>
          <p:cNvPr id="43" name="Shape 41"/>
          <p:cNvSpPr/>
          <p:nvPr/>
        </p:nvSpPr>
        <p:spPr>
          <a:xfrm>
            <a:off x="8747135" y="6371336"/>
            <a:ext cx="1479530" cy="0"/>
          </a:xfrm>
          <a:prstGeom prst="line">
            <a:avLst/>
          </a:prstGeom>
          <a:noFill/>
          <a:ln w="12700">
            <a:solidFill>
              <a:srgbClr val="D8E2E0"/>
            </a:solidFill>
            <a:prstDash val="solid"/>
          </a:ln>
        </p:spPr>
      </p:sp>
      <p:sp>
        <p:nvSpPr>
          <p:cNvPr id="44" name="Shape 42"/>
          <p:cNvSpPr/>
          <p:nvPr/>
        </p:nvSpPr>
        <p:spPr>
          <a:xfrm>
            <a:off x="8609975" y="6279896"/>
            <a:ext cx="274320" cy="274320"/>
          </a:xfrm>
          <a:prstGeom prst="ellipse">
            <a:avLst/>
          </a:prstGeom>
          <a:solidFill>
            <a:srgbClr val="028090"/>
          </a:solidFill>
          <a:ln/>
        </p:spPr>
      </p:sp>
      <p:sp>
        <p:nvSpPr>
          <p:cNvPr id="45" name="Shape 43"/>
          <p:cNvSpPr/>
          <p:nvPr/>
        </p:nvSpPr>
        <p:spPr>
          <a:xfrm>
            <a:off x="10089505" y="6279896"/>
            <a:ext cx="274320" cy="274320"/>
          </a:xfrm>
          <a:prstGeom prst="ellipse">
            <a:avLst/>
          </a:prstGeom>
          <a:solidFill>
            <a:srgbClr val="00A896"/>
          </a:solidFill>
          <a:ln/>
        </p:spPr>
      </p:sp>
      <p:sp>
        <p:nvSpPr>
          <p:cNvPr id="46" name="Text 44"/>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6E7E80"/>
                </a:solidFill>
                <a:latin typeface="Calibri" pitchFamily="34" charset="0"/>
                <a:ea typeface="Calibri" pitchFamily="34" charset="-122"/>
                <a:cs typeface="Calibri" pitchFamily="34" charset="-120"/>
              </a:rPr>
              <a:t>Algorithms in Practice</a:t>
            </a:r>
            <a:endParaRPr lang="en-US" sz="900" dirty="0"/>
          </a:p>
        </p:txBody>
      </p:sp>
      <p:sp>
        <p:nvSpPr>
          <p:cNvPr id="47" name="Text 4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7E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685800" cy="685800"/>
          </a:xfrm>
          <a:prstGeom prst="ellipse">
            <a:avLst/>
          </a:prstGeom>
          <a:solidFill>
            <a:srgbClr val="00A896"/>
          </a:solidFill>
          <a:ln/>
        </p:spPr>
      </p:sp>
      <p:sp>
        <p:nvSpPr>
          <p:cNvPr id="3" name="Text 1"/>
          <p:cNvSpPr/>
          <p:nvPr/>
        </p:nvSpPr>
        <p:spPr>
          <a:xfrm>
            <a:off x="640080" y="502920"/>
            <a:ext cx="685800" cy="685800"/>
          </a:xfrm>
          <a:prstGeom prst="rect">
            <a:avLst/>
          </a:prstGeom>
          <a:noFill/>
          <a:ln/>
        </p:spPr>
        <p:txBody>
          <a:bodyPr wrap="square" lIns="0" tIns="0" rIns="0" bIns="0" rtlCol="0" anchor="ctr"/>
          <a:lstStyle/>
          <a:p>
            <a:pPr algn="ctr" indent="0" marL="0">
              <a:buNone/>
            </a:pPr>
            <a:r>
              <a:rPr lang="en-US" sz="2600" b="1" spc="-50" kern="0" dirty="0">
                <a:solidFill>
                  <a:srgbClr val="FFFFFF"/>
                </a:solidFill>
                <a:latin typeface="Calibri" pitchFamily="34" charset="0"/>
                <a:ea typeface="Calibri" pitchFamily="34" charset="-122"/>
                <a:cs typeface="Calibri" pitchFamily="34" charset="-120"/>
              </a:rPr>
              <a:t>DIF</a:t>
            </a:r>
            <a:endParaRPr lang="en-US" sz="2600" dirty="0"/>
          </a:p>
        </p:txBody>
      </p:sp>
      <p:sp>
        <p:nvSpPr>
          <p:cNvPr id="4" name="Text 2"/>
          <p:cNvSpPr/>
          <p:nvPr/>
        </p:nvSpPr>
        <p:spPr>
          <a:xfrm>
            <a:off x="1508760" y="502920"/>
            <a:ext cx="4572000" cy="256032"/>
          </a:xfrm>
          <a:prstGeom prst="rect">
            <a:avLst/>
          </a:prstGeom>
          <a:noFill/>
          <a:ln/>
        </p:spPr>
        <p:txBody>
          <a:bodyPr wrap="square" lIns="0" tIns="0" rIns="0" bIns="0" rtlCol="0" anchor="ctr"/>
          <a:lstStyle/>
          <a:p>
            <a:pPr indent="0" marL="0">
              <a:buNone/>
            </a:pPr>
            <a:r>
              <a:rPr lang="en-US" sz="1100" b="1" spc="100" kern="0" dirty="0">
                <a:solidFill>
                  <a:srgbClr val="00A896"/>
                </a:solidFill>
                <a:latin typeface="Calibri" pitchFamily="34" charset="0"/>
                <a:ea typeface="Calibri" pitchFamily="34" charset="-122"/>
                <a:cs typeface="Calibri" pitchFamily="34" charset="-120"/>
              </a:rPr>
              <a:t>APPLICATION 2</a:t>
            </a:r>
            <a:endParaRPr lang="en-US" sz="1100" dirty="0"/>
          </a:p>
        </p:txBody>
      </p:sp>
      <p:sp>
        <p:nvSpPr>
          <p:cNvPr id="5" name="Text 3"/>
          <p:cNvSpPr/>
          <p:nvPr/>
        </p:nvSpPr>
        <p:spPr>
          <a:xfrm>
            <a:off x="1508760" y="749808"/>
            <a:ext cx="9966960" cy="502920"/>
          </a:xfrm>
          <a:prstGeom prst="rect">
            <a:avLst/>
          </a:prstGeom>
          <a:noFill/>
          <a:ln/>
        </p:spPr>
        <p:txBody>
          <a:bodyPr wrap="square" lIns="0" tIns="0" rIns="0" bIns="0" rtlCol="0" anchor="ctr"/>
          <a:lstStyle/>
          <a:p>
            <a:pPr indent="0" marL="0">
              <a:buNone/>
            </a:pPr>
            <a:r>
              <a:rPr lang="en-US" sz="2400" b="1" dirty="0">
                <a:solidFill>
                  <a:srgbClr val="0B2E33"/>
                </a:solidFill>
                <a:latin typeface="Cambria" pitchFamily="34" charset="0"/>
                <a:ea typeface="Cambria" pitchFamily="34" charset="-122"/>
                <a:cs typeface="Cambria" pitchFamily="34" charset="-120"/>
              </a:rPr>
              <a:t>Version Control &amp; Diff Tools</a:t>
            </a:r>
            <a:endParaRPr lang="en-US" sz="2400" dirty="0"/>
          </a:p>
        </p:txBody>
      </p:sp>
      <p:sp>
        <p:nvSpPr>
          <p:cNvPr id="6" name="Text 4"/>
          <p:cNvSpPr/>
          <p:nvPr/>
        </p:nvSpPr>
        <p:spPr>
          <a:xfrm>
            <a:off x="1508760" y="1207008"/>
            <a:ext cx="9966960" cy="320040"/>
          </a:xfrm>
          <a:prstGeom prst="rect">
            <a:avLst/>
          </a:prstGeom>
          <a:noFill/>
          <a:ln/>
        </p:spPr>
        <p:txBody>
          <a:bodyPr wrap="square" lIns="0" tIns="0" rIns="0" bIns="0" rtlCol="0" anchor="ctr"/>
          <a:lstStyle/>
          <a:p>
            <a:pPr indent="0" marL="0">
              <a:buNone/>
            </a:pPr>
            <a:r>
              <a:rPr lang="en-US" sz="1250" i="1" dirty="0">
                <a:solidFill>
                  <a:srgbClr val="6E7E80"/>
                </a:solidFill>
                <a:latin typeface="Calibri" pitchFamily="34" charset="0"/>
                <a:ea typeface="Calibri" pitchFamily="34" charset="-122"/>
                <a:cs typeface="Calibri" pitchFamily="34" charset="-120"/>
              </a:rPr>
              <a:t>Showing exactly what changed between two file revisions</a:t>
            </a:r>
            <a:endParaRPr lang="en-US" sz="1250" dirty="0"/>
          </a:p>
        </p:txBody>
      </p:sp>
      <p:sp>
        <p:nvSpPr>
          <p:cNvPr id="7" name="Shape 5"/>
          <p:cNvSpPr/>
          <p:nvPr/>
        </p:nvSpPr>
        <p:spPr>
          <a:xfrm>
            <a:off x="640080" y="1783080"/>
            <a:ext cx="6537960" cy="1481328"/>
          </a:xfrm>
          <a:prstGeom prst="rect">
            <a:avLst/>
          </a:prstGeom>
          <a:solidFill>
            <a:srgbClr val="F4F8F7"/>
          </a:solidFill>
          <a:ln/>
        </p:spPr>
      </p:sp>
      <p:sp>
        <p:nvSpPr>
          <p:cNvPr id="8" name="Shape 6"/>
          <p:cNvSpPr/>
          <p:nvPr/>
        </p:nvSpPr>
        <p:spPr>
          <a:xfrm>
            <a:off x="640080" y="1783080"/>
            <a:ext cx="54864" cy="1481328"/>
          </a:xfrm>
          <a:prstGeom prst="rect">
            <a:avLst/>
          </a:prstGeom>
          <a:solidFill>
            <a:srgbClr val="00A896"/>
          </a:solidFill>
          <a:ln/>
        </p:spPr>
      </p:sp>
      <p:sp>
        <p:nvSpPr>
          <p:cNvPr id="9" name="Text 7"/>
          <p:cNvSpPr/>
          <p:nvPr/>
        </p:nvSpPr>
        <p:spPr>
          <a:xfrm>
            <a:off x="841248" y="1892808"/>
            <a:ext cx="6172200" cy="256032"/>
          </a:xfrm>
          <a:prstGeom prst="rect">
            <a:avLst/>
          </a:prstGeom>
          <a:noFill/>
          <a:ln/>
        </p:spPr>
        <p:txBody>
          <a:bodyPr wrap="square" lIns="0" tIns="0" rIns="0" bIns="0" rtlCol="0" anchor="ctr"/>
          <a:lstStyle/>
          <a:p>
            <a:pPr indent="0" marL="0">
              <a:buNone/>
            </a:pPr>
            <a:r>
              <a:rPr lang="en-US" sz="1150" b="1" spc="50" kern="0" dirty="0">
                <a:solidFill>
                  <a:srgbClr val="00A896"/>
                </a:solidFill>
                <a:latin typeface="Calibri" pitchFamily="34" charset="0"/>
                <a:ea typeface="Calibri" pitchFamily="34" charset="-122"/>
                <a:cs typeface="Calibri" pitchFamily="34" charset="-120"/>
              </a:rPr>
              <a:t>PROBLEM DOMAIN</a:t>
            </a:r>
            <a:endParaRPr lang="en-US" sz="1150" dirty="0"/>
          </a:p>
        </p:txBody>
      </p:sp>
      <p:sp>
        <p:nvSpPr>
          <p:cNvPr id="10" name="Text 8"/>
          <p:cNvSpPr/>
          <p:nvPr/>
        </p:nvSpPr>
        <p:spPr>
          <a:xfrm>
            <a:off x="841248" y="216712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Tools like Git and Unix diff need to show a human-readable summary of what changed between two versions of a file, highlighting additions and deletions without noise.</a:t>
            </a:r>
            <a:endParaRPr lang="en-US" sz="1250" dirty="0"/>
          </a:p>
        </p:txBody>
      </p:sp>
      <p:sp>
        <p:nvSpPr>
          <p:cNvPr id="11" name="Shape 9"/>
          <p:cNvSpPr/>
          <p:nvPr/>
        </p:nvSpPr>
        <p:spPr>
          <a:xfrm>
            <a:off x="640080" y="3520440"/>
            <a:ext cx="6537960" cy="1481328"/>
          </a:xfrm>
          <a:prstGeom prst="rect">
            <a:avLst/>
          </a:prstGeom>
          <a:solidFill>
            <a:srgbClr val="F4F8F7"/>
          </a:solidFill>
          <a:ln/>
        </p:spPr>
      </p:sp>
      <p:sp>
        <p:nvSpPr>
          <p:cNvPr id="12" name="Shape 10"/>
          <p:cNvSpPr/>
          <p:nvPr/>
        </p:nvSpPr>
        <p:spPr>
          <a:xfrm>
            <a:off x="640080" y="3520440"/>
            <a:ext cx="54864" cy="1481328"/>
          </a:xfrm>
          <a:prstGeom prst="rect">
            <a:avLst/>
          </a:prstGeom>
          <a:solidFill>
            <a:srgbClr val="00A896"/>
          </a:solidFill>
          <a:ln/>
        </p:spPr>
      </p:sp>
      <p:sp>
        <p:nvSpPr>
          <p:cNvPr id="13" name="Text 11"/>
          <p:cNvSpPr/>
          <p:nvPr/>
        </p:nvSpPr>
        <p:spPr>
          <a:xfrm>
            <a:off x="841248" y="3630168"/>
            <a:ext cx="6172200" cy="256032"/>
          </a:xfrm>
          <a:prstGeom prst="rect">
            <a:avLst/>
          </a:prstGeom>
          <a:noFill/>
          <a:ln/>
        </p:spPr>
        <p:txBody>
          <a:bodyPr wrap="square" lIns="0" tIns="0" rIns="0" bIns="0" rtlCol="0" anchor="ctr"/>
          <a:lstStyle/>
          <a:p>
            <a:pPr indent="0" marL="0">
              <a:buNone/>
            </a:pPr>
            <a:r>
              <a:rPr lang="en-US" sz="1150" b="1" spc="50" kern="0" dirty="0">
                <a:solidFill>
                  <a:srgbClr val="00A896"/>
                </a:solidFill>
                <a:latin typeface="Calibri" pitchFamily="34" charset="0"/>
                <a:ea typeface="Calibri" pitchFamily="34" charset="-122"/>
                <a:cs typeface="Calibri" pitchFamily="34" charset="-120"/>
              </a:rPr>
              <a:t>CONNECTION TO LCS</a:t>
            </a:r>
            <a:endParaRPr lang="en-US" sz="1150" dirty="0"/>
          </a:p>
        </p:txBody>
      </p:sp>
      <p:sp>
        <p:nvSpPr>
          <p:cNvPr id="14" name="Text 12"/>
          <p:cNvSpPr/>
          <p:nvPr/>
        </p:nvSpPr>
        <p:spPr>
          <a:xfrm>
            <a:off x="841248" y="390448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Each version of the file is treated as a sequence of lines. The LCS of the two line-sequences is exactly the set of lines that stayed unchanged and in the same order across both versions.</a:t>
            </a:r>
            <a:endParaRPr lang="en-US" sz="1250" dirty="0"/>
          </a:p>
        </p:txBody>
      </p:sp>
      <p:sp>
        <p:nvSpPr>
          <p:cNvPr id="15" name="Shape 13"/>
          <p:cNvSpPr/>
          <p:nvPr/>
        </p:nvSpPr>
        <p:spPr>
          <a:xfrm>
            <a:off x="640080" y="5257800"/>
            <a:ext cx="6537960" cy="1481328"/>
          </a:xfrm>
          <a:prstGeom prst="rect">
            <a:avLst/>
          </a:prstGeom>
          <a:solidFill>
            <a:srgbClr val="F4F8F7"/>
          </a:solidFill>
          <a:ln/>
        </p:spPr>
      </p:sp>
      <p:sp>
        <p:nvSpPr>
          <p:cNvPr id="16" name="Shape 14"/>
          <p:cNvSpPr/>
          <p:nvPr/>
        </p:nvSpPr>
        <p:spPr>
          <a:xfrm>
            <a:off x="640080" y="5257800"/>
            <a:ext cx="54864" cy="1481328"/>
          </a:xfrm>
          <a:prstGeom prst="rect">
            <a:avLst/>
          </a:prstGeom>
          <a:solidFill>
            <a:srgbClr val="00A896"/>
          </a:solidFill>
          <a:ln/>
        </p:spPr>
      </p:sp>
      <p:sp>
        <p:nvSpPr>
          <p:cNvPr id="17" name="Text 15"/>
          <p:cNvSpPr/>
          <p:nvPr/>
        </p:nvSpPr>
        <p:spPr>
          <a:xfrm>
            <a:off x="841248" y="5367528"/>
            <a:ext cx="6172200" cy="256032"/>
          </a:xfrm>
          <a:prstGeom prst="rect">
            <a:avLst/>
          </a:prstGeom>
          <a:noFill/>
          <a:ln/>
        </p:spPr>
        <p:txBody>
          <a:bodyPr wrap="square" lIns="0" tIns="0" rIns="0" bIns="0" rtlCol="0" anchor="ctr"/>
          <a:lstStyle/>
          <a:p>
            <a:pPr indent="0" marL="0">
              <a:buNone/>
            </a:pPr>
            <a:r>
              <a:rPr lang="en-US" sz="1150" b="1" spc="50" kern="0" dirty="0">
                <a:solidFill>
                  <a:srgbClr val="00A896"/>
                </a:solidFill>
                <a:latin typeface="Calibri" pitchFamily="34" charset="0"/>
                <a:ea typeface="Calibri" pitchFamily="34" charset="-122"/>
                <a:cs typeface="Calibri" pitchFamily="34" charset="-120"/>
              </a:rPr>
              <a:t>HOW IT'S SOLVED</a:t>
            </a:r>
            <a:endParaRPr lang="en-US" sz="1150" dirty="0"/>
          </a:p>
        </p:txBody>
      </p:sp>
      <p:sp>
        <p:nvSpPr>
          <p:cNvPr id="18" name="Text 16"/>
          <p:cNvSpPr/>
          <p:nvPr/>
        </p:nvSpPr>
        <p:spPr>
          <a:xfrm>
            <a:off x="841248" y="564184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Lines outside the LCS are reported as removed (old version) or added (new version). The classic O(mn) LCS table is impractical for large files, so tools use the Myers diff algorithm, an O(ND) refinement built on the same LCS idea.</a:t>
            </a:r>
            <a:endParaRPr lang="en-US" sz="1250" dirty="0"/>
          </a:p>
        </p:txBody>
      </p:sp>
      <p:sp>
        <p:nvSpPr>
          <p:cNvPr id="19" name="Shape 17"/>
          <p:cNvSpPr/>
          <p:nvPr/>
        </p:nvSpPr>
        <p:spPr>
          <a:xfrm>
            <a:off x="7452360" y="1874520"/>
            <a:ext cx="4069080" cy="1417320"/>
          </a:xfrm>
          <a:prstGeom prst="roundRect">
            <a:avLst>
              <a:gd name="adj" fmla="val 3871"/>
            </a:avLst>
          </a:prstGeom>
          <a:solidFill>
            <a:srgbClr val="F4F8F7"/>
          </a:solidFill>
          <a:ln/>
        </p:spPr>
      </p:sp>
      <p:sp>
        <p:nvSpPr>
          <p:cNvPr id="20" name="Text 18"/>
          <p:cNvSpPr/>
          <p:nvPr/>
        </p:nvSpPr>
        <p:spPr>
          <a:xfrm>
            <a:off x="7635240" y="2002536"/>
            <a:ext cx="3703320" cy="320040"/>
          </a:xfrm>
          <a:prstGeom prst="rect">
            <a:avLst/>
          </a:prstGeom>
          <a:noFill/>
          <a:ln/>
        </p:spPr>
        <p:txBody>
          <a:bodyPr wrap="square" lIns="0" tIns="0" rIns="0" bIns="0" rtlCol="0" anchor="ctr"/>
          <a:lstStyle/>
          <a:p>
            <a:pPr indent="0" marL="0">
              <a:buNone/>
            </a:pPr>
            <a:r>
              <a:rPr lang="en-US" sz="1200" dirty="0">
                <a:solidFill>
                  <a:srgbClr val="1B2B2E"/>
                </a:solidFill>
                <a:latin typeface="Courier New" pitchFamily="34" charset="0"/>
                <a:ea typeface="Courier New" pitchFamily="34" charset="-122"/>
                <a:cs typeface="Courier New" pitchFamily="34" charset="-120"/>
              </a:rPr>
              <a:t>  return total</a:t>
            </a:r>
            <a:endParaRPr lang="en-US" sz="1200" dirty="0"/>
          </a:p>
        </p:txBody>
      </p:sp>
      <p:sp>
        <p:nvSpPr>
          <p:cNvPr id="21" name="Text 19"/>
          <p:cNvSpPr/>
          <p:nvPr/>
        </p:nvSpPr>
        <p:spPr>
          <a:xfrm>
            <a:off x="7635240" y="2368296"/>
            <a:ext cx="3703320" cy="320040"/>
          </a:xfrm>
          <a:prstGeom prst="rect">
            <a:avLst/>
          </a:prstGeom>
          <a:noFill/>
          <a:ln/>
        </p:spPr>
        <p:txBody>
          <a:bodyPr wrap="square" lIns="0" tIns="0" rIns="0" bIns="0" rtlCol="0" anchor="ctr"/>
          <a:lstStyle/>
          <a:p>
            <a:pPr indent="0" marL="0">
              <a:buNone/>
            </a:pPr>
            <a:r>
              <a:rPr lang="en-US" sz="1200" b="1" dirty="0">
                <a:solidFill>
                  <a:srgbClr val="B23A48"/>
                </a:solidFill>
                <a:latin typeface="Courier New" pitchFamily="34" charset="0"/>
                <a:ea typeface="Courier New" pitchFamily="34" charset="-122"/>
                <a:cs typeface="Courier New" pitchFamily="34" charset="-120"/>
              </a:rPr>
              <a:t>- print(total)</a:t>
            </a:r>
            <a:endParaRPr lang="en-US" sz="1200" dirty="0"/>
          </a:p>
        </p:txBody>
      </p:sp>
      <p:sp>
        <p:nvSpPr>
          <p:cNvPr id="22" name="Text 20"/>
          <p:cNvSpPr/>
          <p:nvPr/>
        </p:nvSpPr>
        <p:spPr>
          <a:xfrm>
            <a:off x="7635240" y="2734056"/>
            <a:ext cx="3703320" cy="320040"/>
          </a:xfrm>
          <a:prstGeom prst="rect">
            <a:avLst/>
          </a:prstGeom>
          <a:noFill/>
          <a:ln/>
        </p:spPr>
        <p:txBody>
          <a:bodyPr wrap="square" lIns="0" tIns="0" rIns="0" bIns="0" rtlCol="0" anchor="ctr"/>
          <a:lstStyle/>
          <a:p>
            <a:pPr indent="0" marL="0">
              <a:buNone/>
            </a:pPr>
            <a:r>
              <a:rPr lang="en-US" sz="1200" dirty="0">
                <a:solidFill>
                  <a:srgbClr val="1B2B2E"/>
                </a:solidFill>
                <a:latin typeface="Courier New" pitchFamily="34" charset="0"/>
                <a:ea typeface="Courier New" pitchFamily="34" charset="-122"/>
                <a:cs typeface="Courier New" pitchFamily="34" charset="-120"/>
              </a:rPr>
              <a:t>  end</a:t>
            </a:r>
            <a:endParaRPr lang="en-US" sz="1200" dirty="0"/>
          </a:p>
        </p:txBody>
      </p:sp>
      <p:sp>
        <p:nvSpPr>
          <p:cNvPr id="23" name="Text 21"/>
          <p:cNvSpPr/>
          <p:nvPr/>
        </p:nvSpPr>
        <p:spPr>
          <a:xfrm>
            <a:off x="7635240" y="1911096"/>
            <a:ext cx="1828800" cy="182880"/>
          </a:xfrm>
          <a:prstGeom prst="rect">
            <a:avLst/>
          </a:prstGeom>
          <a:noFill/>
          <a:ln/>
        </p:spPr>
        <p:txBody>
          <a:bodyPr wrap="square" lIns="0" tIns="0" rIns="0" bIns="0" rtlCol="0" anchor="ctr"/>
          <a:lstStyle/>
          <a:p>
            <a:pPr indent="0" marL="0">
              <a:buNone/>
            </a:pPr>
            <a:r>
              <a:rPr lang="en-US" sz="900" b="1" dirty="0">
                <a:solidFill>
                  <a:srgbClr val="6E7E80"/>
                </a:solidFill>
                <a:latin typeface="Calibri" pitchFamily="34" charset="0"/>
                <a:ea typeface="Calibri" pitchFamily="34" charset="-122"/>
                <a:cs typeface="Calibri" pitchFamily="34" charset="-120"/>
              </a:rPr>
              <a:t>BEFORE</a:t>
            </a:r>
            <a:endParaRPr lang="en-US" sz="900" dirty="0"/>
          </a:p>
        </p:txBody>
      </p:sp>
      <p:sp>
        <p:nvSpPr>
          <p:cNvPr id="24" name="Shape 22"/>
          <p:cNvSpPr/>
          <p:nvPr/>
        </p:nvSpPr>
        <p:spPr>
          <a:xfrm>
            <a:off x="7452360" y="3566160"/>
            <a:ext cx="4069080" cy="1417320"/>
          </a:xfrm>
          <a:prstGeom prst="roundRect">
            <a:avLst>
              <a:gd name="adj" fmla="val 3871"/>
            </a:avLst>
          </a:prstGeom>
          <a:solidFill>
            <a:srgbClr val="F4F8F7"/>
          </a:solidFill>
          <a:ln/>
        </p:spPr>
      </p:sp>
      <p:sp>
        <p:nvSpPr>
          <p:cNvPr id="25" name="Text 23"/>
          <p:cNvSpPr/>
          <p:nvPr/>
        </p:nvSpPr>
        <p:spPr>
          <a:xfrm>
            <a:off x="7635240" y="3694176"/>
            <a:ext cx="3703320" cy="320040"/>
          </a:xfrm>
          <a:prstGeom prst="rect">
            <a:avLst/>
          </a:prstGeom>
          <a:noFill/>
          <a:ln/>
        </p:spPr>
        <p:txBody>
          <a:bodyPr wrap="square" lIns="0" tIns="0" rIns="0" bIns="0" rtlCol="0" anchor="ctr"/>
          <a:lstStyle/>
          <a:p>
            <a:pPr indent="0" marL="0">
              <a:buNone/>
            </a:pPr>
            <a:r>
              <a:rPr lang="en-US" sz="1200" dirty="0">
                <a:solidFill>
                  <a:srgbClr val="1B2B2E"/>
                </a:solidFill>
                <a:latin typeface="Courier New" pitchFamily="34" charset="0"/>
                <a:ea typeface="Courier New" pitchFamily="34" charset="-122"/>
                <a:cs typeface="Courier New" pitchFamily="34" charset="-120"/>
              </a:rPr>
              <a:t>  return total</a:t>
            </a:r>
            <a:endParaRPr lang="en-US" sz="1200" dirty="0"/>
          </a:p>
        </p:txBody>
      </p:sp>
      <p:sp>
        <p:nvSpPr>
          <p:cNvPr id="26" name="Text 24"/>
          <p:cNvSpPr/>
          <p:nvPr/>
        </p:nvSpPr>
        <p:spPr>
          <a:xfrm>
            <a:off x="7635240" y="4059936"/>
            <a:ext cx="3703320" cy="320040"/>
          </a:xfrm>
          <a:prstGeom prst="rect">
            <a:avLst/>
          </a:prstGeom>
          <a:noFill/>
          <a:ln/>
        </p:spPr>
        <p:txBody>
          <a:bodyPr wrap="square" lIns="0" tIns="0" rIns="0" bIns="0" rtlCol="0" anchor="ctr"/>
          <a:lstStyle/>
          <a:p>
            <a:pPr indent="0" marL="0">
              <a:buNone/>
            </a:pPr>
            <a:r>
              <a:rPr lang="en-US" sz="1200" b="1" dirty="0">
                <a:solidFill>
                  <a:srgbClr val="2C7A4B"/>
                </a:solidFill>
                <a:latin typeface="Courier New" pitchFamily="34" charset="0"/>
                <a:ea typeface="Courier New" pitchFamily="34" charset="-122"/>
                <a:cs typeface="Courier New" pitchFamily="34" charset="-120"/>
              </a:rPr>
              <a:t>+ log(total)</a:t>
            </a:r>
            <a:endParaRPr lang="en-US" sz="1200" dirty="0"/>
          </a:p>
        </p:txBody>
      </p:sp>
      <p:sp>
        <p:nvSpPr>
          <p:cNvPr id="27" name="Text 25"/>
          <p:cNvSpPr/>
          <p:nvPr/>
        </p:nvSpPr>
        <p:spPr>
          <a:xfrm>
            <a:off x="7635240" y="4425696"/>
            <a:ext cx="3703320" cy="320040"/>
          </a:xfrm>
          <a:prstGeom prst="rect">
            <a:avLst/>
          </a:prstGeom>
          <a:noFill/>
          <a:ln/>
        </p:spPr>
        <p:txBody>
          <a:bodyPr wrap="square" lIns="0" tIns="0" rIns="0" bIns="0" rtlCol="0" anchor="ctr"/>
          <a:lstStyle/>
          <a:p>
            <a:pPr indent="0" marL="0">
              <a:buNone/>
            </a:pPr>
            <a:r>
              <a:rPr lang="en-US" sz="1200" dirty="0">
                <a:solidFill>
                  <a:srgbClr val="1B2B2E"/>
                </a:solidFill>
                <a:latin typeface="Courier New" pitchFamily="34" charset="0"/>
                <a:ea typeface="Courier New" pitchFamily="34" charset="-122"/>
                <a:cs typeface="Courier New" pitchFamily="34" charset="-120"/>
              </a:rPr>
              <a:t>  end</a:t>
            </a:r>
            <a:endParaRPr lang="en-US" sz="1200" dirty="0"/>
          </a:p>
        </p:txBody>
      </p:sp>
      <p:sp>
        <p:nvSpPr>
          <p:cNvPr id="28" name="Text 26"/>
          <p:cNvSpPr/>
          <p:nvPr/>
        </p:nvSpPr>
        <p:spPr>
          <a:xfrm>
            <a:off x="7635240" y="3584448"/>
            <a:ext cx="1828800" cy="182880"/>
          </a:xfrm>
          <a:prstGeom prst="rect">
            <a:avLst/>
          </a:prstGeom>
          <a:noFill/>
          <a:ln/>
        </p:spPr>
        <p:txBody>
          <a:bodyPr wrap="square" lIns="0" tIns="0" rIns="0" bIns="0" rtlCol="0" anchor="ctr"/>
          <a:lstStyle/>
          <a:p>
            <a:pPr indent="0" marL="0">
              <a:buNone/>
            </a:pPr>
            <a:r>
              <a:rPr lang="en-US" sz="900" b="1" dirty="0">
                <a:solidFill>
                  <a:srgbClr val="6E7E80"/>
                </a:solidFill>
                <a:latin typeface="Calibri" pitchFamily="34" charset="0"/>
                <a:ea typeface="Calibri" pitchFamily="34" charset="-122"/>
                <a:cs typeface="Calibri" pitchFamily="34" charset="-120"/>
              </a:rPr>
              <a:t>AFTER</a:t>
            </a:r>
            <a:endParaRPr lang="en-US" sz="900" dirty="0"/>
          </a:p>
        </p:txBody>
      </p:sp>
      <p:sp>
        <p:nvSpPr>
          <p:cNvPr id="29" name="Text 27"/>
          <p:cNvSpPr/>
          <p:nvPr/>
        </p:nvSpPr>
        <p:spPr>
          <a:xfrm>
            <a:off x="7452360" y="5212080"/>
            <a:ext cx="4069080" cy="274320"/>
          </a:xfrm>
          <a:prstGeom prst="rect">
            <a:avLst/>
          </a:prstGeom>
          <a:noFill/>
          <a:ln/>
        </p:spPr>
        <p:txBody>
          <a:bodyPr wrap="square" lIns="0" tIns="0" rIns="0" bIns="0" rtlCol="0" anchor="ctr"/>
          <a:lstStyle/>
          <a:p>
            <a:pPr indent="0" marL="0">
              <a:buNone/>
            </a:pPr>
            <a:r>
              <a:rPr lang="en-US" sz="1100" i="1" dirty="0">
                <a:solidFill>
                  <a:srgbClr val="6E7E80"/>
                </a:solidFill>
                <a:latin typeface="Calibri" pitchFamily="34" charset="0"/>
                <a:ea typeface="Calibri" pitchFamily="34" charset="-122"/>
                <a:cs typeface="Calibri" pitchFamily="34" charset="-120"/>
              </a:rPr>
              <a:t>Unchanged lines = LCS</a:t>
            </a:r>
            <a:endParaRPr lang="en-US" sz="1100" dirty="0"/>
          </a:p>
        </p:txBody>
      </p:sp>
      <p:sp>
        <p:nvSpPr>
          <p:cNvPr id="30" name="Text 28"/>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6E7E80"/>
                </a:solidFill>
                <a:latin typeface="Calibri" pitchFamily="34" charset="0"/>
                <a:ea typeface="Calibri" pitchFamily="34" charset="-122"/>
                <a:cs typeface="Calibri" pitchFamily="34" charset="-120"/>
              </a:rPr>
              <a:t>Algorithms in Practice</a:t>
            </a:r>
            <a:endParaRPr lang="en-US" sz="900" dirty="0"/>
          </a:p>
        </p:txBody>
      </p:sp>
      <p:sp>
        <p:nvSpPr>
          <p:cNvPr id="31" name="Text 2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7E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685800" cy="685800"/>
          </a:xfrm>
          <a:prstGeom prst="ellipse">
            <a:avLst/>
          </a:prstGeom>
          <a:solidFill>
            <a:srgbClr val="02C39A"/>
          </a:solidFill>
          <a:ln/>
        </p:spPr>
      </p:sp>
      <p:sp>
        <p:nvSpPr>
          <p:cNvPr id="3" name="Text 1"/>
          <p:cNvSpPr/>
          <p:nvPr/>
        </p:nvSpPr>
        <p:spPr>
          <a:xfrm>
            <a:off x="640080" y="502920"/>
            <a:ext cx="685800" cy="685800"/>
          </a:xfrm>
          <a:prstGeom prst="rect">
            <a:avLst/>
          </a:prstGeom>
          <a:noFill/>
          <a:ln/>
        </p:spPr>
        <p:txBody>
          <a:bodyPr wrap="square" lIns="0" tIns="0" rIns="0" bIns="0" rtlCol="0" anchor="ctr"/>
          <a:lstStyle/>
          <a:p>
            <a:pPr algn="ctr" indent="0" marL="0">
              <a:buNone/>
            </a:pPr>
            <a:r>
              <a:rPr lang="en-US" sz="2600" b="1" spc="-50" kern="0" dirty="0">
                <a:solidFill>
                  <a:srgbClr val="FFFFFF"/>
                </a:solidFill>
                <a:latin typeface="Calibri" pitchFamily="34" charset="0"/>
                <a:ea typeface="Calibri" pitchFamily="34" charset="-122"/>
                <a:cs typeface="Calibri" pitchFamily="34" charset="-120"/>
              </a:rPr>
              <a:t>TXT</a:t>
            </a:r>
            <a:endParaRPr lang="en-US" sz="2600" dirty="0"/>
          </a:p>
        </p:txBody>
      </p:sp>
      <p:sp>
        <p:nvSpPr>
          <p:cNvPr id="4" name="Text 2"/>
          <p:cNvSpPr/>
          <p:nvPr/>
        </p:nvSpPr>
        <p:spPr>
          <a:xfrm>
            <a:off x="1508760" y="502920"/>
            <a:ext cx="4572000" cy="256032"/>
          </a:xfrm>
          <a:prstGeom prst="rect">
            <a:avLst/>
          </a:prstGeom>
          <a:noFill/>
          <a:ln/>
        </p:spPr>
        <p:txBody>
          <a:bodyPr wrap="square" lIns="0" tIns="0" rIns="0" bIns="0"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APPLICATION 3</a:t>
            </a:r>
            <a:endParaRPr lang="en-US" sz="1100" dirty="0"/>
          </a:p>
        </p:txBody>
      </p:sp>
      <p:sp>
        <p:nvSpPr>
          <p:cNvPr id="5" name="Text 3"/>
          <p:cNvSpPr/>
          <p:nvPr/>
        </p:nvSpPr>
        <p:spPr>
          <a:xfrm>
            <a:off x="1508760" y="749808"/>
            <a:ext cx="9966960" cy="502920"/>
          </a:xfrm>
          <a:prstGeom prst="rect">
            <a:avLst/>
          </a:prstGeom>
          <a:noFill/>
          <a:ln/>
        </p:spPr>
        <p:txBody>
          <a:bodyPr wrap="square" lIns="0" tIns="0" rIns="0" bIns="0" rtlCol="0" anchor="ctr"/>
          <a:lstStyle/>
          <a:p>
            <a:pPr indent="0" marL="0">
              <a:buNone/>
            </a:pPr>
            <a:r>
              <a:rPr lang="en-US" sz="2400" b="1" dirty="0">
                <a:solidFill>
                  <a:srgbClr val="0B2E33"/>
                </a:solidFill>
                <a:latin typeface="Cambria" pitchFamily="34" charset="0"/>
                <a:ea typeface="Cambria" pitchFamily="34" charset="-122"/>
                <a:cs typeface="Cambria" pitchFamily="34" charset="-120"/>
              </a:rPr>
              <a:t>Plagiarism &amp; Text-Similarity Detection</a:t>
            </a:r>
            <a:endParaRPr lang="en-US" sz="2400" dirty="0"/>
          </a:p>
        </p:txBody>
      </p:sp>
      <p:sp>
        <p:nvSpPr>
          <p:cNvPr id="6" name="Text 4"/>
          <p:cNvSpPr/>
          <p:nvPr/>
        </p:nvSpPr>
        <p:spPr>
          <a:xfrm>
            <a:off x="1508760" y="1207008"/>
            <a:ext cx="9966960" cy="320040"/>
          </a:xfrm>
          <a:prstGeom prst="rect">
            <a:avLst/>
          </a:prstGeom>
          <a:noFill/>
          <a:ln/>
        </p:spPr>
        <p:txBody>
          <a:bodyPr wrap="square" lIns="0" tIns="0" rIns="0" bIns="0" rtlCol="0" anchor="ctr"/>
          <a:lstStyle/>
          <a:p>
            <a:pPr indent="0" marL="0">
              <a:buNone/>
            </a:pPr>
            <a:r>
              <a:rPr lang="en-US" sz="1250" i="1" dirty="0">
                <a:solidFill>
                  <a:srgbClr val="6E7E80"/>
                </a:solidFill>
                <a:latin typeface="Calibri" pitchFamily="34" charset="0"/>
                <a:ea typeface="Calibri" pitchFamily="34" charset="-122"/>
                <a:cs typeface="Calibri" pitchFamily="34" charset="-120"/>
              </a:rPr>
              <a:t>Measuring how much of one document's wording reappears in another</a:t>
            </a:r>
            <a:endParaRPr lang="en-US" sz="1250" dirty="0"/>
          </a:p>
        </p:txBody>
      </p:sp>
      <p:sp>
        <p:nvSpPr>
          <p:cNvPr id="7" name="Shape 5"/>
          <p:cNvSpPr/>
          <p:nvPr/>
        </p:nvSpPr>
        <p:spPr>
          <a:xfrm>
            <a:off x="640080" y="1783080"/>
            <a:ext cx="6537960" cy="1481328"/>
          </a:xfrm>
          <a:prstGeom prst="rect">
            <a:avLst/>
          </a:prstGeom>
          <a:solidFill>
            <a:srgbClr val="F4F8F7"/>
          </a:solidFill>
          <a:ln/>
        </p:spPr>
      </p:sp>
      <p:sp>
        <p:nvSpPr>
          <p:cNvPr id="8" name="Shape 6"/>
          <p:cNvSpPr/>
          <p:nvPr/>
        </p:nvSpPr>
        <p:spPr>
          <a:xfrm>
            <a:off x="640080" y="1783080"/>
            <a:ext cx="54864" cy="1481328"/>
          </a:xfrm>
          <a:prstGeom prst="rect">
            <a:avLst/>
          </a:prstGeom>
          <a:solidFill>
            <a:srgbClr val="02C39A"/>
          </a:solidFill>
          <a:ln/>
        </p:spPr>
      </p:sp>
      <p:sp>
        <p:nvSpPr>
          <p:cNvPr id="9" name="Text 7"/>
          <p:cNvSpPr/>
          <p:nvPr/>
        </p:nvSpPr>
        <p:spPr>
          <a:xfrm>
            <a:off x="841248" y="1892808"/>
            <a:ext cx="6172200" cy="256032"/>
          </a:xfrm>
          <a:prstGeom prst="rect">
            <a:avLst/>
          </a:prstGeom>
          <a:noFill/>
          <a:ln/>
        </p:spPr>
        <p:txBody>
          <a:bodyPr wrap="square" lIns="0" tIns="0" rIns="0" bIns="0" rtlCol="0" anchor="ctr"/>
          <a:lstStyle/>
          <a:p>
            <a:pPr indent="0" marL="0">
              <a:buNone/>
            </a:pPr>
            <a:r>
              <a:rPr lang="en-US" sz="1150" b="1" spc="50" kern="0" dirty="0">
                <a:solidFill>
                  <a:srgbClr val="02C39A"/>
                </a:solidFill>
                <a:latin typeface="Calibri" pitchFamily="34" charset="0"/>
                <a:ea typeface="Calibri" pitchFamily="34" charset="-122"/>
                <a:cs typeface="Calibri" pitchFamily="34" charset="-120"/>
              </a:rPr>
              <a:t>PROBLEM DOMAIN</a:t>
            </a:r>
            <a:endParaRPr lang="en-US" sz="1150" dirty="0"/>
          </a:p>
        </p:txBody>
      </p:sp>
      <p:sp>
        <p:nvSpPr>
          <p:cNvPr id="10" name="Text 8"/>
          <p:cNvSpPr/>
          <p:nvPr/>
        </p:nvSpPr>
        <p:spPr>
          <a:xfrm>
            <a:off x="841248" y="216712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Academic institutions, publishers, and content platforms need to detect copied or lightly reworded passages between submitted documents and reference sources.</a:t>
            </a:r>
            <a:endParaRPr lang="en-US" sz="1250" dirty="0"/>
          </a:p>
        </p:txBody>
      </p:sp>
      <p:sp>
        <p:nvSpPr>
          <p:cNvPr id="11" name="Shape 9"/>
          <p:cNvSpPr/>
          <p:nvPr/>
        </p:nvSpPr>
        <p:spPr>
          <a:xfrm>
            <a:off x="640080" y="3520440"/>
            <a:ext cx="6537960" cy="1481328"/>
          </a:xfrm>
          <a:prstGeom prst="rect">
            <a:avLst/>
          </a:prstGeom>
          <a:solidFill>
            <a:srgbClr val="F4F8F7"/>
          </a:solidFill>
          <a:ln/>
        </p:spPr>
      </p:sp>
      <p:sp>
        <p:nvSpPr>
          <p:cNvPr id="12" name="Shape 10"/>
          <p:cNvSpPr/>
          <p:nvPr/>
        </p:nvSpPr>
        <p:spPr>
          <a:xfrm>
            <a:off x="640080" y="3520440"/>
            <a:ext cx="54864" cy="1481328"/>
          </a:xfrm>
          <a:prstGeom prst="rect">
            <a:avLst/>
          </a:prstGeom>
          <a:solidFill>
            <a:srgbClr val="02C39A"/>
          </a:solidFill>
          <a:ln/>
        </p:spPr>
      </p:sp>
      <p:sp>
        <p:nvSpPr>
          <p:cNvPr id="13" name="Text 11"/>
          <p:cNvSpPr/>
          <p:nvPr/>
        </p:nvSpPr>
        <p:spPr>
          <a:xfrm>
            <a:off x="841248" y="3630168"/>
            <a:ext cx="6172200" cy="256032"/>
          </a:xfrm>
          <a:prstGeom prst="rect">
            <a:avLst/>
          </a:prstGeom>
          <a:noFill/>
          <a:ln/>
        </p:spPr>
        <p:txBody>
          <a:bodyPr wrap="square" lIns="0" tIns="0" rIns="0" bIns="0" rtlCol="0" anchor="ctr"/>
          <a:lstStyle/>
          <a:p>
            <a:pPr indent="0" marL="0">
              <a:buNone/>
            </a:pPr>
            <a:r>
              <a:rPr lang="en-US" sz="1150" b="1" spc="50" kern="0" dirty="0">
                <a:solidFill>
                  <a:srgbClr val="02C39A"/>
                </a:solidFill>
                <a:latin typeface="Calibri" pitchFamily="34" charset="0"/>
                <a:ea typeface="Calibri" pitchFamily="34" charset="-122"/>
                <a:cs typeface="Calibri" pitchFamily="34" charset="-120"/>
              </a:rPr>
              <a:t>CONNECTION TO LCS</a:t>
            </a:r>
            <a:endParaRPr lang="en-US" sz="1150" dirty="0"/>
          </a:p>
        </p:txBody>
      </p:sp>
      <p:sp>
        <p:nvSpPr>
          <p:cNvPr id="14" name="Text 12"/>
          <p:cNvSpPr/>
          <p:nvPr/>
        </p:nvSpPr>
        <p:spPr>
          <a:xfrm>
            <a:off x="841248" y="390448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Documents are tokenized into sequences of words (or sentences). The LCS of two token sequences captures the longest stretch of shared wording that keeps its original order, even if extra words are inserted.</a:t>
            </a:r>
            <a:endParaRPr lang="en-US" sz="1250" dirty="0"/>
          </a:p>
        </p:txBody>
      </p:sp>
      <p:sp>
        <p:nvSpPr>
          <p:cNvPr id="15" name="Shape 13"/>
          <p:cNvSpPr/>
          <p:nvPr/>
        </p:nvSpPr>
        <p:spPr>
          <a:xfrm>
            <a:off x="640080" y="5257800"/>
            <a:ext cx="6537960" cy="1481328"/>
          </a:xfrm>
          <a:prstGeom prst="rect">
            <a:avLst/>
          </a:prstGeom>
          <a:solidFill>
            <a:srgbClr val="F4F8F7"/>
          </a:solidFill>
          <a:ln/>
        </p:spPr>
      </p:sp>
      <p:sp>
        <p:nvSpPr>
          <p:cNvPr id="16" name="Shape 14"/>
          <p:cNvSpPr/>
          <p:nvPr/>
        </p:nvSpPr>
        <p:spPr>
          <a:xfrm>
            <a:off x="640080" y="5257800"/>
            <a:ext cx="54864" cy="1481328"/>
          </a:xfrm>
          <a:prstGeom prst="rect">
            <a:avLst/>
          </a:prstGeom>
          <a:solidFill>
            <a:srgbClr val="02C39A"/>
          </a:solidFill>
          <a:ln/>
        </p:spPr>
      </p:sp>
      <p:sp>
        <p:nvSpPr>
          <p:cNvPr id="17" name="Text 15"/>
          <p:cNvSpPr/>
          <p:nvPr/>
        </p:nvSpPr>
        <p:spPr>
          <a:xfrm>
            <a:off x="841248" y="5367528"/>
            <a:ext cx="6172200" cy="256032"/>
          </a:xfrm>
          <a:prstGeom prst="rect">
            <a:avLst/>
          </a:prstGeom>
          <a:noFill/>
          <a:ln/>
        </p:spPr>
        <p:txBody>
          <a:bodyPr wrap="square" lIns="0" tIns="0" rIns="0" bIns="0" rtlCol="0" anchor="ctr"/>
          <a:lstStyle/>
          <a:p>
            <a:pPr indent="0" marL="0">
              <a:buNone/>
            </a:pPr>
            <a:r>
              <a:rPr lang="en-US" sz="1150" b="1" spc="50" kern="0" dirty="0">
                <a:solidFill>
                  <a:srgbClr val="02C39A"/>
                </a:solidFill>
                <a:latin typeface="Calibri" pitchFamily="34" charset="0"/>
                <a:ea typeface="Calibri" pitchFamily="34" charset="-122"/>
                <a:cs typeface="Calibri" pitchFamily="34" charset="-120"/>
              </a:rPr>
              <a:t>HOW IT'S SOLVED</a:t>
            </a:r>
            <a:endParaRPr lang="en-US" sz="1150" dirty="0"/>
          </a:p>
        </p:txBody>
      </p:sp>
      <p:sp>
        <p:nvSpPr>
          <p:cNvPr id="18" name="Text 16"/>
          <p:cNvSpPr/>
          <p:nvPr/>
        </p:nvSpPr>
        <p:spPr>
          <a:xfrm>
            <a:off x="841248" y="564184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A similarity score such as LCS length divided by document length flags suspicious overlap. In practice this runs alongside other measures, like n-gram overlap or cosine similarity, to reduce false positives from common phrasing.</a:t>
            </a:r>
            <a:endParaRPr lang="en-US" sz="1250" dirty="0"/>
          </a:p>
        </p:txBody>
      </p:sp>
      <p:sp>
        <p:nvSpPr>
          <p:cNvPr id="19" name="Shape 17"/>
          <p:cNvSpPr/>
          <p:nvPr/>
        </p:nvSpPr>
        <p:spPr>
          <a:xfrm>
            <a:off x="7543800" y="2103120"/>
            <a:ext cx="2766974" cy="3072750"/>
          </a:xfrm>
          <a:prstGeom prst="roundRect">
            <a:avLst>
              <a:gd name="adj" fmla="val 2644"/>
            </a:avLst>
          </a:prstGeom>
          <a:solidFill>
            <a:srgbClr val="FFFFFF"/>
          </a:solidFill>
          <a:ln w="19050">
            <a:solidFill>
              <a:srgbClr val="028090"/>
            </a:solidFill>
            <a:prstDash val="solid"/>
          </a:ln>
          <a:effectLst>
            <a:outerShdw sx="100000" sy="100000" kx="0" ky="0" algn="bl" rotWithShape="0" blurRad="76200" dist="25400" dir="5400000">
              <a:srgbClr val="000000">
                <a:alpha val="10000"/>
              </a:srgbClr>
            </a:outerShdw>
          </a:effectLst>
        </p:spPr>
      </p:sp>
      <p:sp>
        <p:nvSpPr>
          <p:cNvPr id="20" name="Shape 18"/>
          <p:cNvSpPr/>
          <p:nvPr/>
        </p:nvSpPr>
        <p:spPr>
          <a:xfrm>
            <a:off x="8275320" y="2423160"/>
            <a:ext cx="2766974" cy="3072750"/>
          </a:xfrm>
          <a:prstGeom prst="roundRect">
            <a:avLst>
              <a:gd name="adj" fmla="val 2644"/>
            </a:avLst>
          </a:prstGeom>
          <a:solidFill>
            <a:srgbClr val="FFFFFF"/>
          </a:solidFill>
          <a:ln w="19050">
            <a:solidFill>
              <a:srgbClr val="02C39A"/>
            </a:solidFill>
            <a:prstDash val="solid"/>
          </a:ln>
          <a:effectLst>
            <a:outerShdw sx="100000" sy="100000" kx="0" ky="0" algn="bl" rotWithShape="0" blurRad="76200" dist="25400" dir="5400000">
              <a:srgbClr val="000000">
                <a:alpha val="10000"/>
              </a:srgbClr>
            </a:outerShdw>
          </a:effectLst>
        </p:spPr>
      </p:sp>
      <p:sp>
        <p:nvSpPr>
          <p:cNvPr id="21" name="Shape 19"/>
          <p:cNvSpPr/>
          <p:nvPr/>
        </p:nvSpPr>
        <p:spPr>
          <a:xfrm>
            <a:off x="7772400" y="2377440"/>
            <a:ext cx="2309774" cy="0"/>
          </a:xfrm>
          <a:prstGeom prst="line">
            <a:avLst/>
          </a:prstGeom>
          <a:noFill/>
          <a:ln w="12700">
            <a:solidFill>
              <a:srgbClr val="D8E2E0"/>
            </a:solidFill>
            <a:prstDash val="solid"/>
          </a:ln>
        </p:spPr>
      </p:sp>
      <p:sp>
        <p:nvSpPr>
          <p:cNvPr id="22" name="Shape 20"/>
          <p:cNvSpPr/>
          <p:nvPr/>
        </p:nvSpPr>
        <p:spPr>
          <a:xfrm>
            <a:off x="7772400" y="2670048"/>
            <a:ext cx="2309774" cy="0"/>
          </a:xfrm>
          <a:prstGeom prst="line">
            <a:avLst/>
          </a:prstGeom>
          <a:noFill/>
          <a:ln w="12700">
            <a:solidFill>
              <a:srgbClr val="D8E2E0"/>
            </a:solidFill>
            <a:prstDash val="solid"/>
          </a:ln>
        </p:spPr>
      </p:sp>
      <p:sp>
        <p:nvSpPr>
          <p:cNvPr id="23" name="Shape 21"/>
          <p:cNvSpPr/>
          <p:nvPr/>
        </p:nvSpPr>
        <p:spPr>
          <a:xfrm>
            <a:off x="7772400" y="2962656"/>
            <a:ext cx="2309774" cy="0"/>
          </a:xfrm>
          <a:prstGeom prst="line">
            <a:avLst/>
          </a:prstGeom>
          <a:noFill/>
          <a:ln w="12700">
            <a:solidFill>
              <a:srgbClr val="D8E2E0"/>
            </a:solidFill>
            <a:prstDash val="solid"/>
          </a:ln>
        </p:spPr>
      </p:sp>
      <p:sp>
        <p:nvSpPr>
          <p:cNvPr id="24" name="Shape 22"/>
          <p:cNvSpPr/>
          <p:nvPr/>
        </p:nvSpPr>
        <p:spPr>
          <a:xfrm>
            <a:off x="7772400" y="3255264"/>
            <a:ext cx="2309774" cy="0"/>
          </a:xfrm>
          <a:prstGeom prst="line">
            <a:avLst/>
          </a:prstGeom>
          <a:noFill/>
          <a:ln w="12700">
            <a:solidFill>
              <a:srgbClr val="D8E2E0"/>
            </a:solidFill>
            <a:prstDash val="solid"/>
          </a:ln>
        </p:spPr>
      </p:sp>
      <p:sp>
        <p:nvSpPr>
          <p:cNvPr id="25" name="Shape 23"/>
          <p:cNvSpPr/>
          <p:nvPr/>
        </p:nvSpPr>
        <p:spPr>
          <a:xfrm>
            <a:off x="7772400" y="3547872"/>
            <a:ext cx="2309774" cy="0"/>
          </a:xfrm>
          <a:prstGeom prst="line">
            <a:avLst/>
          </a:prstGeom>
          <a:noFill/>
          <a:ln w="12700">
            <a:solidFill>
              <a:srgbClr val="D8E2E0"/>
            </a:solidFill>
            <a:prstDash val="solid"/>
          </a:ln>
        </p:spPr>
      </p:sp>
      <p:sp>
        <p:nvSpPr>
          <p:cNvPr id="26" name="Shape 24"/>
          <p:cNvSpPr/>
          <p:nvPr/>
        </p:nvSpPr>
        <p:spPr>
          <a:xfrm>
            <a:off x="7772400" y="3840480"/>
            <a:ext cx="2309774" cy="0"/>
          </a:xfrm>
          <a:prstGeom prst="line">
            <a:avLst/>
          </a:prstGeom>
          <a:noFill/>
          <a:ln w="12700">
            <a:solidFill>
              <a:srgbClr val="D8E2E0"/>
            </a:solidFill>
            <a:prstDash val="solid"/>
          </a:ln>
        </p:spPr>
      </p:sp>
      <p:sp>
        <p:nvSpPr>
          <p:cNvPr id="27" name="Shape 25"/>
          <p:cNvSpPr/>
          <p:nvPr/>
        </p:nvSpPr>
        <p:spPr>
          <a:xfrm>
            <a:off x="8503920" y="2697480"/>
            <a:ext cx="2309774" cy="0"/>
          </a:xfrm>
          <a:prstGeom prst="line">
            <a:avLst/>
          </a:prstGeom>
          <a:noFill/>
          <a:ln w="12700">
            <a:solidFill>
              <a:srgbClr val="D8E2E0"/>
            </a:solidFill>
            <a:prstDash val="solid"/>
          </a:ln>
        </p:spPr>
      </p:sp>
      <p:sp>
        <p:nvSpPr>
          <p:cNvPr id="28" name="Shape 26"/>
          <p:cNvSpPr/>
          <p:nvPr/>
        </p:nvSpPr>
        <p:spPr>
          <a:xfrm>
            <a:off x="8503920" y="2990088"/>
            <a:ext cx="2309774" cy="0"/>
          </a:xfrm>
          <a:prstGeom prst="line">
            <a:avLst/>
          </a:prstGeom>
          <a:noFill/>
          <a:ln w="12700">
            <a:solidFill>
              <a:srgbClr val="D8E2E0"/>
            </a:solidFill>
            <a:prstDash val="solid"/>
          </a:ln>
        </p:spPr>
      </p:sp>
      <p:sp>
        <p:nvSpPr>
          <p:cNvPr id="29" name="Shape 27"/>
          <p:cNvSpPr/>
          <p:nvPr/>
        </p:nvSpPr>
        <p:spPr>
          <a:xfrm>
            <a:off x="8503920" y="3282696"/>
            <a:ext cx="2309774" cy="0"/>
          </a:xfrm>
          <a:prstGeom prst="line">
            <a:avLst/>
          </a:prstGeom>
          <a:noFill/>
          <a:ln w="12700">
            <a:solidFill>
              <a:srgbClr val="D8E2E0"/>
            </a:solidFill>
            <a:prstDash val="solid"/>
          </a:ln>
        </p:spPr>
      </p:sp>
      <p:sp>
        <p:nvSpPr>
          <p:cNvPr id="30" name="Shape 28"/>
          <p:cNvSpPr/>
          <p:nvPr/>
        </p:nvSpPr>
        <p:spPr>
          <a:xfrm>
            <a:off x="8503920" y="3575304"/>
            <a:ext cx="2309774" cy="0"/>
          </a:xfrm>
          <a:prstGeom prst="line">
            <a:avLst/>
          </a:prstGeom>
          <a:noFill/>
          <a:ln w="12700">
            <a:solidFill>
              <a:srgbClr val="D8E2E0"/>
            </a:solidFill>
            <a:prstDash val="solid"/>
          </a:ln>
        </p:spPr>
      </p:sp>
      <p:sp>
        <p:nvSpPr>
          <p:cNvPr id="31" name="Shape 29"/>
          <p:cNvSpPr/>
          <p:nvPr/>
        </p:nvSpPr>
        <p:spPr>
          <a:xfrm>
            <a:off x="8503920" y="3867912"/>
            <a:ext cx="2309774" cy="0"/>
          </a:xfrm>
          <a:prstGeom prst="line">
            <a:avLst/>
          </a:prstGeom>
          <a:noFill/>
          <a:ln w="12700">
            <a:solidFill>
              <a:srgbClr val="D8E2E0"/>
            </a:solidFill>
            <a:prstDash val="solid"/>
          </a:ln>
        </p:spPr>
      </p:sp>
      <p:sp>
        <p:nvSpPr>
          <p:cNvPr id="32" name="Shape 30"/>
          <p:cNvSpPr/>
          <p:nvPr/>
        </p:nvSpPr>
        <p:spPr>
          <a:xfrm>
            <a:off x="8503920" y="4160520"/>
            <a:ext cx="2309774" cy="0"/>
          </a:xfrm>
          <a:prstGeom prst="line">
            <a:avLst/>
          </a:prstGeom>
          <a:noFill/>
          <a:ln w="12700">
            <a:solidFill>
              <a:srgbClr val="D8E2E0"/>
            </a:solidFill>
            <a:prstDash val="solid"/>
          </a:ln>
        </p:spPr>
      </p:sp>
      <p:sp>
        <p:nvSpPr>
          <p:cNvPr id="33" name="Shape 31"/>
          <p:cNvSpPr/>
          <p:nvPr/>
        </p:nvSpPr>
        <p:spPr>
          <a:xfrm>
            <a:off x="8275320" y="3246120"/>
            <a:ext cx="2035454" cy="548640"/>
          </a:xfrm>
          <a:prstGeom prst="rect">
            <a:avLst/>
          </a:prstGeom>
          <a:solidFill>
            <a:srgbClr val="02C39A">
              <a:alpha val="45000"/>
            </a:srgbClr>
          </a:solidFill>
          <a:ln/>
        </p:spPr>
      </p:sp>
      <p:sp>
        <p:nvSpPr>
          <p:cNvPr id="34" name="Text 32"/>
          <p:cNvSpPr/>
          <p:nvPr/>
        </p:nvSpPr>
        <p:spPr>
          <a:xfrm>
            <a:off x="7543800" y="1847088"/>
            <a:ext cx="1828800" cy="228600"/>
          </a:xfrm>
          <a:prstGeom prst="rect">
            <a:avLst/>
          </a:prstGeom>
          <a:noFill/>
          <a:ln/>
        </p:spPr>
        <p:txBody>
          <a:bodyPr wrap="square" lIns="0" tIns="0" rIns="0" bIns="0"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Doc A</a:t>
            </a:r>
            <a:endParaRPr lang="en-US" sz="1000" dirty="0"/>
          </a:p>
        </p:txBody>
      </p:sp>
      <p:sp>
        <p:nvSpPr>
          <p:cNvPr id="35" name="Text 33"/>
          <p:cNvSpPr/>
          <p:nvPr/>
        </p:nvSpPr>
        <p:spPr>
          <a:xfrm>
            <a:off x="8275320" y="2167128"/>
            <a:ext cx="1828800" cy="228600"/>
          </a:xfrm>
          <a:prstGeom prst="rect">
            <a:avLst/>
          </a:prstGeom>
          <a:noFill/>
          <a:ln/>
        </p:spPr>
        <p:txBody>
          <a:bodyPr wrap="square" lIns="0" tIns="0" rIns="0" bIns="0"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Doc B</a:t>
            </a:r>
            <a:endParaRPr lang="en-US" sz="1000" dirty="0"/>
          </a:p>
        </p:txBody>
      </p:sp>
      <p:sp>
        <p:nvSpPr>
          <p:cNvPr id="36" name="Text 34"/>
          <p:cNvSpPr/>
          <p:nvPr/>
        </p:nvSpPr>
        <p:spPr>
          <a:xfrm>
            <a:off x="7452360" y="5678790"/>
            <a:ext cx="4069080" cy="274320"/>
          </a:xfrm>
          <a:prstGeom prst="rect">
            <a:avLst/>
          </a:prstGeom>
          <a:noFill/>
          <a:ln/>
        </p:spPr>
        <p:txBody>
          <a:bodyPr wrap="square" lIns="0" tIns="0" rIns="0" bIns="0" rtlCol="0" anchor="ctr"/>
          <a:lstStyle/>
          <a:p>
            <a:pPr indent="0" marL="0">
              <a:buNone/>
            </a:pPr>
            <a:r>
              <a:rPr lang="en-US" sz="1100" i="1" dirty="0">
                <a:solidFill>
                  <a:srgbClr val="6E7E80"/>
                </a:solidFill>
                <a:latin typeface="Calibri" pitchFamily="34" charset="0"/>
                <a:ea typeface="Calibri" pitchFamily="34" charset="-122"/>
                <a:cs typeface="Calibri" pitchFamily="34" charset="-120"/>
              </a:rPr>
              <a:t>Shared wording (LCS)</a:t>
            </a:r>
            <a:endParaRPr lang="en-US" sz="1100" dirty="0"/>
          </a:p>
        </p:txBody>
      </p:sp>
      <p:sp>
        <p:nvSpPr>
          <p:cNvPr id="37" name="Text 35"/>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6E7E80"/>
                </a:solidFill>
                <a:latin typeface="Calibri" pitchFamily="34" charset="0"/>
                <a:ea typeface="Calibri" pitchFamily="34" charset="-122"/>
                <a:cs typeface="Calibri" pitchFamily="34" charset="-120"/>
              </a:rPr>
              <a:t>Algorithms in Practice</a:t>
            </a:r>
            <a:endParaRPr lang="en-US" sz="900" dirty="0"/>
          </a:p>
        </p:txBody>
      </p:sp>
      <p:sp>
        <p:nvSpPr>
          <p:cNvPr id="38" name="Text 3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7E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685800" cy="685800"/>
          </a:xfrm>
          <a:prstGeom prst="ellipse">
            <a:avLst/>
          </a:prstGeom>
          <a:solidFill>
            <a:srgbClr val="028090"/>
          </a:solidFill>
          <a:ln/>
        </p:spPr>
      </p:sp>
      <p:sp>
        <p:nvSpPr>
          <p:cNvPr id="3" name="Text 1"/>
          <p:cNvSpPr/>
          <p:nvPr/>
        </p:nvSpPr>
        <p:spPr>
          <a:xfrm>
            <a:off x="640080" y="502920"/>
            <a:ext cx="685800" cy="685800"/>
          </a:xfrm>
          <a:prstGeom prst="rect">
            <a:avLst/>
          </a:prstGeom>
          <a:noFill/>
          <a:ln/>
        </p:spPr>
        <p:txBody>
          <a:bodyPr wrap="square" lIns="0" tIns="0" rIns="0" bIns="0" rtlCol="0" anchor="ctr"/>
          <a:lstStyle/>
          <a:p>
            <a:pPr algn="ctr" indent="0" marL="0">
              <a:buNone/>
            </a:pPr>
            <a:r>
              <a:rPr lang="en-US" sz="2600" b="1" spc="-50" kern="0" dirty="0">
                <a:solidFill>
                  <a:srgbClr val="FFFFFF"/>
                </a:solidFill>
                <a:latin typeface="Calibri" pitchFamily="34" charset="0"/>
                <a:ea typeface="Calibri" pitchFamily="34" charset="-122"/>
                <a:cs typeface="Calibri" pitchFamily="34" charset="-120"/>
              </a:rPr>
              <a:t>ABC</a:t>
            </a:r>
            <a:endParaRPr lang="en-US" sz="2600" dirty="0"/>
          </a:p>
        </p:txBody>
      </p:sp>
      <p:sp>
        <p:nvSpPr>
          <p:cNvPr id="4" name="Text 2"/>
          <p:cNvSpPr/>
          <p:nvPr/>
        </p:nvSpPr>
        <p:spPr>
          <a:xfrm>
            <a:off x="1508760" y="502920"/>
            <a:ext cx="4572000" cy="256032"/>
          </a:xfrm>
          <a:prstGeom prst="rect">
            <a:avLst/>
          </a:prstGeom>
          <a:noFill/>
          <a:ln/>
        </p:spPr>
        <p:txBody>
          <a:bodyPr wrap="square" lIns="0" tIns="0" rIns="0" bIns="0"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APPLICATION 4</a:t>
            </a:r>
            <a:endParaRPr lang="en-US" sz="1100" dirty="0"/>
          </a:p>
        </p:txBody>
      </p:sp>
      <p:sp>
        <p:nvSpPr>
          <p:cNvPr id="5" name="Text 3"/>
          <p:cNvSpPr/>
          <p:nvPr/>
        </p:nvSpPr>
        <p:spPr>
          <a:xfrm>
            <a:off x="1508760" y="749808"/>
            <a:ext cx="9966960" cy="502920"/>
          </a:xfrm>
          <a:prstGeom prst="rect">
            <a:avLst/>
          </a:prstGeom>
          <a:noFill/>
          <a:ln/>
        </p:spPr>
        <p:txBody>
          <a:bodyPr wrap="square" lIns="0" tIns="0" rIns="0" bIns="0" rtlCol="0" anchor="ctr"/>
          <a:lstStyle/>
          <a:p>
            <a:pPr indent="0" marL="0">
              <a:buNone/>
            </a:pPr>
            <a:r>
              <a:rPr lang="en-US" sz="2400" b="1" dirty="0">
                <a:solidFill>
                  <a:srgbClr val="0B2E33"/>
                </a:solidFill>
                <a:latin typeface="Cambria" pitchFamily="34" charset="0"/>
                <a:ea typeface="Cambria" pitchFamily="34" charset="-122"/>
                <a:cs typeface="Cambria" pitchFamily="34" charset="-120"/>
              </a:rPr>
              <a:t>Spell Checking &amp; Fuzzy Matching</a:t>
            </a:r>
            <a:endParaRPr lang="en-US" sz="2400" dirty="0"/>
          </a:p>
        </p:txBody>
      </p:sp>
      <p:sp>
        <p:nvSpPr>
          <p:cNvPr id="6" name="Text 4"/>
          <p:cNvSpPr/>
          <p:nvPr/>
        </p:nvSpPr>
        <p:spPr>
          <a:xfrm>
            <a:off x="1508760" y="1207008"/>
            <a:ext cx="9966960" cy="320040"/>
          </a:xfrm>
          <a:prstGeom prst="rect">
            <a:avLst/>
          </a:prstGeom>
          <a:noFill/>
          <a:ln/>
        </p:spPr>
        <p:txBody>
          <a:bodyPr wrap="square" lIns="0" tIns="0" rIns="0" bIns="0" rtlCol="0" anchor="ctr"/>
          <a:lstStyle/>
          <a:p>
            <a:pPr indent="0" marL="0">
              <a:buNone/>
            </a:pPr>
            <a:r>
              <a:rPr lang="en-US" sz="1250" i="1" dirty="0">
                <a:solidFill>
                  <a:srgbClr val="6E7E80"/>
                </a:solidFill>
                <a:latin typeface="Calibri" pitchFamily="34" charset="0"/>
                <a:ea typeface="Calibri" pitchFamily="34" charset="-122"/>
                <a:cs typeface="Calibri" pitchFamily="34" charset="-120"/>
              </a:rPr>
              <a:t>Suggesting the closest valid word to a typo or partial query</a:t>
            </a:r>
            <a:endParaRPr lang="en-US" sz="1250" dirty="0"/>
          </a:p>
        </p:txBody>
      </p:sp>
      <p:sp>
        <p:nvSpPr>
          <p:cNvPr id="7" name="Shape 5"/>
          <p:cNvSpPr/>
          <p:nvPr/>
        </p:nvSpPr>
        <p:spPr>
          <a:xfrm>
            <a:off x="640080" y="1783080"/>
            <a:ext cx="6537960" cy="1481328"/>
          </a:xfrm>
          <a:prstGeom prst="rect">
            <a:avLst/>
          </a:prstGeom>
          <a:solidFill>
            <a:srgbClr val="F4F8F7"/>
          </a:solidFill>
          <a:ln/>
        </p:spPr>
      </p:sp>
      <p:sp>
        <p:nvSpPr>
          <p:cNvPr id="8" name="Shape 6"/>
          <p:cNvSpPr/>
          <p:nvPr/>
        </p:nvSpPr>
        <p:spPr>
          <a:xfrm>
            <a:off x="640080" y="1783080"/>
            <a:ext cx="54864" cy="1481328"/>
          </a:xfrm>
          <a:prstGeom prst="rect">
            <a:avLst/>
          </a:prstGeom>
          <a:solidFill>
            <a:srgbClr val="028090"/>
          </a:solidFill>
          <a:ln/>
        </p:spPr>
      </p:sp>
      <p:sp>
        <p:nvSpPr>
          <p:cNvPr id="9" name="Text 7"/>
          <p:cNvSpPr/>
          <p:nvPr/>
        </p:nvSpPr>
        <p:spPr>
          <a:xfrm>
            <a:off x="841248" y="1892808"/>
            <a:ext cx="6172200" cy="256032"/>
          </a:xfrm>
          <a:prstGeom prst="rect">
            <a:avLst/>
          </a:prstGeom>
          <a:noFill/>
          <a:ln/>
        </p:spPr>
        <p:txBody>
          <a:bodyPr wrap="square" lIns="0" tIns="0" rIns="0" bIns="0" rtlCol="0" anchor="ctr"/>
          <a:lstStyle/>
          <a:p>
            <a:pPr indent="0" marL="0">
              <a:buNone/>
            </a:pPr>
            <a:r>
              <a:rPr lang="en-US" sz="1150" b="1" spc="50" kern="0" dirty="0">
                <a:solidFill>
                  <a:srgbClr val="028090"/>
                </a:solidFill>
                <a:latin typeface="Calibri" pitchFamily="34" charset="0"/>
                <a:ea typeface="Calibri" pitchFamily="34" charset="-122"/>
                <a:cs typeface="Calibri" pitchFamily="34" charset="-120"/>
              </a:rPr>
              <a:t>PROBLEM DOMAIN</a:t>
            </a:r>
            <a:endParaRPr lang="en-US" sz="1150" dirty="0"/>
          </a:p>
        </p:txBody>
      </p:sp>
      <p:sp>
        <p:nvSpPr>
          <p:cNvPr id="10" name="Text 8"/>
          <p:cNvSpPr/>
          <p:nvPr/>
        </p:nvSpPr>
        <p:spPr>
          <a:xfrm>
            <a:off x="841248" y="216712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Spell checkers, search-as-you-type boxes, and autocomplete systems need to rank dictionary words or records by how closely they match imperfect user input.</a:t>
            </a:r>
            <a:endParaRPr lang="en-US" sz="1250" dirty="0"/>
          </a:p>
        </p:txBody>
      </p:sp>
      <p:sp>
        <p:nvSpPr>
          <p:cNvPr id="11" name="Shape 9"/>
          <p:cNvSpPr/>
          <p:nvPr/>
        </p:nvSpPr>
        <p:spPr>
          <a:xfrm>
            <a:off x="640080" y="3520440"/>
            <a:ext cx="6537960" cy="1481328"/>
          </a:xfrm>
          <a:prstGeom prst="rect">
            <a:avLst/>
          </a:prstGeom>
          <a:solidFill>
            <a:srgbClr val="F4F8F7"/>
          </a:solidFill>
          <a:ln/>
        </p:spPr>
      </p:sp>
      <p:sp>
        <p:nvSpPr>
          <p:cNvPr id="12" name="Shape 10"/>
          <p:cNvSpPr/>
          <p:nvPr/>
        </p:nvSpPr>
        <p:spPr>
          <a:xfrm>
            <a:off x="640080" y="3520440"/>
            <a:ext cx="54864" cy="1481328"/>
          </a:xfrm>
          <a:prstGeom prst="rect">
            <a:avLst/>
          </a:prstGeom>
          <a:solidFill>
            <a:srgbClr val="028090"/>
          </a:solidFill>
          <a:ln/>
        </p:spPr>
      </p:sp>
      <p:sp>
        <p:nvSpPr>
          <p:cNvPr id="13" name="Text 11"/>
          <p:cNvSpPr/>
          <p:nvPr/>
        </p:nvSpPr>
        <p:spPr>
          <a:xfrm>
            <a:off x="841248" y="3630168"/>
            <a:ext cx="6172200" cy="256032"/>
          </a:xfrm>
          <a:prstGeom prst="rect">
            <a:avLst/>
          </a:prstGeom>
          <a:noFill/>
          <a:ln/>
        </p:spPr>
        <p:txBody>
          <a:bodyPr wrap="square" lIns="0" tIns="0" rIns="0" bIns="0" rtlCol="0" anchor="ctr"/>
          <a:lstStyle/>
          <a:p>
            <a:pPr indent="0" marL="0">
              <a:buNone/>
            </a:pPr>
            <a:r>
              <a:rPr lang="en-US" sz="1150" b="1" spc="50" kern="0" dirty="0">
                <a:solidFill>
                  <a:srgbClr val="028090"/>
                </a:solidFill>
                <a:latin typeface="Calibri" pitchFamily="34" charset="0"/>
                <a:ea typeface="Calibri" pitchFamily="34" charset="-122"/>
                <a:cs typeface="Calibri" pitchFamily="34" charset="-120"/>
              </a:rPr>
              <a:t>CONNECTION TO LCS</a:t>
            </a:r>
            <a:endParaRPr lang="en-US" sz="1150" dirty="0"/>
          </a:p>
        </p:txBody>
      </p:sp>
      <p:sp>
        <p:nvSpPr>
          <p:cNvPr id="14" name="Text 12"/>
          <p:cNvSpPr/>
          <p:nvPr/>
        </p:nvSpPr>
        <p:spPr>
          <a:xfrm>
            <a:off x="841248" y="390448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Comparing the typed string against each candidate word, a longer LCS means more of the intended letters appear in the right order, even with insertions, deletions, or a few reordered keystrokes.</a:t>
            </a:r>
            <a:endParaRPr lang="en-US" sz="1250" dirty="0"/>
          </a:p>
        </p:txBody>
      </p:sp>
      <p:sp>
        <p:nvSpPr>
          <p:cNvPr id="15" name="Shape 13"/>
          <p:cNvSpPr/>
          <p:nvPr/>
        </p:nvSpPr>
        <p:spPr>
          <a:xfrm>
            <a:off x="640080" y="5257800"/>
            <a:ext cx="6537960" cy="1481328"/>
          </a:xfrm>
          <a:prstGeom prst="rect">
            <a:avLst/>
          </a:prstGeom>
          <a:solidFill>
            <a:srgbClr val="F4F8F7"/>
          </a:solidFill>
          <a:ln/>
        </p:spPr>
      </p:sp>
      <p:sp>
        <p:nvSpPr>
          <p:cNvPr id="16" name="Shape 14"/>
          <p:cNvSpPr/>
          <p:nvPr/>
        </p:nvSpPr>
        <p:spPr>
          <a:xfrm>
            <a:off x="640080" y="5257800"/>
            <a:ext cx="54864" cy="1481328"/>
          </a:xfrm>
          <a:prstGeom prst="rect">
            <a:avLst/>
          </a:prstGeom>
          <a:solidFill>
            <a:srgbClr val="028090"/>
          </a:solidFill>
          <a:ln/>
        </p:spPr>
      </p:sp>
      <p:sp>
        <p:nvSpPr>
          <p:cNvPr id="17" name="Text 15"/>
          <p:cNvSpPr/>
          <p:nvPr/>
        </p:nvSpPr>
        <p:spPr>
          <a:xfrm>
            <a:off x="841248" y="5367528"/>
            <a:ext cx="6172200" cy="256032"/>
          </a:xfrm>
          <a:prstGeom prst="rect">
            <a:avLst/>
          </a:prstGeom>
          <a:noFill/>
          <a:ln/>
        </p:spPr>
        <p:txBody>
          <a:bodyPr wrap="square" lIns="0" tIns="0" rIns="0" bIns="0" rtlCol="0" anchor="ctr"/>
          <a:lstStyle/>
          <a:p>
            <a:pPr indent="0" marL="0">
              <a:buNone/>
            </a:pPr>
            <a:r>
              <a:rPr lang="en-US" sz="1150" b="1" spc="50" kern="0" dirty="0">
                <a:solidFill>
                  <a:srgbClr val="028090"/>
                </a:solidFill>
                <a:latin typeface="Calibri" pitchFamily="34" charset="0"/>
                <a:ea typeface="Calibri" pitchFamily="34" charset="-122"/>
                <a:cs typeface="Calibri" pitchFamily="34" charset="-120"/>
              </a:rPr>
              <a:t>HOW IT'S SOLVED</a:t>
            </a:r>
            <a:endParaRPr lang="en-US" sz="1150" dirty="0"/>
          </a:p>
        </p:txBody>
      </p:sp>
      <p:sp>
        <p:nvSpPr>
          <p:cNvPr id="18" name="Text 16"/>
          <p:cNvSpPr/>
          <p:nvPr/>
        </p:nvSpPr>
        <p:spPr>
          <a:xfrm>
            <a:off x="841248" y="564184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Candidates are scored and ranked by LCS length (often combined with edit distance for a fuller picture) and the top-scoring matches are shown as suggestions, restricted to a shortlist for speed.</a:t>
            </a:r>
            <a:endParaRPr lang="en-US" sz="1250" dirty="0"/>
          </a:p>
        </p:txBody>
      </p:sp>
      <p:sp>
        <p:nvSpPr>
          <p:cNvPr id="19" name="Shape 17"/>
          <p:cNvSpPr/>
          <p:nvPr/>
        </p:nvSpPr>
        <p:spPr>
          <a:xfrm>
            <a:off x="7452360" y="1874520"/>
            <a:ext cx="4069080" cy="502920"/>
          </a:xfrm>
          <a:prstGeom prst="roundRect">
            <a:avLst>
              <a:gd name="adj" fmla="val 10909"/>
            </a:avLst>
          </a:prstGeom>
          <a:solidFill>
            <a:srgbClr val="0B2E33"/>
          </a:solidFill>
          <a:ln/>
        </p:spPr>
      </p:sp>
      <p:sp>
        <p:nvSpPr>
          <p:cNvPr id="20" name="Text 18"/>
          <p:cNvSpPr/>
          <p:nvPr/>
        </p:nvSpPr>
        <p:spPr>
          <a:xfrm>
            <a:off x="7635240" y="1874520"/>
            <a:ext cx="3703320" cy="502920"/>
          </a:xfrm>
          <a:prstGeom prst="rect">
            <a:avLst/>
          </a:prstGeom>
          <a:noFill/>
          <a:ln/>
        </p:spPr>
        <p:txBody>
          <a:bodyPr wrap="square" lIns="0" tIns="0" rIns="0" bIns="0" rtlCol="0" anchor="ctr"/>
          <a:lstStyle/>
          <a:p>
            <a:pPr indent="0" marL="0">
              <a:buNone/>
            </a:pPr>
            <a:r>
              <a:rPr lang="en-US" sz="1400" dirty="0">
                <a:solidFill>
                  <a:srgbClr val="9FC9C4"/>
                </a:solidFill>
                <a:latin typeface="Courier New" pitchFamily="34" charset="0"/>
                <a:ea typeface="Courier New" pitchFamily="34" charset="-122"/>
                <a:cs typeface="Courier New" pitchFamily="34" charset="-120"/>
              </a:rPr>
              <a:t>Typed:  </a:t>
            </a:r>
            <a:pPr indent="0" marL="0">
              <a:buNone/>
            </a:pPr>
            <a:r>
              <a:rPr lang="en-US" sz="1400" b="1" dirty="0">
                <a:solidFill>
                  <a:srgbClr val="FFFFFF"/>
                </a:solidFill>
                <a:latin typeface="Courier New" pitchFamily="34" charset="0"/>
                <a:ea typeface="Courier New" pitchFamily="34" charset="-122"/>
                <a:cs typeface="Courier New" pitchFamily="34" charset="-120"/>
              </a:rPr>
              <a:t>recieve</a:t>
            </a:r>
            <a:endParaRPr lang="en-US" sz="1400" dirty="0"/>
          </a:p>
        </p:txBody>
      </p:sp>
      <p:sp>
        <p:nvSpPr>
          <p:cNvPr id="21" name="Text 19"/>
          <p:cNvSpPr/>
          <p:nvPr/>
        </p:nvSpPr>
        <p:spPr>
          <a:xfrm>
            <a:off x="7635240" y="2606040"/>
            <a:ext cx="1417320" cy="320040"/>
          </a:xfrm>
          <a:prstGeom prst="rect">
            <a:avLst/>
          </a:prstGeom>
          <a:noFill/>
          <a:ln/>
        </p:spPr>
        <p:txBody>
          <a:bodyPr wrap="square" lIns="0" tIns="0" rIns="0" bIns="0" rtlCol="0" anchor="ctr"/>
          <a:lstStyle/>
          <a:p>
            <a:pPr indent="0" marL="0">
              <a:buNone/>
            </a:pPr>
            <a:r>
              <a:rPr lang="en-US" sz="1300" dirty="0">
                <a:solidFill>
                  <a:srgbClr val="1B2B2E"/>
                </a:solidFill>
                <a:latin typeface="Courier New" pitchFamily="34" charset="0"/>
                <a:ea typeface="Courier New" pitchFamily="34" charset="-122"/>
                <a:cs typeface="Courier New" pitchFamily="34" charset="-120"/>
              </a:rPr>
              <a:t>receive</a:t>
            </a:r>
            <a:endParaRPr lang="en-US" sz="1300" dirty="0"/>
          </a:p>
        </p:txBody>
      </p:sp>
      <p:sp>
        <p:nvSpPr>
          <p:cNvPr id="22" name="Shape 20"/>
          <p:cNvSpPr/>
          <p:nvPr/>
        </p:nvSpPr>
        <p:spPr>
          <a:xfrm>
            <a:off x="9052560" y="2660904"/>
            <a:ext cx="1691640" cy="201168"/>
          </a:xfrm>
          <a:prstGeom prst="roundRect">
            <a:avLst>
              <a:gd name="adj" fmla="val 13636"/>
            </a:avLst>
          </a:prstGeom>
          <a:solidFill>
            <a:srgbClr val="F4F8F7"/>
          </a:solidFill>
          <a:ln/>
        </p:spPr>
      </p:sp>
      <p:sp>
        <p:nvSpPr>
          <p:cNvPr id="23" name="Shape 21"/>
          <p:cNvSpPr/>
          <p:nvPr/>
        </p:nvSpPr>
        <p:spPr>
          <a:xfrm>
            <a:off x="9052560" y="2660904"/>
            <a:ext cx="1449977" cy="201168"/>
          </a:xfrm>
          <a:prstGeom prst="roundRect">
            <a:avLst>
              <a:gd name="adj" fmla="val 13636"/>
            </a:avLst>
          </a:prstGeom>
          <a:solidFill>
            <a:srgbClr val="02C39A"/>
          </a:solidFill>
          <a:ln/>
        </p:spPr>
      </p:sp>
      <p:sp>
        <p:nvSpPr>
          <p:cNvPr id="24" name="Text 22"/>
          <p:cNvSpPr/>
          <p:nvPr/>
        </p:nvSpPr>
        <p:spPr>
          <a:xfrm>
            <a:off x="10744200" y="2606040"/>
            <a:ext cx="777240" cy="320040"/>
          </a:xfrm>
          <a:prstGeom prst="rect">
            <a:avLst/>
          </a:prstGeom>
          <a:noFill/>
          <a:ln/>
        </p:spPr>
        <p:txBody>
          <a:bodyPr wrap="square" lIns="0" tIns="0" rIns="0" bIns="0" rtlCol="0" anchor="ctr"/>
          <a:lstStyle/>
          <a:p>
            <a:pPr algn="r" indent="0" marL="0">
              <a:buNone/>
            </a:pPr>
            <a:r>
              <a:rPr lang="en-US" sz="1000" dirty="0">
                <a:solidFill>
                  <a:srgbClr val="6E7E80"/>
                </a:solidFill>
                <a:latin typeface="Calibri" pitchFamily="34" charset="0"/>
                <a:ea typeface="Calibri" pitchFamily="34" charset="-122"/>
                <a:cs typeface="Calibri" pitchFamily="34" charset="-120"/>
              </a:rPr>
              <a:t>LCS=6</a:t>
            </a:r>
            <a:endParaRPr lang="en-US" sz="1000" dirty="0"/>
          </a:p>
        </p:txBody>
      </p:sp>
      <p:sp>
        <p:nvSpPr>
          <p:cNvPr id="25" name="Text 23"/>
          <p:cNvSpPr/>
          <p:nvPr/>
        </p:nvSpPr>
        <p:spPr>
          <a:xfrm>
            <a:off x="7635240" y="3108960"/>
            <a:ext cx="1417320" cy="320040"/>
          </a:xfrm>
          <a:prstGeom prst="rect">
            <a:avLst/>
          </a:prstGeom>
          <a:noFill/>
          <a:ln/>
        </p:spPr>
        <p:txBody>
          <a:bodyPr wrap="square" lIns="0" tIns="0" rIns="0" bIns="0" rtlCol="0" anchor="ctr"/>
          <a:lstStyle/>
          <a:p>
            <a:pPr indent="0" marL="0">
              <a:buNone/>
            </a:pPr>
            <a:r>
              <a:rPr lang="en-US" sz="1300" dirty="0">
                <a:solidFill>
                  <a:srgbClr val="1B2B2E"/>
                </a:solidFill>
                <a:latin typeface="Courier New" pitchFamily="34" charset="0"/>
                <a:ea typeface="Courier New" pitchFamily="34" charset="-122"/>
                <a:cs typeface="Courier New" pitchFamily="34" charset="-120"/>
              </a:rPr>
              <a:t>relieve</a:t>
            </a:r>
            <a:endParaRPr lang="en-US" sz="1300" dirty="0"/>
          </a:p>
        </p:txBody>
      </p:sp>
      <p:sp>
        <p:nvSpPr>
          <p:cNvPr id="26" name="Shape 24"/>
          <p:cNvSpPr/>
          <p:nvPr/>
        </p:nvSpPr>
        <p:spPr>
          <a:xfrm>
            <a:off x="9052560" y="3163824"/>
            <a:ext cx="1691640" cy="201168"/>
          </a:xfrm>
          <a:prstGeom prst="roundRect">
            <a:avLst>
              <a:gd name="adj" fmla="val 13636"/>
            </a:avLst>
          </a:prstGeom>
          <a:solidFill>
            <a:srgbClr val="F4F8F7"/>
          </a:solidFill>
          <a:ln/>
        </p:spPr>
      </p:sp>
      <p:sp>
        <p:nvSpPr>
          <p:cNvPr id="27" name="Shape 25"/>
          <p:cNvSpPr/>
          <p:nvPr/>
        </p:nvSpPr>
        <p:spPr>
          <a:xfrm>
            <a:off x="9052560" y="3163824"/>
            <a:ext cx="966651" cy="201168"/>
          </a:xfrm>
          <a:prstGeom prst="roundRect">
            <a:avLst>
              <a:gd name="adj" fmla="val 13636"/>
            </a:avLst>
          </a:prstGeom>
          <a:solidFill>
            <a:srgbClr val="00A896"/>
          </a:solidFill>
          <a:ln/>
        </p:spPr>
      </p:sp>
      <p:sp>
        <p:nvSpPr>
          <p:cNvPr id="28" name="Text 26"/>
          <p:cNvSpPr/>
          <p:nvPr/>
        </p:nvSpPr>
        <p:spPr>
          <a:xfrm>
            <a:off x="10744200" y="3108960"/>
            <a:ext cx="777240" cy="320040"/>
          </a:xfrm>
          <a:prstGeom prst="rect">
            <a:avLst/>
          </a:prstGeom>
          <a:noFill/>
          <a:ln/>
        </p:spPr>
        <p:txBody>
          <a:bodyPr wrap="square" lIns="0" tIns="0" rIns="0" bIns="0" rtlCol="0" anchor="ctr"/>
          <a:lstStyle/>
          <a:p>
            <a:pPr algn="r" indent="0" marL="0">
              <a:buNone/>
            </a:pPr>
            <a:r>
              <a:rPr lang="en-US" sz="1000" dirty="0">
                <a:solidFill>
                  <a:srgbClr val="6E7E80"/>
                </a:solidFill>
                <a:latin typeface="Calibri" pitchFamily="34" charset="0"/>
                <a:ea typeface="Calibri" pitchFamily="34" charset="-122"/>
                <a:cs typeface="Calibri" pitchFamily="34" charset="-120"/>
              </a:rPr>
              <a:t>LCS=4</a:t>
            </a:r>
            <a:endParaRPr lang="en-US" sz="1000" dirty="0"/>
          </a:p>
        </p:txBody>
      </p:sp>
      <p:sp>
        <p:nvSpPr>
          <p:cNvPr id="29" name="Text 27"/>
          <p:cNvSpPr/>
          <p:nvPr/>
        </p:nvSpPr>
        <p:spPr>
          <a:xfrm>
            <a:off x="7635240" y="3611880"/>
            <a:ext cx="1417320" cy="320040"/>
          </a:xfrm>
          <a:prstGeom prst="rect">
            <a:avLst/>
          </a:prstGeom>
          <a:noFill/>
          <a:ln/>
        </p:spPr>
        <p:txBody>
          <a:bodyPr wrap="square" lIns="0" tIns="0" rIns="0" bIns="0" rtlCol="0" anchor="ctr"/>
          <a:lstStyle/>
          <a:p>
            <a:pPr indent="0" marL="0">
              <a:buNone/>
            </a:pPr>
            <a:r>
              <a:rPr lang="en-US" sz="1300" dirty="0">
                <a:solidFill>
                  <a:srgbClr val="1B2B2E"/>
                </a:solidFill>
                <a:latin typeface="Courier New" pitchFamily="34" charset="0"/>
                <a:ea typeface="Courier New" pitchFamily="34" charset="-122"/>
                <a:cs typeface="Courier New" pitchFamily="34" charset="-120"/>
              </a:rPr>
              <a:t>deceive</a:t>
            </a:r>
            <a:endParaRPr lang="en-US" sz="1300" dirty="0"/>
          </a:p>
        </p:txBody>
      </p:sp>
      <p:sp>
        <p:nvSpPr>
          <p:cNvPr id="30" name="Shape 28"/>
          <p:cNvSpPr/>
          <p:nvPr/>
        </p:nvSpPr>
        <p:spPr>
          <a:xfrm>
            <a:off x="9052560" y="3666744"/>
            <a:ext cx="1691640" cy="201168"/>
          </a:xfrm>
          <a:prstGeom prst="roundRect">
            <a:avLst>
              <a:gd name="adj" fmla="val 13636"/>
            </a:avLst>
          </a:prstGeom>
          <a:solidFill>
            <a:srgbClr val="F4F8F7"/>
          </a:solidFill>
          <a:ln/>
        </p:spPr>
      </p:sp>
      <p:sp>
        <p:nvSpPr>
          <p:cNvPr id="31" name="Shape 29"/>
          <p:cNvSpPr/>
          <p:nvPr/>
        </p:nvSpPr>
        <p:spPr>
          <a:xfrm>
            <a:off x="9052560" y="3666744"/>
            <a:ext cx="724989" cy="201168"/>
          </a:xfrm>
          <a:prstGeom prst="roundRect">
            <a:avLst>
              <a:gd name="adj" fmla="val 13636"/>
            </a:avLst>
          </a:prstGeom>
          <a:solidFill>
            <a:srgbClr val="00A896"/>
          </a:solidFill>
          <a:ln/>
        </p:spPr>
      </p:sp>
      <p:sp>
        <p:nvSpPr>
          <p:cNvPr id="32" name="Text 30"/>
          <p:cNvSpPr/>
          <p:nvPr/>
        </p:nvSpPr>
        <p:spPr>
          <a:xfrm>
            <a:off x="10744200" y="3611880"/>
            <a:ext cx="777240" cy="320040"/>
          </a:xfrm>
          <a:prstGeom prst="rect">
            <a:avLst/>
          </a:prstGeom>
          <a:noFill/>
          <a:ln/>
        </p:spPr>
        <p:txBody>
          <a:bodyPr wrap="square" lIns="0" tIns="0" rIns="0" bIns="0" rtlCol="0" anchor="ctr"/>
          <a:lstStyle/>
          <a:p>
            <a:pPr algn="r" indent="0" marL="0">
              <a:buNone/>
            </a:pPr>
            <a:r>
              <a:rPr lang="en-US" sz="1000" dirty="0">
                <a:solidFill>
                  <a:srgbClr val="6E7E80"/>
                </a:solidFill>
                <a:latin typeface="Calibri" pitchFamily="34" charset="0"/>
                <a:ea typeface="Calibri" pitchFamily="34" charset="-122"/>
                <a:cs typeface="Calibri" pitchFamily="34" charset="-120"/>
              </a:rPr>
              <a:t>LCS=3</a:t>
            </a:r>
            <a:endParaRPr lang="en-US" sz="1000" dirty="0"/>
          </a:p>
        </p:txBody>
      </p:sp>
      <p:sp>
        <p:nvSpPr>
          <p:cNvPr id="33" name="Text 31"/>
          <p:cNvSpPr/>
          <p:nvPr/>
        </p:nvSpPr>
        <p:spPr>
          <a:xfrm>
            <a:off x="7452360" y="4251960"/>
            <a:ext cx="4069080" cy="274320"/>
          </a:xfrm>
          <a:prstGeom prst="rect">
            <a:avLst/>
          </a:prstGeom>
          <a:noFill/>
          <a:ln/>
        </p:spPr>
        <p:txBody>
          <a:bodyPr wrap="square" lIns="0" tIns="0" rIns="0" bIns="0" rtlCol="0" anchor="ctr"/>
          <a:lstStyle/>
          <a:p>
            <a:pPr indent="0" marL="0">
              <a:buNone/>
            </a:pPr>
            <a:r>
              <a:rPr lang="en-US" sz="1100" i="1" dirty="0">
                <a:solidFill>
                  <a:srgbClr val="6E7E80"/>
                </a:solidFill>
                <a:latin typeface="Calibri" pitchFamily="34" charset="0"/>
                <a:ea typeface="Calibri" pitchFamily="34" charset="-122"/>
                <a:cs typeface="Calibri" pitchFamily="34" charset="-120"/>
              </a:rPr>
              <a:t>Best match rises to the top</a:t>
            </a:r>
            <a:endParaRPr lang="en-US" sz="1100" dirty="0"/>
          </a:p>
        </p:txBody>
      </p:sp>
      <p:sp>
        <p:nvSpPr>
          <p:cNvPr id="34" name="Text 32"/>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6E7E80"/>
                </a:solidFill>
                <a:latin typeface="Calibri" pitchFamily="34" charset="0"/>
                <a:ea typeface="Calibri" pitchFamily="34" charset="-122"/>
                <a:cs typeface="Calibri" pitchFamily="34" charset="-120"/>
              </a:rPr>
              <a:t>Algorithms in Practice</a:t>
            </a:r>
            <a:endParaRPr lang="en-US" sz="900" dirty="0"/>
          </a:p>
        </p:txBody>
      </p:sp>
      <p:sp>
        <p:nvSpPr>
          <p:cNvPr id="35" name="Text 3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7E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685800" cy="685800"/>
          </a:xfrm>
          <a:prstGeom prst="ellipse">
            <a:avLst/>
          </a:prstGeom>
          <a:solidFill>
            <a:srgbClr val="00A896"/>
          </a:solidFill>
          <a:ln/>
        </p:spPr>
      </p:sp>
      <p:sp>
        <p:nvSpPr>
          <p:cNvPr id="3" name="Text 1"/>
          <p:cNvSpPr/>
          <p:nvPr/>
        </p:nvSpPr>
        <p:spPr>
          <a:xfrm>
            <a:off x="640080" y="502920"/>
            <a:ext cx="685800" cy="685800"/>
          </a:xfrm>
          <a:prstGeom prst="rect">
            <a:avLst/>
          </a:prstGeom>
          <a:noFill/>
          <a:ln/>
        </p:spPr>
        <p:txBody>
          <a:bodyPr wrap="square" lIns="0" tIns="0" rIns="0" bIns="0" rtlCol="0" anchor="ctr"/>
          <a:lstStyle/>
          <a:p>
            <a:pPr algn="ctr" indent="0" marL="0">
              <a:buNone/>
            </a:pPr>
            <a:r>
              <a:rPr lang="en-US" sz="2600" b="1" spc="-50" kern="0" dirty="0">
                <a:solidFill>
                  <a:srgbClr val="FFFFFF"/>
                </a:solidFill>
                <a:latin typeface="Calibri" pitchFamily="34" charset="0"/>
                <a:ea typeface="Calibri" pitchFamily="34" charset="-122"/>
                <a:cs typeface="Calibri" pitchFamily="34" charset="-120"/>
              </a:rPr>
              <a:t>SYN</a:t>
            </a:r>
            <a:endParaRPr lang="en-US" sz="2600" dirty="0"/>
          </a:p>
        </p:txBody>
      </p:sp>
      <p:sp>
        <p:nvSpPr>
          <p:cNvPr id="4" name="Text 2"/>
          <p:cNvSpPr/>
          <p:nvPr/>
        </p:nvSpPr>
        <p:spPr>
          <a:xfrm>
            <a:off x="1508760" y="502920"/>
            <a:ext cx="4572000" cy="256032"/>
          </a:xfrm>
          <a:prstGeom prst="rect">
            <a:avLst/>
          </a:prstGeom>
          <a:noFill/>
          <a:ln/>
        </p:spPr>
        <p:txBody>
          <a:bodyPr wrap="square" lIns="0" tIns="0" rIns="0" bIns="0" rtlCol="0" anchor="ctr"/>
          <a:lstStyle/>
          <a:p>
            <a:pPr indent="0" marL="0">
              <a:buNone/>
            </a:pPr>
            <a:r>
              <a:rPr lang="en-US" sz="1100" b="1" spc="100" kern="0" dirty="0">
                <a:solidFill>
                  <a:srgbClr val="00A896"/>
                </a:solidFill>
                <a:latin typeface="Calibri" pitchFamily="34" charset="0"/>
                <a:ea typeface="Calibri" pitchFamily="34" charset="-122"/>
                <a:cs typeface="Calibri" pitchFamily="34" charset="-120"/>
              </a:rPr>
              <a:t>APPLICATION 5</a:t>
            </a:r>
            <a:endParaRPr lang="en-US" sz="1100" dirty="0"/>
          </a:p>
        </p:txBody>
      </p:sp>
      <p:sp>
        <p:nvSpPr>
          <p:cNvPr id="5" name="Text 3"/>
          <p:cNvSpPr/>
          <p:nvPr/>
        </p:nvSpPr>
        <p:spPr>
          <a:xfrm>
            <a:off x="1508760" y="749808"/>
            <a:ext cx="9966960" cy="502920"/>
          </a:xfrm>
          <a:prstGeom prst="rect">
            <a:avLst/>
          </a:prstGeom>
          <a:noFill/>
          <a:ln/>
        </p:spPr>
        <p:txBody>
          <a:bodyPr wrap="square" lIns="0" tIns="0" rIns="0" bIns="0" rtlCol="0" anchor="ctr"/>
          <a:lstStyle/>
          <a:p>
            <a:pPr indent="0" marL="0">
              <a:buNone/>
            </a:pPr>
            <a:r>
              <a:rPr lang="en-US" sz="2400" b="1" dirty="0">
                <a:solidFill>
                  <a:srgbClr val="0B2E33"/>
                </a:solidFill>
                <a:latin typeface="Cambria" pitchFamily="34" charset="0"/>
                <a:ea typeface="Cambria" pitchFamily="34" charset="-122"/>
                <a:cs typeface="Cambria" pitchFamily="34" charset="-120"/>
              </a:rPr>
              <a:t>File &amp; Data Synchronization</a:t>
            </a:r>
            <a:endParaRPr lang="en-US" sz="2400" dirty="0"/>
          </a:p>
        </p:txBody>
      </p:sp>
      <p:sp>
        <p:nvSpPr>
          <p:cNvPr id="6" name="Text 4"/>
          <p:cNvSpPr/>
          <p:nvPr/>
        </p:nvSpPr>
        <p:spPr>
          <a:xfrm>
            <a:off x="1508760" y="1207008"/>
            <a:ext cx="9966960" cy="320040"/>
          </a:xfrm>
          <a:prstGeom prst="rect">
            <a:avLst/>
          </a:prstGeom>
          <a:noFill/>
          <a:ln/>
        </p:spPr>
        <p:txBody>
          <a:bodyPr wrap="square" lIns="0" tIns="0" rIns="0" bIns="0" rtlCol="0" anchor="ctr"/>
          <a:lstStyle/>
          <a:p>
            <a:pPr indent="0" marL="0">
              <a:buNone/>
            </a:pPr>
            <a:r>
              <a:rPr lang="en-US" sz="1250" i="1" dirty="0">
                <a:solidFill>
                  <a:srgbClr val="6E7E80"/>
                </a:solidFill>
                <a:latin typeface="Calibri" pitchFamily="34" charset="0"/>
                <a:ea typeface="Calibri" pitchFamily="34" charset="-122"/>
                <a:cs typeface="Calibri" pitchFamily="34" charset="-120"/>
              </a:rPr>
              <a:t>Transferring only what changed to keep two copies in sync</a:t>
            </a:r>
            <a:endParaRPr lang="en-US" sz="1250" dirty="0"/>
          </a:p>
        </p:txBody>
      </p:sp>
      <p:sp>
        <p:nvSpPr>
          <p:cNvPr id="7" name="Shape 5"/>
          <p:cNvSpPr/>
          <p:nvPr/>
        </p:nvSpPr>
        <p:spPr>
          <a:xfrm>
            <a:off x="640080" y="1783080"/>
            <a:ext cx="6537960" cy="1481328"/>
          </a:xfrm>
          <a:prstGeom prst="rect">
            <a:avLst/>
          </a:prstGeom>
          <a:solidFill>
            <a:srgbClr val="F4F8F7"/>
          </a:solidFill>
          <a:ln/>
        </p:spPr>
      </p:sp>
      <p:sp>
        <p:nvSpPr>
          <p:cNvPr id="8" name="Shape 6"/>
          <p:cNvSpPr/>
          <p:nvPr/>
        </p:nvSpPr>
        <p:spPr>
          <a:xfrm>
            <a:off x="640080" y="1783080"/>
            <a:ext cx="54864" cy="1481328"/>
          </a:xfrm>
          <a:prstGeom prst="rect">
            <a:avLst/>
          </a:prstGeom>
          <a:solidFill>
            <a:srgbClr val="00A896"/>
          </a:solidFill>
          <a:ln/>
        </p:spPr>
      </p:sp>
      <p:sp>
        <p:nvSpPr>
          <p:cNvPr id="9" name="Text 7"/>
          <p:cNvSpPr/>
          <p:nvPr/>
        </p:nvSpPr>
        <p:spPr>
          <a:xfrm>
            <a:off x="841248" y="1892808"/>
            <a:ext cx="6172200" cy="256032"/>
          </a:xfrm>
          <a:prstGeom prst="rect">
            <a:avLst/>
          </a:prstGeom>
          <a:noFill/>
          <a:ln/>
        </p:spPr>
        <p:txBody>
          <a:bodyPr wrap="square" lIns="0" tIns="0" rIns="0" bIns="0" rtlCol="0" anchor="ctr"/>
          <a:lstStyle/>
          <a:p>
            <a:pPr indent="0" marL="0">
              <a:buNone/>
            </a:pPr>
            <a:r>
              <a:rPr lang="en-US" sz="1150" b="1" spc="50" kern="0" dirty="0">
                <a:solidFill>
                  <a:srgbClr val="00A896"/>
                </a:solidFill>
                <a:latin typeface="Calibri" pitchFamily="34" charset="0"/>
                <a:ea typeface="Calibri" pitchFamily="34" charset="-122"/>
                <a:cs typeface="Calibri" pitchFamily="34" charset="-120"/>
              </a:rPr>
              <a:t>PROBLEM DOMAIN</a:t>
            </a:r>
            <a:endParaRPr lang="en-US" sz="1150" dirty="0"/>
          </a:p>
        </p:txBody>
      </p:sp>
      <p:sp>
        <p:nvSpPr>
          <p:cNvPr id="10" name="Text 8"/>
          <p:cNvSpPr/>
          <p:nvPr/>
        </p:nvSpPr>
        <p:spPr>
          <a:xfrm>
            <a:off x="841248" y="216712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Backup tools, file-sync services, and database replication need to update a remote copy of data to match a local one, ideally without resending everything.</a:t>
            </a:r>
            <a:endParaRPr lang="en-US" sz="1250" dirty="0"/>
          </a:p>
        </p:txBody>
      </p:sp>
      <p:sp>
        <p:nvSpPr>
          <p:cNvPr id="11" name="Shape 9"/>
          <p:cNvSpPr/>
          <p:nvPr/>
        </p:nvSpPr>
        <p:spPr>
          <a:xfrm>
            <a:off x="640080" y="3520440"/>
            <a:ext cx="6537960" cy="1481328"/>
          </a:xfrm>
          <a:prstGeom prst="rect">
            <a:avLst/>
          </a:prstGeom>
          <a:solidFill>
            <a:srgbClr val="F4F8F7"/>
          </a:solidFill>
          <a:ln/>
        </p:spPr>
      </p:sp>
      <p:sp>
        <p:nvSpPr>
          <p:cNvPr id="12" name="Shape 10"/>
          <p:cNvSpPr/>
          <p:nvPr/>
        </p:nvSpPr>
        <p:spPr>
          <a:xfrm>
            <a:off x="640080" y="3520440"/>
            <a:ext cx="54864" cy="1481328"/>
          </a:xfrm>
          <a:prstGeom prst="rect">
            <a:avLst/>
          </a:prstGeom>
          <a:solidFill>
            <a:srgbClr val="00A896"/>
          </a:solidFill>
          <a:ln/>
        </p:spPr>
      </p:sp>
      <p:sp>
        <p:nvSpPr>
          <p:cNvPr id="13" name="Text 11"/>
          <p:cNvSpPr/>
          <p:nvPr/>
        </p:nvSpPr>
        <p:spPr>
          <a:xfrm>
            <a:off x="841248" y="3630168"/>
            <a:ext cx="6172200" cy="256032"/>
          </a:xfrm>
          <a:prstGeom prst="rect">
            <a:avLst/>
          </a:prstGeom>
          <a:noFill/>
          <a:ln/>
        </p:spPr>
        <p:txBody>
          <a:bodyPr wrap="square" lIns="0" tIns="0" rIns="0" bIns="0" rtlCol="0" anchor="ctr"/>
          <a:lstStyle/>
          <a:p>
            <a:pPr indent="0" marL="0">
              <a:buNone/>
            </a:pPr>
            <a:r>
              <a:rPr lang="en-US" sz="1150" b="1" spc="50" kern="0" dirty="0">
                <a:solidFill>
                  <a:srgbClr val="00A896"/>
                </a:solidFill>
                <a:latin typeface="Calibri" pitchFamily="34" charset="0"/>
                <a:ea typeface="Calibri" pitchFamily="34" charset="-122"/>
                <a:cs typeface="Calibri" pitchFamily="34" charset="-120"/>
              </a:rPr>
              <a:t>CONNECTION TO LCS</a:t>
            </a:r>
            <a:endParaRPr lang="en-US" sz="1150" dirty="0"/>
          </a:p>
        </p:txBody>
      </p:sp>
      <p:sp>
        <p:nvSpPr>
          <p:cNvPr id="14" name="Text 12"/>
          <p:cNvSpPr/>
          <p:nvPr/>
        </p:nvSpPr>
        <p:spPr>
          <a:xfrm>
            <a:off x="841248" y="390448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Treating each copy as a sequence of blocks or records, the LCS identifies the largest set of blocks common to both, in order, so only the surrounding differences need to travel over the network.</a:t>
            </a:r>
            <a:endParaRPr lang="en-US" sz="1250" dirty="0"/>
          </a:p>
        </p:txBody>
      </p:sp>
      <p:sp>
        <p:nvSpPr>
          <p:cNvPr id="15" name="Shape 13"/>
          <p:cNvSpPr/>
          <p:nvPr/>
        </p:nvSpPr>
        <p:spPr>
          <a:xfrm>
            <a:off x="640080" y="5257800"/>
            <a:ext cx="6537960" cy="1481328"/>
          </a:xfrm>
          <a:prstGeom prst="rect">
            <a:avLst/>
          </a:prstGeom>
          <a:solidFill>
            <a:srgbClr val="F4F8F7"/>
          </a:solidFill>
          <a:ln/>
        </p:spPr>
      </p:sp>
      <p:sp>
        <p:nvSpPr>
          <p:cNvPr id="16" name="Shape 14"/>
          <p:cNvSpPr/>
          <p:nvPr/>
        </p:nvSpPr>
        <p:spPr>
          <a:xfrm>
            <a:off x="640080" y="5257800"/>
            <a:ext cx="54864" cy="1481328"/>
          </a:xfrm>
          <a:prstGeom prst="rect">
            <a:avLst/>
          </a:prstGeom>
          <a:solidFill>
            <a:srgbClr val="00A896"/>
          </a:solidFill>
          <a:ln/>
        </p:spPr>
      </p:sp>
      <p:sp>
        <p:nvSpPr>
          <p:cNvPr id="17" name="Text 15"/>
          <p:cNvSpPr/>
          <p:nvPr/>
        </p:nvSpPr>
        <p:spPr>
          <a:xfrm>
            <a:off x="841248" y="5367528"/>
            <a:ext cx="6172200" cy="256032"/>
          </a:xfrm>
          <a:prstGeom prst="rect">
            <a:avLst/>
          </a:prstGeom>
          <a:noFill/>
          <a:ln/>
        </p:spPr>
        <p:txBody>
          <a:bodyPr wrap="square" lIns="0" tIns="0" rIns="0" bIns="0" rtlCol="0" anchor="ctr"/>
          <a:lstStyle/>
          <a:p>
            <a:pPr indent="0" marL="0">
              <a:buNone/>
            </a:pPr>
            <a:r>
              <a:rPr lang="en-US" sz="1150" b="1" spc="50" kern="0" dirty="0">
                <a:solidFill>
                  <a:srgbClr val="00A896"/>
                </a:solidFill>
                <a:latin typeface="Calibri" pitchFamily="34" charset="0"/>
                <a:ea typeface="Calibri" pitchFamily="34" charset="-122"/>
                <a:cs typeface="Calibri" pitchFamily="34" charset="-120"/>
              </a:rPr>
              <a:t>HOW IT'S SOLVED</a:t>
            </a:r>
            <a:endParaRPr lang="en-US" sz="1150" dirty="0"/>
          </a:p>
        </p:txBody>
      </p:sp>
      <p:sp>
        <p:nvSpPr>
          <p:cNvPr id="18" name="Text 16"/>
          <p:cNvSpPr/>
          <p:nvPr/>
        </p:nvSpPr>
        <p:spPr>
          <a:xfrm>
            <a:off x="841248" y="5641848"/>
            <a:ext cx="6172200" cy="1024128"/>
          </a:xfrm>
          <a:prstGeom prst="rect">
            <a:avLst/>
          </a:prstGeom>
          <a:noFill/>
          <a:ln/>
        </p:spPr>
        <p:txBody>
          <a:bodyPr wrap="square" lIns="0" tIns="0" rIns="0" bIns="0" rtlCol="0" anchor="t"/>
          <a:lstStyle/>
          <a:p>
            <a:pPr indent="0" marL="0">
              <a:lnSpc>
                <a:spcPct val="112000"/>
              </a:lnSpc>
              <a:buNone/>
            </a:pPr>
            <a:r>
              <a:rPr lang="en-US" sz="1250" dirty="0">
                <a:solidFill>
                  <a:srgbClr val="1B2B2E"/>
                </a:solidFill>
                <a:latin typeface="Calibri" pitchFamily="34" charset="0"/>
                <a:ea typeface="Calibri" pitchFamily="34" charset="-122"/>
                <a:cs typeface="Calibri" pitchFamily="34" charset="-120"/>
              </a:rPr>
              <a:t>An LCS-style delta algorithm computes the common blocks, then encodes the sync as a short list of insert and delete operations, similar in spirit to rsync's rolling-checksum block matching.</a:t>
            </a:r>
            <a:endParaRPr lang="en-US" sz="1250" dirty="0"/>
          </a:p>
        </p:txBody>
      </p:sp>
      <p:sp>
        <p:nvSpPr>
          <p:cNvPr id="19" name="Shape 17"/>
          <p:cNvSpPr/>
          <p:nvPr/>
        </p:nvSpPr>
        <p:spPr>
          <a:xfrm>
            <a:off x="7589520" y="2011680"/>
            <a:ext cx="1371600" cy="457200"/>
          </a:xfrm>
          <a:prstGeom prst="roundRect">
            <a:avLst>
              <a:gd name="adj" fmla="val 10000"/>
            </a:avLst>
          </a:prstGeom>
          <a:solidFill>
            <a:srgbClr val="02C39A"/>
          </a:solidFill>
          <a:ln/>
        </p:spPr>
      </p:sp>
      <p:sp>
        <p:nvSpPr>
          <p:cNvPr id="20" name="Text 18"/>
          <p:cNvSpPr/>
          <p:nvPr/>
        </p:nvSpPr>
        <p:spPr>
          <a:xfrm>
            <a:off x="7589520" y="2011680"/>
            <a:ext cx="1371600" cy="457200"/>
          </a:xfrm>
          <a:prstGeom prst="rect">
            <a:avLst/>
          </a:prstGeom>
          <a:noFill/>
          <a:ln/>
        </p:spPr>
        <p:txBody>
          <a:bodyPr wrap="square" lIns="0" tIns="0" rIns="0" bIns="0" rtlCol="0" anchor="ctr"/>
          <a:lstStyle/>
          <a:p>
            <a:pPr algn="ctr" indent="0" marL="0">
              <a:buNone/>
            </a:pPr>
            <a:r>
              <a:rPr lang="en-US" sz="1300" b="1" dirty="0">
                <a:solidFill>
                  <a:srgbClr val="0B2E33"/>
                </a:solidFill>
                <a:latin typeface="Calibri" pitchFamily="34" charset="0"/>
                <a:ea typeface="Calibri" pitchFamily="34" charset="-122"/>
                <a:cs typeface="Calibri" pitchFamily="34" charset="-120"/>
              </a:rPr>
              <a:t>A</a:t>
            </a:r>
            <a:endParaRPr lang="en-US" sz="1300" dirty="0"/>
          </a:p>
        </p:txBody>
      </p:sp>
      <p:sp>
        <p:nvSpPr>
          <p:cNvPr id="21" name="Shape 19"/>
          <p:cNvSpPr/>
          <p:nvPr/>
        </p:nvSpPr>
        <p:spPr>
          <a:xfrm>
            <a:off x="10012680" y="2011680"/>
            <a:ext cx="1371600" cy="457200"/>
          </a:xfrm>
          <a:prstGeom prst="roundRect">
            <a:avLst>
              <a:gd name="adj" fmla="val 10000"/>
            </a:avLst>
          </a:prstGeom>
          <a:solidFill>
            <a:srgbClr val="02C39A"/>
          </a:solidFill>
          <a:ln/>
        </p:spPr>
      </p:sp>
      <p:sp>
        <p:nvSpPr>
          <p:cNvPr id="22" name="Text 20"/>
          <p:cNvSpPr/>
          <p:nvPr/>
        </p:nvSpPr>
        <p:spPr>
          <a:xfrm>
            <a:off x="10012680" y="2011680"/>
            <a:ext cx="1371600" cy="457200"/>
          </a:xfrm>
          <a:prstGeom prst="rect">
            <a:avLst/>
          </a:prstGeom>
          <a:noFill/>
          <a:ln/>
        </p:spPr>
        <p:txBody>
          <a:bodyPr wrap="square" lIns="0" tIns="0" rIns="0" bIns="0" rtlCol="0" anchor="ctr"/>
          <a:lstStyle/>
          <a:p>
            <a:pPr algn="ctr" indent="0" marL="0">
              <a:buNone/>
            </a:pPr>
            <a:r>
              <a:rPr lang="en-US" sz="1300" b="1" dirty="0">
                <a:solidFill>
                  <a:srgbClr val="0B2E33"/>
                </a:solidFill>
                <a:latin typeface="Calibri" pitchFamily="34" charset="0"/>
                <a:ea typeface="Calibri" pitchFamily="34" charset="-122"/>
                <a:cs typeface="Calibri" pitchFamily="34" charset="-120"/>
              </a:rPr>
              <a:t>A</a:t>
            </a:r>
            <a:endParaRPr lang="en-US" sz="1300" dirty="0"/>
          </a:p>
        </p:txBody>
      </p:sp>
      <p:sp>
        <p:nvSpPr>
          <p:cNvPr id="23" name="Shape 21"/>
          <p:cNvSpPr/>
          <p:nvPr/>
        </p:nvSpPr>
        <p:spPr>
          <a:xfrm>
            <a:off x="8961120" y="2240280"/>
            <a:ext cx="1325880" cy="0"/>
          </a:xfrm>
          <a:prstGeom prst="line">
            <a:avLst/>
          </a:prstGeom>
          <a:noFill/>
          <a:ln w="15875">
            <a:solidFill>
              <a:srgbClr val="02C39A"/>
            </a:solidFill>
            <a:prstDash val="sysDot"/>
          </a:ln>
        </p:spPr>
      </p:sp>
      <p:sp>
        <p:nvSpPr>
          <p:cNvPr id="24" name="Shape 22"/>
          <p:cNvSpPr/>
          <p:nvPr/>
        </p:nvSpPr>
        <p:spPr>
          <a:xfrm>
            <a:off x="7589520" y="2697480"/>
            <a:ext cx="1371600" cy="457200"/>
          </a:xfrm>
          <a:prstGeom prst="roundRect">
            <a:avLst>
              <a:gd name="adj" fmla="val 10000"/>
            </a:avLst>
          </a:prstGeom>
          <a:solidFill>
            <a:srgbClr val="F4F8F7"/>
          </a:solidFill>
          <a:ln/>
        </p:spPr>
      </p:sp>
      <p:sp>
        <p:nvSpPr>
          <p:cNvPr id="25" name="Text 23"/>
          <p:cNvSpPr/>
          <p:nvPr/>
        </p:nvSpPr>
        <p:spPr>
          <a:xfrm>
            <a:off x="7589520" y="2697480"/>
            <a:ext cx="1371600" cy="457200"/>
          </a:xfrm>
          <a:prstGeom prst="rect">
            <a:avLst/>
          </a:prstGeom>
          <a:noFill/>
          <a:ln/>
        </p:spPr>
        <p:txBody>
          <a:bodyPr wrap="square" lIns="0" tIns="0" rIns="0" bIns="0" rtlCol="0" anchor="ctr"/>
          <a:lstStyle/>
          <a:p>
            <a:pPr algn="ctr" indent="0" marL="0">
              <a:buNone/>
            </a:pPr>
            <a:r>
              <a:rPr lang="en-US" sz="1300" b="1" dirty="0">
                <a:solidFill>
                  <a:srgbClr val="6E7E80"/>
                </a:solidFill>
                <a:latin typeface="Calibri" pitchFamily="34" charset="0"/>
                <a:ea typeface="Calibri" pitchFamily="34" charset="-122"/>
                <a:cs typeface="Calibri" pitchFamily="34" charset="-120"/>
              </a:rPr>
              <a:t>B</a:t>
            </a:r>
            <a:endParaRPr lang="en-US" sz="1300" dirty="0"/>
          </a:p>
        </p:txBody>
      </p:sp>
      <p:sp>
        <p:nvSpPr>
          <p:cNvPr id="26" name="Shape 24"/>
          <p:cNvSpPr/>
          <p:nvPr/>
        </p:nvSpPr>
        <p:spPr>
          <a:xfrm>
            <a:off x="10012680" y="2697480"/>
            <a:ext cx="1371600" cy="457200"/>
          </a:xfrm>
          <a:prstGeom prst="roundRect">
            <a:avLst>
              <a:gd name="adj" fmla="val 10000"/>
            </a:avLst>
          </a:prstGeom>
          <a:solidFill>
            <a:srgbClr val="F4F8F7"/>
          </a:solidFill>
          <a:ln/>
        </p:spPr>
      </p:sp>
      <p:sp>
        <p:nvSpPr>
          <p:cNvPr id="27" name="Text 25"/>
          <p:cNvSpPr/>
          <p:nvPr/>
        </p:nvSpPr>
        <p:spPr>
          <a:xfrm>
            <a:off x="10012680" y="2697480"/>
            <a:ext cx="1371600" cy="457200"/>
          </a:xfrm>
          <a:prstGeom prst="rect">
            <a:avLst/>
          </a:prstGeom>
          <a:noFill/>
          <a:ln/>
        </p:spPr>
        <p:txBody>
          <a:bodyPr wrap="square" lIns="0" tIns="0" rIns="0" bIns="0" rtlCol="0" anchor="ctr"/>
          <a:lstStyle/>
          <a:p>
            <a:pPr algn="ctr" indent="0" marL="0">
              <a:buNone/>
            </a:pPr>
            <a:r>
              <a:rPr lang="en-US" sz="1300" b="1" dirty="0">
                <a:solidFill>
                  <a:srgbClr val="6E7E80"/>
                </a:solidFill>
                <a:latin typeface="Calibri" pitchFamily="34" charset="0"/>
                <a:ea typeface="Calibri" pitchFamily="34" charset="-122"/>
                <a:cs typeface="Calibri" pitchFamily="34" charset="-120"/>
              </a:rPr>
              <a:t>B</a:t>
            </a:r>
            <a:endParaRPr lang="en-US" sz="1300" dirty="0"/>
          </a:p>
        </p:txBody>
      </p:sp>
      <p:sp>
        <p:nvSpPr>
          <p:cNvPr id="28" name="Shape 26"/>
          <p:cNvSpPr/>
          <p:nvPr/>
        </p:nvSpPr>
        <p:spPr>
          <a:xfrm>
            <a:off x="7589520" y="3383280"/>
            <a:ext cx="1371600" cy="457200"/>
          </a:xfrm>
          <a:prstGeom prst="roundRect">
            <a:avLst>
              <a:gd name="adj" fmla="val 10000"/>
            </a:avLst>
          </a:prstGeom>
          <a:solidFill>
            <a:srgbClr val="02C39A"/>
          </a:solidFill>
          <a:ln/>
        </p:spPr>
      </p:sp>
      <p:sp>
        <p:nvSpPr>
          <p:cNvPr id="29" name="Text 27"/>
          <p:cNvSpPr/>
          <p:nvPr/>
        </p:nvSpPr>
        <p:spPr>
          <a:xfrm>
            <a:off x="7589520" y="3383280"/>
            <a:ext cx="1371600" cy="457200"/>
          </a:xfrm>
          <a:prstGeom prst="rect">
            <a:avLst/>
          </a:prstGeom>
          <a:noFill/>
          <a:ln/>
        </p:spPr>
        <p:txBody>
          <a:bodyPr wrap="square" lIns="0" tIns="0" rIns="0" bIns="0" rtlCol="0" anchor="ctr"/>
          <a:lstStyle/>
          <a:p>
            <a:pPr algn="ctr" indent="0" marL="0">
              <a:buNone/>
            </a:pPr>
            <a:r>
              <a:rPr lang="en-US" sz="1300" b="1" dirty="0">
                <a:solidFill>
                  <a:srgbClr val="0B2E33"/>
                </a:solidFill>
                <a:latin typeface="Calibri" pitchFamily="34" charset="0"/>
                <a:ea typeface="Calibri" pitchFamily="34" charset="-122"/>
                <a:cs typeface="Calibri" pitchFamily="34" charset="-120"/>
              </a:rPr>
              <a:t>C</a:t>
            </a:r>
            <a:endParaRPr lang="en-US" sz="1300" dirty="0"/>
          </a:p>
        </p:txBody>
      </p:sp>
      <p:sp>
        <p:nvSpPr>
          <p:cNvPr id="30" name="Shape 28"/>
          <p:cNvSpPr/>
          <p:nvPr/>
        </p:nvSpPr>
        <p:spPr>
          <a:xfrm>
            <a:off x="10012680" y="3383280"/>
            <a:ext cx="1371600" cy="457200"/>
          </a:xfrm>
          <a:prstGeom prst="roundRect">
            <a:avLst>
              <a:gd name="adj" fmla="val 10000"/>
            </a:avLst>
          </a:prstGeom>
          <a:solidFill>
            <a:srgbClr val="02C39A"/>
          </a:solidFill>
          <a:ln/>
        </p:spPr>
      </p:sp>
      <p:sp>
        <p:nvSpPr>
          <p:cNvPr id="31" name="Text 29"/>
          <p:cNvSpPr/>
          <p:nvPr/>
        </p:nvSpPr>
        <p:spPr>
          <a:xfrm>
            <a:off x="10012680" y="3383280"/>
            <a:ext cx="1371600" cy="457200"/>
          </a:xfrm>
          <a:prstGeom prst="rect">
            <a:avLst/>
          </a:prstGeom>
          <a:noFill/>
          <a:ln/>
        </p:spPr>
        <p:txBody>
          <a:bodyPr wrap="square" lIns="0" tIns="0" rIns="0" bIns="0" rtlCol="0" anchor="ctr"/>
          <a:lstStyle/>
          <a:p>
            <a:pPr algn="ctr" indent="0" marL="0">
              <a:buNone/>
            </a:pPr>
            <a:r>
              <a:rPr lang="en-US" sz="1300" b="1" dirty="0">
                <a:solidFill>
                  <a:srgbClr val="0B2E33"/>
                </a:solidFill>
                <a:latin typeface="Calibri" pitchFamily="34" charset="0"/>
                <a:ea typeface="Calibri" pitchFamily="34" charset="-122"/>
                <a:cs typeface="Calibri" pitchFamily="34" charset="-120"/>
              </a:rPr>
              <a:t>C</a:t>
            </a:r>
            <a:endParaRPr lang="en-US" sz="1300" dirty="0"/>
          </a:p>
        </p:txBody>
      </p:sp>
      <p:sp>
        <p:nvSpPr>
          <p:cNvPr id="32" name="Shape 30"/>
          <p:cNvSpPr/>
          <p:nvPr/>
        </p:nvSpPr>
        <p:spPr>
          <a:xfrm>
            <a:off x="8961120" y="3611880"/>
            <a:ext cx="1325880" cy="0"/>
          </a:xfrm>
          <a:prstGeom prst="line">
            <a:avLst/>
          </a:prstGeom>
          <a:noFill/>
          <a:ln w="15875">
            <a:solidFill>
              <a:srgbClr val="02C39A"/>
            </a:solidFill>
            <a:prstDash val="sysDot"/>
          </a:ln>
        </p:spPr>
      </p:sp>
      <p:sp>
        <p:nvSpPr>
          <p:cNvPr id="33" name="Shape 31"/>
          <p:cNvSpPr/>
          <p:nvPr/>
        </p:nvSpPr>
        <p:spPr>
          <a:xfrm>
            <a:off x="7589520" y="4069080"/>
            <a:ext cx="1371600" cy="457200"/>
          </a:xfrm>
          <a:prstGeom prst="roundRect">
            <a:avLst>
              <a:gd name="adj" fmla="val 10000"/>
            </a:avLst>
          </a:prstGeom>
          <a:solidFill>
            <a:srgbClr val="F4F8F7"/>
          </a:solidFill>
          <a:ln/>
        </p:spPr>
      </p:sp>
      <p:sp>
        <p:nvSpPr>
          <p:cNvPr id="34" name="Text 32"/>
          <p:cNvSpPr/>
          <p:nvPr/>
        </p:nvSpPr>
        <p:spPr>
          <a:xfrm>
            <a:off x="7589520" y="4069080"/>
            <a:ext cx="1371600" cy="457200"/>
          </a:xfrm>
          <a:prstGeom prst="rect">
            <a:avLst/>
          </a:prstGeom>
          <a:noFill/>
          <a:ln/>
        </p:spPr>
        <p:txBody>
          <a:bodyPr wrap="square" lIns="0" tIns="0" rIns="0" bIns="0" rtlCol="0" anchor="ctr"/>
          <a:lstStyle/>
          <a:p>
            <a:pPr algn="ctr" indent="0" marL="0">
              <a:buNone/>
            </a:pPr>
            <a:r>
              <a:rPr lang="en-US" sz="1300" b="1" dirty="0">
                <a:solidFill>
                  <a:srgbClr val="6E7E80"/>
                </a:solidFill>
                <a:latin typeface="Calibri" pitchFamily="34" charset="0"/>
                <a:ea typeface="Calibri" pitchFamily="34" charset="-122"/>
                <a:cs typeface="Calibri" pitchFamily="34" charset="-120"/>
              </a:rPr>
              <a:t>D</a:t>
            </a:r>
            <a:endParaRPr lang="en-US" sz="1300" dirty="0"/>
          </a:p>
        </p:txBody>
      </p:sp>
      <p:sp>
        <p:nvSpPr>
          <p:cNvPr id="35" name="Shape 33"/>
          <p:cNvSpPr/>
          <p:nvPr/>
        </p:nvSpPr>
        <p:spPr>
          <a:xfrm>
            <a:off x="10012680" y="4069080"/>
            <a:ext cx="1371600" cy="457200"/>
          </a:xfrm>
          <a:prstGeom prst="roundRect">
            <a:avLst>
              <a:gd name="adj" fmla="val 10000"/>
            </a:avLst>
          </a:prstGeom>
          <a:solidFill>
            <a:srgbClr val="F4F8F7"/>
          </a:solidFill>
          <a:ln/>
        </p:spPr>
      </p:sp>
      <p:sp>
        <p:nvSpPr>
          <p:cNvPr id="36" name="Text 34"/>
          <p:cNvSpPr/>
          <p:nvPr/>
        </p:nvSpPr>
        <p:spPr>
          <a:xfrm>
            <a:off x="10012680" y="4069080"/>
            <a:ext cx="1371600" cy="457200"/>
          </a:xfrm>
          <a:prstGeom prst="rect">
            <a:avLst/>
          </a:prstGeom>
          <a:noFill/>
          <a:ln/>
        </p:spPr>
        <p:txBody>
          <a:bodyPr wrap="square" lIns="0" tIns="0" rIns="0" bIns="0" rtlCol="0" anchor="ctr"/>
          <a:lstStyle/>
          <a:p>
            <a:pPr algn="ctr" indent="0" marL="0">
              <a:buNone/>
            </a:pPr>
            <a:r>
              <a:rPr lang="en-US" sz="1300" b="1" dirty="0">
                <a:solidFill>
                  <a:srgbClr val="6E7E80"/>
                </a:solidFill>
                <a:latin typeface="Calibri" pitchFamily="34" charset="0"/>
                <a:ea typeface="Calibri" pitchFamily="34" charset="-122"/>
                <a:cs typeface="Calibri" pitchFamily="34" charset="-120"/>
              </a:rPr>
              <a:t>D</a:t>
            </a:r>
            <a:endParaRPr lang="en-US" sz="1300" dirty="0"/>
          </a:p>
        </p:txBody>
      </p:sp>
      <p:sp>
        <p:nvSpPr>
          <p:cNvPr id="37" name="Shape 35"/>
          <p:cNvSpPr/>
          <p:nvPr/>
        </p:nvSpPr>
        <p:spPr>
          <a:xfrm>
            <a:off x="7589520" y="4754880"/>
            <a:ext cx="1371600" cy="457200"/>
          </a:xfrm>
          <a:prstGeom prst="roundRect">
            <a:avLst>
              <a:gd name="adj" fmla="val 10000"/>
            </a:avLst>
          </a:prstGeom>
          <a:solidFill>
            <a:srgbClr val="02C39A"/>
          </a:solidFill>
          <a:ln/>
        </p:spPr>
      </p:sp>
      <p:sp>
        <p:nvSpPr>
          <p:cNvPr id="38" name="Text 36"/>
          <p:cNvSpPr/>
          <p:nvPr/>
        </p:nvSpPr>
        <p:spPr>
          <a:xfrm>
            <a:off x="7589520" y="4754880"/>
            <a:ext cx="1371600" cy="457200"/>
          </a:xfrm>
          <a:prstGeom prst="rect">
            <a:avLst/>
          </a:prstGeom>
          <a:noFill/>
          <a:ln/>
        </p:spPr>
        <p:txBody>
          <a:bodyPr wrap="square" lIns="0" tIns="0" rIns="0" bIns="0" rtlCol="0" anchor="ctr"/>
          <a:lstStyle/>
          <a:p>
            <a:pPr algn="ctr" indent="0" marL="0">
              <a:buNone/>
            </a:pPr>
            <a:r>
              <a:rPr lang="en-US" sz="1300" b="1" dirty="0">
                <a:solidFill>
                  <a:srgbClr val="0B2E33"/>
                </a:solidFill>
                <a:latin typeface="Calibri" pitchFamily="34" charset="0"/>
                <a:ea typeface="Calibri" pitchFamily="34" charset="-122"/>
                <a:cs typeface="Calibri" pitchFamily="34" charset="-120"/>
              </a:rPr>
              <a:t>E</a:t>
            </a:r>
            <a:endParaRPr lang="en-US" sz="1300" dirty="0"/>
          </a:p>
        </p:txBody>
      </p:sp>
      <p:sp>
        <p:nvSpPr>
          <p:cNvPr id="39" name="Shape 37"/>
          <p:cNvSpPr/>
          <p:nvPr/>
        </p:nvSpPr>
        <p:spPr>
          <a:xfrm>
            <a:off x="10012680" y="4754880"/>
            <a:ext cx="1371600" cy="457200"/>
          </a:xfrm>
          <a:prstGeom prst="roundRect">
            <a:avLst>
              <a:gd name="adj" fmla="val 10000"/>
            </a:avLst>
          </a:prstGeom>
          <a:solidFill>
            <a:srgbClr val="02C39A"/>
          </a:solidFill>
          <a:ln/>
        </p:spPr>
      </p:sp>
      <p:sp>
        <p:nvSpPr>
          <p:cNvPr id="40" name="Text 38"/>
          <p:cNvSpPr/>
          <p:nvPr/>
        </p:nvSpPr>
        <p:spPr>
          <a:xfrm>
            <a:off x="10012680" y="4754880"/>
            <a:ext cx="1371600" cy="457200"/>
          </a:xfrm>
          <a:prstGeom prst="rect">
            <a:avLst/>
          </a:prstGeom>
          <a:noFill/>
          <a:ln/>
        </p:spPr>
        <p:txBody>
          <a:bodyPr wrap="square" lIns="0" tIns="0" rIns="0" bIns="0" rtlCol="0" anchor="ctr"/>
          <a:lstStyle/>
          <a:p>
            <a:pPr algn="ctr" indent="0" marL="0">
              <a:buNone/>
            </a:pPr>
            <a:r>
              <a:rPr lang="en-US" sz="1300" b="1" dirty="0">
                <a:solidFill>
                  <a:srgbClr val="0B2E33"/>
                </a:solidFill>
                <a:latin typeface="Calibri" pitchFamily="34" charset="0"/>
                <a:ea typeface="Calibri" pitchFamily="34" charset="-122"/>
                <a:cs typeface="Calibri" pitchFamily="34" charset="-120"/>
              </a:rPr>
              <a:t>E</a:t>
            </a:r>
            <a:endParaRPr lang="en-US" sz="1300" dirty="0"/>
          </a:p>
        </p:txBody>
      </p:sp>
      <p:sp>
        <p:nvSpPr>
          <p:cNvPr id="41" name="Shape 39"/>
          <p:cNvSpPr/>
          <p:nvPr/>
        </p:nvSpPr>
        <p:spPr>
          <a:xfrm>
            <a:off x="8961120" y="4983480"/>
            <a:ext cx="1325880" cy="0"/>
          </a:xfrm>
          <a:prstGeom prst="line">
            <a:avLst/>
          </a:prstGeom>
          <a:noFill/>
          <a:ln w="15875">
            <a:solidFill>
              <a:srgbClr val="02C39A"/>
            </a:solidFill>
            <a:prstDash val="sysDot"/>
          </a:ln>
        </p:spPr>
      </p:sp>
      <p:sp>
        <p:nvSpPr>
          <p:cNvPr id="42" name="Text 40"/>
          <p:cNvSpPr/>
          <p:nvPr/>
        </p:nvSpPr>
        <p:spPr>
          <a:xfrm>
            <a:off x="7589520" y="1783080"/>
            <a:ext cx="1371600" cy="201168"/>
          </a:xfrm>
          <a:prstGeom prst="rect">
            <a:avLst/>
          </a:prstGeom>
          <a:noFill/>
          <a:ln/>
        </p:spPr>
        <p:txBody>
          <a:bodyPr wrap="square" lIns="0" tIns="0" rIns="0" bIns="0" rtlCol="0" anchor="ctr"/>
          <a:lstStyle/>
          <a:p>
            <a:pPr algn="ctr" indent="0" marL="0">
              <a:buNone/>
            </a:pPr>
            <a:r>
              <a:rPr lang="en-US" sz="1000" b="1" dirty="0">
                <a:solidFill>
                  <a:srgbClr val="6E7E80"/>
                </a:solidFill>
                <a:latin typeface="Calibri" pitchFamily="34" charset="0"/>
                <a:ea typeface="Calibri" pitchFamily="34" charset="-122"/>
                <a:cs typeface="Calibri" pitchFamily="34" charset="-120"/>
              </a:rPr>
              <a:t>Local</a:t>
            </a:r>
            <a:endParaRPr lang="en-US" sz="1000" dirty="0"/>
          </a:p>
        </p:txBody>
      </p:sp>
      <p:sp>
        <p:nvSpPr>
          <p:cNvPr id="43" name="Text 41"/>
          <p:cNvSpPr/>
          <p:nvPr/>
        </p:nvSpPr>
        <p:spPr>
          <a:xfrm>
            <a:off x="10012680" y="1783080"/>
            <a:ext cx="1371600" cy="201168"/>
          </a:xfrm>
          <a:prstGeom prst="rect">
            <a:avLst/>
          </a:prstGeom>
          <a:noFill/>
          <a:ln/>
        </p:spPr>
        <p:txBody>
          <a:bodyPr wrap="square" lIns="0" tIns="0" rIns="0" bIns="0" rtlCol="0" anchor="ctr"/>
          <a:lstStyle/>
          <a:p>
            <a:pPr algn="ctr" indent="0" marL="0">
              <a:buNone/>
            </a:pPr>
            <a:r>
              <a:rPr lang="en-US" sz="1000" b="1" dirty="0">
                <a:solidFill>
                  <a:srgbClr val="6E7E80"/>
                </a:solidFill>
                <a:latin typeface="Calibri" pitchFamily="34" charset="0"/>
                <a:ea typeface="Calibri" pitchFamily="34" charset="-122"/>
                <a:cs typeface="Calibri" pitchFamily="34" charset="-120"/>
              </a:rPr>
              <a:t>Remote</a:t>
            </a:r>
            <a:endParaRPr lang="en-US" sz="1000" dirty="0"/>
          </a:p>
        </p:txBody>
      </p:sp>
      <p:sp>
        <p:nvSpPr>
          <p:cNvPr id="44" name="Text 42"/>
          <p:cNvSpPr/>
          <p:nvPr/>
        </p:nvSpPr>
        <p:spPr>
          <a:xfrm>
            <a:off x="7452360" y="5532120"/>
            <a:ext cx="4069080" cy="365760"/>
          </a:xfrm>
          <a:prstGeom prst="rect">
            <a:avLst/>
          </a:prstGeom>
          <a:noFill/>
          <a:ln/>
        </p:spPr>
        <p:txBody>
          <a:bodyPr wrap="square" lIns="0" tIns="0" rIns="0" bIns="0" rtlCol="0" anchor="ctr"/>
          <a:lstStyle/>
          <a:p>
            <a:pPr indent="0" marL="0">
              <a:buNone/>
            </a:pPr>
            <a:r>
              <a:rPr lang="en-US" sz="1050" i="1" dirty="0">
                <a:solidFill>
                  <a:srgbClr val="6E7E80"/>
                </a:solidFill>
                <a:latin typeface="Calibri" pitchFamily="34" charset="0"/>
                <a:ea typeface="Calibri" pitchFamily="34" charset="-122"/>
                <a:cs typeface="Calibri" pitchFamily="34" charset="-120"/>
              </a:rPr>
              <a:t>Green blocks match — only the rest needs to transfer</a:t>
            </a:r>
            <a:endParaRPr lang="en-US" sz="1050" dirty="0"/>
          </a:p>
        </p:txBody>
      </p:sp>
      <p:sp>
        <p:nvSpPr>
          <p:cNvPr id="45" name="Text 43"/>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6E7E80"/>
                </a:solidFill>
                <a:latin typeface="Calibri" pitchFamily="34" charset="0"/>
                <a:ea typeface="Calibri" pitchFamily="34" charset="-122"/>
                <a:cs typeface="Calibri" pitchFamily="34" charset="-120"/>
              </a:rPr>
              <a:t>Algorithms in Practice</a:t>
            </a:r>
            <a:endParaRPr lang="en-US" sz="900" dirty="0"/>
          </a:p>
        </p:txBody>
      </p:sp>
      <p:sp>
        <p:nvSpPr>
          <p:cNvPr id="46" name="Text 44"/>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7E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640080" y="502920"/>
            <a:ext cx="1088136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One Algorithm, Many Domains</a:t>
            </a:r>
            <a:endParaRPr lang="en-US" sz="3000" dirty="0"/>
          </a:p>
        </p:txBody>
      </p:sp>
      <p:sp>
        <p:nvSpPr>
          <p:cNvPr id="3" name="Text 1"/>
          <p:cNvSpPr/>
          <p:nvPr/>
        </p:nvSpPr>
        <p:spPr>
          <a:xfrm>
            <a:off x="640080" y="1097280"/>
            <a:ext cx="10058400" cy="457200"/>
          </a:xfrm>
          <a:prstGeom prst="rect">
            <a:avLst/>
          </a:prstGeom>
          <a:noFill/>
          <a:ln/>
        </p:spPr>
        <p:txBody>
          <a:bodyPr wrap="square" lIns="0" tIns="0" rIns="0" bIns="0" rtlCol="0" anchor="ctr"/>
          <a:lstStyle/>
          <a:p>
            <a:pPr indent="0" marL="0">
              <a:buNone/>
            </a:pPr>
            <a:r>
              <a:rPr lang="en-US" sz="1400" i="1" dirty="0">
                <a:solidFill>
                  <a:srgbClr val="9FC9C4"/>
                </a:solidFill>
                <a:latin typeface="Calibri" pitchFamily="34" charset="0"/>
                <a:ea typeface="Calibri" pitchFamily="34" charset="-122"/>
                <a:cs typeface="Calibri" pitchFamily="34" charset="-120"/>
              </a:rPr>
              <a:t>Anywhere two ordered sequences need to be compared for shared structure, LCS — or a close variant of it — tends to be underneath.</a:t>
            </a:r>
            <a:endParaRPr lang="en-US" sz="1400" dirty="0"/>
          </a:p>
        </p:txBody>
      </p:sp>
      <p:sp>
        <p:nvSpPr>
          <p:cNvPr id="4" name="Shape 2"/>
          <p:cNvSpPr/>
          <p:nvPr/>
        </p:nvSpPr>
        <p:spPr>
          <a:xfrm>
            <a:off x="640080" y="1965960"/>
            <a:ext cx="2084832" cy="3017520"/>
          </a:xfrm>
          <a:prstGeom prst="roundRect">
            <a:avLst>
              <a:gd name="adj" fmla="val 3509"/>
            </a:avLst>
          </a:prstGeom>
          <a:solidFill>
            <a:srgbClr val="12393E"/>
          </a:solidFill>
          <a:ln/>
        </p:spPr>
      </p:sp>
      <p:sp>
        <p:nvSpPr>
          <p:cNvPr id="5" name="Shape 3"/>
          <p:cNvSpPr/>
          <p:nvPr/>
        </p:nvSpPr>
        <p:spPr>
          <a:xfrm>
            <a:off x="1362456" y="2286000"/>
            <a:ext cx="640080" cy="640080"/>
          </a:xfrm>
          <a:prstGeom prst="ellipse">
            <a:avLst/>
          </a:prstGeom>
          <a:solidFill>
            <a:srgbClr val="02C39A"/>
          </a:solidFill>
          <a:ln/>
        </p:spPr>
      </p:sp>
      <p:sp>
        <p:nvSpPr>
          <p:cNvPr id="6" name="Text 4"/>
          <p:cNvSpPr/>
          <p:nvPr/>
        </p:nvSpPr>
        <p:spPr>
          <a:xfrm>
            <a:off x="1362456" y="2286000"/>
            <a:ext cx="640080" cy="640080"/>
          </a:xfrm>
          <a:prstGeom prst="rect">
            <a:avLst/>
          </a:prstGeom>
          <a:noFill/>
          <a:ln/>
        </p:spPr>
        <p:txBody>
          <a:bodyPr wrap="square" lIns="0" tIns="0" rIns="0" bIns="0" rtlCol="0" anchor="ctr"/>
          <a:lstStyle/>
          <a:p>
            <a:pPr algn="ctr" indent="0" marL="0">
              <a:buNone/>
            </a:pPr>
            <a:r>
              <a:rPr lang="en-US" sz="2400" b="1" spc="-50" kern="0" dirty="0">
                <a:solidFill>
                  <a:srgbClr val="0B2E33"/>
                </a:solidFill>
                <a:latin typeface="Calibri" pitchFamily="34" charset="0"/>
                <a:ea typeface="Calibri" pitchFamily="34" charset="-122"/>
                <a:cs typeface="Calibri" pitchFamily="34" charset="-120"/>
              </a:rPr>
              <a:t>DNA</a:t>
            </a:r>
            <a:endParaRPr lang="en-US" sz="2400" dirty="0"/>
          </a:p>
        </p:txBody>
      </p:sp>
      <p:sp>
        <p:nvSpPr>
          <p:cNvPr id="7" name="Text 5"/>
          <p:cNvSpPr/>
          <p:nvPr/>
        </p:nvSpPr>
        <p:spPr>
          <a:xfrm>
            <a:off x="749808" y="3108960"/>
            <a:ext cx="1865376" cy="64008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Bioinformatics</a:t>
            </a:r>
            <a:endParaRPr lang="en-US" sz="1350" dirty="0"/>
          </a:p>
        </p:txBody>
      </p:sp>
      <p:sp>
        <p:nvSpPr>
          <p:cNvPr id="8" name="Text 6"/>
          <p:cNvSpPr/>
          <p:nvPr/>
        </p:nvSpPr>
        <p:spPr>
          <a:xfrm>
            <a:off x="749808" y="3794760"/>
            <a:ext cx="1865376" cy="1005840"/>
          </a:xfrm>
          <a:prstGeom prst="rect">
            <a:avLst/>
          </a:prstGeom>
          <a:noFill/>
          <a:ln/>
        </p:spPr>
        <p:txBody>
          <a:bodyPr wrap="square" lIns="0" tIns="0" rIns="0" bIns="0" rtlCol="0" anchor="t"/>
          <a:lstStyle/>
          <a:p>
            <a:pPr algn="ctr" indent="0" marL="0">
              <a:buNone/>
            </a:pPr>
            <a:r>
              <a:rPr lang="en-US" sz="1050" dirty="0">
                <a:solidFill>
                  <a:srgbClr val="9FC9C4"/>
                </a:solidFill>
                <a:latin typeface="Calibri" pitchFamily="34" charset="0"/>
                <a:ea typeface="Calibri" pitchFamily="34" charset="-122"/>
                <a:cs typeface="Calibri" pitchFamily="34" charset="-120"/>
              </a:rPr>
              <a:t>Sequence alignment</a:t>
            </a:r>
            <a:endParaRPr lang="en-US" sz="1050" dirty="0"/>
          </a:p>
        </p:txBody>
      </p:sp>
      <p:sp>
        <p:nvSpPr>
          <p:cNvPr id="9" name="Shape 7"/>
          <p:cNvSpPr/>
          <p:nvPr/>
        </p:nvSpPr>
        <p:spPr>
          <a:xfrm>
            <a:off x="2889504" y="1965960"/>
            <a:ext cx="2084832" cy="3017520"/>
          </a:xfrm>
          <a:prstGeom prst="roundRect">
            <a:avLst>
              <a:gd name="adj" fmla="val 3509"/>
            </a:avLst>
          </a:prstGeom>
          <a:solidFill>
            <a:srgbClr val="12393E"/>
          </a:solidFill>
          <a:ln/>
        </p:spPr>
      </p:sp>
      <p:sp>
        <p:nvSpPr>
          <p:cNvPr id="10" name="Shape 8"/>
          <p:cNvSpPr/>
          <p:nvPr/>
        </p:nvSpPr>
        <p:spPr>
          <a:xfrm>
            <a:off x="3611880" y="2286000"/>
            <a:ext cx="640080" cy="640080"/>
          </a:xfrm>
          <a:prstGeom prst="ellipse">
            <a:avLst/>
          </a:prstGeom>
          <a:solidFill>
            <a:srgbClr val="02C39A"/>
          </a:solidFill>
          <a:ln/>
        </p:spPr>
      </p:sp>
      <p:sp>
        <p:nvSpPr>
          <p:cNvPr id="11" name="Text 9"/>
          <p:cNvSpPr/>
          <p:nvPr/>
        </p:nvSpPr>
        <p:spPr>
          <a:xfrm>
            <a:off x="3611880" y="2286000"/>
            <a:ext cx="640080" cy="640080"/>
          </a:xfrm>
          <a:prstGeom prst="rect">
            <a:avLst/>
          </a:prstGeom>
          <a:noFill/>
          <a:ln/>
        </p:spPr>
        <p:txBody>
          <a:bodyPr wrap="square" lIns="0" tIns="0" rIns="0" bIns="0" rtlCol="0" anchor="ctr"/>
          <a:lstStyle/>
          <a:p>
            <a:pPr algn="ctr" indent="0" marL="0">
              <a:buNone/>
            </a:pPr>
            <a:r>
              <a:rPr lang="en-US" sz="2400" b="1" spc="-50" kern="0" dirty="0">
                <a:solidFill>
                  <a:srgbClr val="0B2E33"/>
                </a:solidFill>
                <a:latin typeface="Calibri" pitchFamily="34" charset="0"/>
                <a:ea typeface="Calibri" pitchFamily="34" charset="-122"/>
                <a:cs typeface="Calibri" pitchFamily="34" charset="-120"/>
              </a:rPr>
              <a:t>DIF</a:t>
            </a:r>
            <a:endParaRPr lang="en-US" sz="2400" dirty="0"/>
          </a:p>
        </p:txBody>
      </p:sp>
      <p:sp>
        <p:nvSpPr>
          <p:cNvPr id="12" name="Text 10"/>
          <p:cNvSpPr/>
          <p:nvPr/>
        </p:nvSpPr>
        <p:spPr>
          <a:xfrm>
            <a:off x="2999232" y="3108960"/>
            <a:ext cx="1865376" cy="64008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Version Control</a:t>
            </a:r>
            <a:endParaRPr lang="en-US" sz="1350" dirty="0"/>
          </a:p>
        </p:txBody>
      </p:sp>
      <p:sp>
        <p:nvSpPr>
          <p:cNvPr id="13" name="Text 11"/>
          <p:cNvSpPr/>
          <p:nvPr/>
        </p:nvSpPr>
        <p:spPr>
          <a:xfrm>
            <a:off x="2999232" y="3794760"/>
            <a:ext cx="1865376" cy="1005840"/>
          </a:xfrm>
          <a:prstGeom prst="rect">
            <a:avLst/>
          </a:prstGeom>
          <a:noFill/>
          <a:ln/>
        </p:spPr>
        <p:txBody>
          <a:bodyPr wrap="square" lIns="0" tIns="0" rIns="0" bIns="0" rtlCol="0" anchor="t"/>
          <a:lstStyle/>
          <a:p>
            <a:pPr algn="ctr" indent="0" marL="0">
              <a:buNone/>
            </a:pPr>
            <a:r>
              <a:rPr lang="en-US" sz="1050" dirty="0">
                <a:solidFill>
                  <a:srgbClr val="9FC9C4"/>
                </a:solidFill>
                <a:latin typeface="Calibri" pitchFamily="34" charset="0"/>
                <a:ea typeface="Calibri" pitchFamily="34" charset="-122"/>
                <a:cs typeface="Calibri" pitchFamily="34" charset="-120"/>
              </a:rPr>
              <a:t>Diff &amp; merge tools</a:t>
            </a:r>
            <a:endParaRPr lang="en-US" sz="1050" dirty="0"/>
          </a:p>
        </p:txBody>
      </p:sp>
      <p:sp>
        <p:nvSpPr>
          <p:cNvPr id="14" name="Shape 12"/>
          <p:cNvSpPr/>
          <p:nvPr/>
        </p:nvSpPr>
        <p:spPr>
          <a:xfrm>
            <a:off x="5138928" y="1965960"/>
            <a:ext cx="2084832" cy="3017520"/>
          </a:xfrm>
          <a:prstGeom prst="roundRect">
            <a:avLst>
              <a:gd name="adj" fmla="val 3509"/>
            </a:avLst>
          </a:prstGeom>
          <a:solidFill>
            <a:srgbClr val="12393E"/>
          </a:solidFill>
          <a:ln/>
        </p:spPr>
      </p:sp>
      <p:sp>
        <p:nvSpPr>
          <p:cNvPr id="15" name="Shape 13"/>
          <p:cNvSpPr/>
          <p:nvPr/>
        </p:nvSpPr>
        <p:spPr>
          <a:xfrm>
            <a:off x="5861304" y="2286000"/>
            <a:ext cx="640080" cy="640080"/>
          </a:xfrm>
          <a:prstGeom prst="ellipse">
            <a:avLst/>
          </a:prstGeom>
          <a:solidFill>
            <a:srgbClr val="02C39A"/>
          </a:solidFill>
          <a:ln/>
        </p:spPr>
      </p:sp>
      <p:sp>
        <p:nvSpPr>
          <p:cNvPr id="16" name="Text 14"/>
          <p:cNvSpPr/>
          <p:nvPr/>
        </p:nvSpPr>
        <p:spPr>
          <a:xfrm>
            <a:off x="5861304" y="2286000"/>
            <a:ext cx="640080" cy="640080"/>
          </a:xfrm>
          <a:prstGeom prst="rect">
            <a:avLst/>
          </a:prstGeom>
          <a:noFill/>
          <a:ln/>
        </p:spPr>
        <p:txBody>
          <a:bodyPr wrap="square" lIns="0" tIns="0" rIns="0" bIns="0" rtlCol="0" anchor="ctr"/>
          <a:lstStyle/>
          <a:p>
            <a:pPr algn="ctr" indent="0" marL="0">
              <a:buNone/>
            </a:pPr>
            <a:r>
              <a:rPr lang="en-US" sz="2400" b="1" spc="-50" kern="0" dirty="0">
                <a:solidFill>
                  <a:srgbClr val="0B2E33"/>
                </a:solidFill>
                <a:latin typeface="Calibri" pitchFamily="34" charset="0"/>
                <a:ea typeface="Calibri" pitchFamily="34" charset="-122"/>
                <a:cs typeface="Calibri" pitchFamily="34" charset="-120"/>
              </a:rPr>
              <a:t>TXT</a:t>
            </a:r>
            <a:endParaRPr lang="en-US" sz="2400" dirty="0"/>
          </a:p>
        </p:txBody>
      </p:sp>
      <p:sp>
        <p:nvSpPr>
          <p:cNvPr id="17" name="Text 15"/>
          <p:cNvSpPr/>
          <p:nvPr/>
        </p:nvSpPr>
        <p:spPr>
          <a:xfrm>
            <a:off x="5248656" y="3108960"/>
            <a:ext cx="1865376" cy="64008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Plagiarism Detection</a:t>
            </a:r>
            <a:endParaRPr lang="en-US" sz="1350" dirty="0"/>
          </a:p>
        </p:txBody>
      </p:sp>
      <p:sp>
        <p:nvSpPr>
          <p:cNvPr id="18" name="Text 16"/>
          <p:cNvSpPr/>
          <p:nvPr/>
        </p:nvSpPr>
        <p:spPr>
          <a:xfrm>
            <a:off x="5248656" y="3794760"/>
            <a:ext cx="1865376" cy="1005840"/>
          </a:xfrm>
          <a:prstGeom prst="rect">
            <a:avLst/>
          </a:prstGeom>
          <a:noFill/>
          <a:ln/>
        </p:spPr>
        <p:txBody>
          <a:bodyPr wrap="square" lIns="0" tIns="0" rIns="0" bIns="0" rtlCol="0" anchor="t"/>
          <a:lstStyle/>
          <a:p>
            <a:pPr algn="ctr" indent="0" marL="0">
              <a:buNone/>
            </a:pPr>
            <a:r>
              <a:rPr lang="en-US" sz="1050" dirty="0">
                <a:solidFill>
                  <a:srgbClr val="9FC9C4"/>
                </a:solidFill>
                <a:latin typeface="Calibri" pitchFamily="34" charset="0"/>
                <a:ea typeface="Calibri" pitchFamily="34" charset="-122"/>
                <a:cs typeface="Calibri" pitchFamily="34" charset="-120"/>
              </a:rPr>
              <a:t>Text similarity scoring</a:t>
            </a:r>
            <a:endParaRPr lang="en-US" sz="1050" dirty="0"/>
          </a:p>
        </p:txBody>
      </p:sp>
      <p:sp>
        <p:nvSpPr>
          <p:cNvPr id="19" name="Shape 17"/>
          <p:cNvSpPr/>
          <p:nvPr/>
        </p:nvSpPr>
        <p:spPr>
          <a:xfrm>
            <a:off x="7388352" y="1965960"/>
            <a:ext cx="2084832" cy="3017520"/>
          </a:xfrm>
          <a:prstGeom prst="roundRect">
            <a:avLst>
              <a:gd name="adj" fmla="val 3509"/>
            </a:avLst>
          </a:prstGeom>
          <a:solidFill>
            <a:srgbClr val="12393E"/>
          </a:solidFill>
          <a:ln/>
        </p:spPr>
      </p:sp>
      <p:sp>
        <p:nvSpPr>
          <p:cNvPr id="20" name="Shape 18"/>
          <p:cNvSpPr/>
          <p:nvPr/>
        </p:nvSpPr>
        <p:spPr>
          <a:xfrm>
            <a:off x="8110728" y="2286000"/>
            <a:ext cx="640080" cy="640080"/>
          </a:xfrm>
          <a:prstGeom prst="ellipse">
            <a:avLst/>
          </a:prstGeom>
          <a:solidFill>
            <a:srgbClr val="02C39A"/>
          </a:solidFill>
          <a:ln/>
        </p:spPr>
      </p:sp>
      <p:sp>
        <p:nvSpPr>
          <p:cNvPr id="21" name="Text 19"/>
          <p:cNvSpPr/>
          <p:nvPr/>
        </p:nvSpPr>
        <p:spPr>
          <a:xfrm>
            <a:off x="8110728" y="2286000"/>
            <a:ext cx="640080" cy="640080"/>
          </a:xfrm>
          <a:prstGeom prst="rect">
            <a:avLst/>
          </a:prstGeom>
          <a:noFill/>
          <a:ln/>
        </p:spPr>
        <p:txBody>
          <a:bodyPr wrap="square" lIns="0" tIns="0" rIns="0" bIns="0" rtlCol="0" anchor="ctr"/>
          <a:lstStyle/>
          <a:p>
            <a:pPr algn="ctr" indent="0" marL="0">
              <a:buNone/>
            </a:pPr>
            <a:r>
              <a:rPr lang="en-US" sz="2400" b="1" spc="-50" kern="0" dirty="0">
                <a:solidFill>
                  <a:srgbClr val="0B2E33"/>
                </a:solidFill>
                <a:latin typeface="Calibri" pitchFamily="34" charset="0"/>
                <a:ea typeface="Calibri" pitchFamily="34" charset="-122"/>
                <a:cs typeface="Calibri" pitchFamily="34" charset="-120"/>
              </a:rPr>
              <a:t>ABC</a:t>
            </a:r>
            <a:endParaRPr lang="en-US" sz="2400" dirty="0"/>
          </a:p>
        </p:txBody>
      </p:sp>
      <p:sp>
        <p:nvSpPr>
          <p:cNvPr id="22" name="Text 20"/>
          <p:cNvSpPr/>
          <p:nvPr/>
        </p:nvSpPr>
        <p:spPr>
          <a:xfrm>
            <a:off x="7498080" y="3108960"/>
            <a:ext cx="1865376" cy="64008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Spell Checking</a:t>
            </a:r>
            <a:endParaRPr lang="en-US" sz="1350" dirty="0"/>
          </a:p>
        </p:txBody>
      </p:sp>
      <p:sp>
        <p:nvSpPr>
          <p:cNvPr id="23" name="Text 21"/>
          <p:cNvSpPr/>
          <p:nvPr/>
        </p:nvSpPr>
        <p:spPr>
          <a:xfrm>
            <a:off x="7498080" y="3794760"/>
            <a:ext cx="1865376" cy="1005840"/>
          </a:xfrm>
          <a:prstGeom prst="rect">
            <a:avLst/>
          </a:prstGeom>
          <a:noFill/>
          <a:ln/>
        </p:spPr>
        <p:txBody>
          <a:bodyPr wrap="square" lIns="0" tIns="0" rIns="0" bIns="0" rtlCol="0" anchor="t"/>
          <a:lstStyle/>
          <a:p>
            <a:pPr algn="ctr" indent="0" marL="0">
              <a:buNone/>
            </a:pPr>
            <a:r>
              <a:rPr lang="en-US" sz="1050" dirty="0">
                <a:solidFill>
                  <a:srgbClr val="9FC9C4"/>
                </a:solidFill>
                <a:latin typeface="Calibri" pitchFamily="34" charset="0"/>
                <a:ea typeface="Calibri" pitchFamily="34" charset="-122"/>
                <a:cs typeface="Calibri" pitchFamily="34" charset="-120"/>
              </a:rPr>
              <a:t>Fuzzy word matching</a:t>
            </a:r>
            <a:endParaRPr lang="en-US" sz="1050" dirty="0"/>
          </a:p>
        </p:txBody>
      </p:sp>
      <p:sp>
        <p:nvSpPr>
          <p:cNvPr id="24" name="Shape 22"/>
          <p:cNvSpPr/>
          <p:nvPr/>
        </p:nvSpPr>
        <p:spPr>
          <a:xfrm>
            <a:off x="9637776" y="1965960"/>
            <a:ext cx="2084832" cy="3017520"/>
          </a:xfrm>
          <a:prstGeom prst="roundRect">
            <a:avLst>
              <a:gd name="adj" fmla="val 3509"/>
            </a:avLst>
          </a:prstGeom>
          <a:solidFill>
            <a:srgbClr val="12393E"/>
          </a:solidFill>
          <a:ln/>
        </p:spPr>
      </p:sp>
      <p:sp>
        <p:nvSpPr>
          <p:cNvPr id="25" name="Shape 23"/>
          <p:cNvSpPr/>
          <p:nvPr/>
        </p:nvSpPr>
        <p:spPr>
          <a:xfrm>
            <a:off x="10360152" y="2286000"/>
            <a:ext cx="640080" cy="640080"/>
          </a:xfrm>
          <a:prstGeom prst="ellipse">
            <a:avLst/>
          </a:prstGeom>
          <a:solidFill>
            <a:srgbClr val="02C39A"/>
          </a:solidFill>
          <a:ln/>
        </p:spPr>
      </p:sp>
      <p:sp>
        <p:nvSpPr>
          <p:cNvPr id="26" name="Text 24"/>
          <p:cNvSpPr/>
          <p:nvPr/>
        </p:nvSpPr>
        <p:spPr>
          <a:xfrm>
            <a:off x="10360152" y="2286000"/>
            <a:ext cx="640080" cy="640080"/>
          </a:xfrm>
          <a:prstGeom prst="rect">
            <a:avLst/>
          </a:prstGeom>
          <a:noFill/>
          <a:ln/>
        </p:spPr>
        <p:txBody>
          <a:bodyPr wrap="square" lIns="0" tIns="0" rIns="0" bIns="0" rtlCol="0" anchor="ctr"/>
          <a:lstStyle/>
          <a:p>
            <a:pPr algn="ctr" indent="0" marL="0">
              <a:buNone/>
            </a:pPr>
            <a:r>
              <a:rPr lang="en-US" sz="2400" b="1" spc="-50" kern="0" dirty="0">
                <a:solidFill>
                  <a:srgbClr val="0B2E33"/>
                </a:solidFill>
                <a:latin typeface="Calibri" pitchFamily="34" charset="0"/>
                <a:ea typeface="Calibri" pitchFamily="34" charset="-122"/>
                <a:cs typeface="Calibri" pitchFamily="34" charset="-120"/>
              </a:rPr>
              <a:t>SYN</a:t>
            </a:r>
            <a:endParaRPr lang="en-US" sz="2400" dirty="0"/>
          </a:p>
        </p:txBody>
      </p:sp>
      <p:sp>
        <p:nvSpPr>
          <p:cNvPr id="27" name="Text 25"/>
          <p:cNvSpPr/>
          <p:nvPr/>
        </p:nvSpPr>
        <p:spPr>
          <a:xfrm>
            <a:off x="9747504" y="3108960"/>
            <a:ext cx="1865376" cy="64008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Data Sync</a:t>
            </a:r>
            <a:endParaRPr lang="en-US" sz="1350" dirty="0"/>
          </a:p>
        </p:txBody>
      </p:sp>
      <p:sp>
        <p:nvSpPr>
          <p:cNvPr id="28" name="Text 26"/>
          <p:cNvSpPr/>
          <p:nvPr/>
        </p:nvSpPr>
        <p:spPr>
          <a:xfrm>
            <a:off x="9747504" y="3794760"/>
            <a:ext cx="1865376" cy="1005840"/>
          </a:xfrm>
          <a:prstGeom prst="rect">
            <a:avLst/>
          </a:prstGeom>
          <a:noFill/>
          <a:ln/>
        </p:spPr>
        <p:txBody>
          <a:bodyPr wrap="square" lIns="0" tIns="0" rIns="0" bIns="0" rtlCol="0" anchor="t"/>
          <a:lstStyle/>
          <a:p>
            <a:pPr algn="ctr" indent="0" marL="0">
              <a:buNone/>
            </a:pPr>
            <a:r>
              <a:rPr lang="en-US" sz="1050" dirty="0">
                <a:solidFill>
                  <a:srgbClr val="9FC9C4"/>
                </a:solidFill>
                <a:latin typeface="Calibri" pitchFamily="34" charset="0"/>
                <a:ea typeface="Calibri" pitchFamily="34" charset="-122"/>
                <a:cs typeface="Calibri" pitchFamily="34" charset="-120"/>
              </a:rPr>
              <a:t>Minimal-transfer updates</a:t>
            </a:r>
            <a:endParaRPr lang="en-US" sz="1050" dirty="0"/>
          </a:p>
        </p:txBody>
      </p:sp>
      <p:sp>
        <p:nvSpPr>
          <p:cNvPr id="29" name="Text 27"/>
          <p:cNvSpPr/>
          <p:nvPr/>
        </p:nvSpPr>
        <p:spPr>
          <a:xfrm>
            <a:off x="640080" y="5349240"/>
            <a:ext cx="10881360" cy="822960"/>
          </a:xfrm>
          <a:prstGeom prst="rect">
            <a:avLst/>
          </a:prstGeom>
          <a:noFill/>
          <a:ln/>
        </p:spPr>
        <p:txBody>
          <a:bodyPr wrap="square" lIns="0" tIns="0" rIns="0" bIns="0" rtlCol="0" anchor="t"/>
          <a:lstStyle/>
          <a:p>
            <a:pPr indent="0" marL="0">
              <a:lnSpc>
                <a:spcPct val="125000"/>
              </a:lnSpc>
              <a:buNone/>
            </a:pPr>
            <a:r>
              <a:rPr lang="en-US" sz="1300" dirty="0">
                <a:solidFill>
                  <a:srgbClr val="9FC9C4"/>
                </a:solidFill>
                <a:latin typeface="Calibri" pitchFamily="34" charset="0"/>
                <a:ea typeface="Calibri" pitchFamily="34" charset="-122"/>
                <a:cs typeface="Calibri" pitchFamily="34" charset="-120"/>
              </a:rPr>
              <a:t>The recurring pattern: </a:t>
            </a:r>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model the data as ordered sequences, compute LCS (or a domain-tuned variant) in O(mn) time, then use the aligned/common portion to answer the real question.</a:t>
            </a:r>
            <a:endParaRPr lang="en-US" sz="1300" dirty="0"/>
          </a:p>
        </p:txBody>
      </p:sp>
      <p:sp>
        <p:nvSpPr>
          <p:cNvPr id="30" name="Text 28"/>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9FC9C4"/>
                </a:solidFill>
                <a:latin typeface="Calibri" pitchFamily="34" charset="0"/>
                <a:ea typeface="Calibri" pitchFamily="34" charset="-122"/>
                <a:cs typeface="Calibri" pitchFamily="34" charset="-120"/>
              </a:rPr>
              <a:t>Algorithms in Practice</a:t>
            </a:r>
            <a:endParaRPr lang="en-US" sz="900" dirty="0"/>
          </a:p>
        </p:txBody>
      </p:sp>
      <p:sp>
        <p:nvSpPr>
          <p:cNvPr id="31" name="Text 2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FC9C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2026-08-21T01:32:32Z</dcterms:created>
  <dcterms:modified xsi:type="dcterms:W3CDTF">2026-08-21T01:32:32Z</dcterms:modified>
</cp:coreProperties>
</file>