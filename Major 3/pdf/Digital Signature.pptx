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4012-8D60-4A84-8C4F-E851A4A2B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60702-2710-B924-099F-480ECD3D7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3B179-17D2-0277-24ED-D8880640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0EEF3-088B-D92C-9B4B-39CC3D978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19961-F110-23BD-51F9-EB5837252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48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3304B-8CA4-030C-56F0-C6F03E29C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7621-823E-3093-348E-64FB555BA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230E8-7D3F-B924-7A03-E12FFB786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1E72A-EF9C-3FC7-56AF-FCFBCC64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D0C0-4572-225E-CBEA-5AC35D83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67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ADA86-8F14-5E9D-9789-01046A7C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F0A35-2985-F5C0-3FDF-4936A60F7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C7E40-6BC2-B28C-26B3-C793FD92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2374F-A0C5-21EF-532A-7DA9B9D0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C3409-6724-52F8-32B1-E983537C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5891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804E-5579-B802-2B12-D84AB7AF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B6EEB-5145-D2B4-33C6-99D72AF4E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DF7A0-00B8-BBA1-307D-87EB1B562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B6E0A-8100-A751-06BC-A0CF91B2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B0C82-D334-BE38-4462-05D56C9D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0E4F3-5A47-545E-AC81-A5AC5F556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81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40820-FA1F-AA82-3DA8-21FFFFE1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F3604-B8F5-5601-9EB2-F0A27D818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F6E39-5221-7F17-ED8A-1AC53695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A721E6-6D74-C96C-E997-7760BA3BE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E4AA1-3B61-1325-6A7E-AF07B9A54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E177B7-BF67-0219-800D-45159A59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665C8E-1B50-6936-B14D-A0440933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77297-D217-9D3C-BC26-7AC327B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79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BF49-FF31-13D6-E230-86DB4C7E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E3F08-F76F-132C-3C1C-5CE2926AD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91086-EC49-C2F5-0AF0-B4E658E4D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BC3C3-4786-093A-4684-2C073EBA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12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E65E66-E449-7D62-E121-65E21801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EC668-14D7-7506-2728-9EE4EC5F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F9212-53D3-BA73-B2E3-C4E5353D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91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2620-2670-449B-8931-FC9C1870E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BBBD1-7EA5-FB3B-F86C-1F618B6C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785FA-CF0D-B88D-0998-CD26CABAC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D614B-B7B2-9545-F15E-2A410B866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8B6E4-2CF1-D783-BF99-D888298A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E3137-610F-9B7F-B6AB-1B57B839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861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352C-65BE-983D-84D0-D2B3AD70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81EF61-DDBC-FD50-3735-EC426EEE4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6A3F8-17C0-F530-DA9E-14E032AF2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C909C-A828-5263-6255-C203D73E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43EAA-D574-960B-B2F4-882CB228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3D382-AD10-778A-20F8-563E5E39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40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228B-27AC-63CD-1EBF-ACB136E2A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784DC-FEE9-04EE-4131-7F0CB19FF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A5769-BD6C-FE5D-FF51-62518FB4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7F981-AAC2-A26F-1E57-CE1C12A15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2DC7B-3B01-84B4-8449-90791BF0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547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D264F-1AE9-297E-D78C-D4475A289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3C9D9-1B16-E0C2-6D27-32687FD5F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4A1DB-5433-0B5A-1EC0-E02DDFB1F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B3533-CCDB-B0D7-10FE-43B04C7A7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2D28-B843-BC91-0630-F5D2AB51B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72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6A2FE7-9BB3-E15D-F0AF-F409E8CCB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59C42-7FFA-FA9E-45B5-1E566A9BA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E7D31-3236-6E22-53EE-EE040541F9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594E0-642A-4675-A4C4-059D36F91831}" type="datetimeFigureOut">
              <a:rPr lang="en-IN" smtClean="0"/>
              <a:t>14-08-2026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62D54-1810-8068-7FFD-28B7AC259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B8FBC-CAC9-70DD-CDCA-33029DDF1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B4F82-A3B0-42A7-859C-575A8E0036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20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3FD9-2AA7-9894-23BD-564C693DD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40449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EF48-ADFB-C958-1DBB-499A51F93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608C3-DEC7-EB80-1C9A-F67B84291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864"/>
            <a:ext cx="10515600" cy="4979099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cryptographic method used to verify that a digital document, message, or file is authentic, has not been altered, and was signed by the claimed sender.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Signing a document or a cheque.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digital signature: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Confirms the identity of the sender.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the document has not been modified after signing.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Prevents the sender from denying that he signed the document.</a:t>
            </a:r>
          </a:p>
          <a:p>
            <a:pPr marL="0" indent="0" algn="just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2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FAF93-1CDB-E2A1-FD10-61637B221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Signature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4BE3A-9190-2EEC-AEF3-11048853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360" y="1778778"/>
            <a:ext cx="4696480" cy="158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74A8EE-2568-E2EE-F6D8-6D9B04176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404" y="1778778"/>
            <a:ext cx="5334744" cy="18195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E98B1E-0A00-0ADA-35B5-9F924537148A}"/>
              </a:ext>
            </a:extLst>
          </p:cNvPr>
          <p:cNvSpPr txBox="1"/>
          <p:nvPr/>
        </p:nvSpPr>
        <p:spPr>
          <a:xfrm>
            <a:off x="838200" y="4033267"/>
            <a:ext cx="10515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needs a public-key system. The signer signs with its private key, the verifier verifies with the signer’s public key.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cryptosystem uses the private and public keys of the receiver. Whereas a digital signature uses the private and public keys of the sender.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80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F77C-D25C-ECD0-A95F-04FECA8A0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Conventional Signature &amp; Digital Signature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BC3B8F-8A5E-811B-69ED-511897DBE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339522"/>
              </p:ext>
            </p:extLst>
          </p:nvPr>
        </p:nvGraphicFramePr>
        <p:xfrm>
          <a:off x="1459992" y="1463360"/>
          <a:ext cx="9272016" cy="441334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487496382"/>
                    </a:ext>
                  </a:extLst>
                </a:gridCol>
                <a:gridCol w="3832420">
                  <a:extLst>
                    <a:ext uri="{9D8B030D-6E8A-4147-A177-3AD203B41FA5}">
                      <a16:colId xmlns:a16="http://schemas.microsoft.com/office/drawing/2014/main" val="793619410"/>
                    </a:ext>
                  </a:extLst>
                </a:gridCol>
                <a:gridCol w="3830252">
                  <a:extLst>
                    <a:ext uri="{9D8B030D-6E8A-4147-A177-3AD203B41FA5}">
                      <a16:colId xmlns:a16="http://schemas.microsoft.com/office/drawing/2014/main" val="3930249224"/>
                    </a:ext>
                  </a:extLst>
                </a:gridCol>
              </a:tblGrid>
              <a:tr h="161161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Conventional Signature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Signature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521200013"/>
                  </a:ext>
                </a:extLst>
              </a:tr>
              <a:tr h="644643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Inclusion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signature is included in the document. It is physically part of the document. For example, a handwritten signature on a cheque.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signature is separate from the message/document. The sender sends the message and the digital signature as separate components.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721218823"/>
                  </a:ext>
                </a:extLst>
              </a:tr>
              <a:tr h="644643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Verification Method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recipient verifies the signature by visually comparing it with a known/authenticated copy of the sender's signature.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recipient verifies the signature using a cryptographic verification technique, typically using the sender's public key and the received message.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904479142"/>
                  </a:ext>
                </a:extLst>
              </a:tr>
              <a:tr h="886384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Relationship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normally a one-to-many relationship between a signature and documents. The same handwritten signature can be used to sign many different documents.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a one-to-one relationship between a digital signature and a message. A signature generated for one message cannot normally be reused to authenticate another message.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594998142"/>
                  </a:ext>
                </a:extLst>
              </a:tr>
              <a:tr h="1369866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Duplicity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copy of the signed document can be distinguished from the original document on file. Thus, the original and a photocopy are distinguishable.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There is generally no inherent distinction between an original and a copy of a digitally signed document. A digital copy can be identical to the original. Therefore, additional mechanisms such as a timestamp, transaction number, or unique identifier may be required to prevent replay/duplication.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431211257"/>
                  </a:ext>
                </a:extLst>
              </a:tr>
              <a:tr h="644643">
                <a:tc>
                  <a:txBody>
                    <a:bodyPr/>
                    <a:lstStyle/>
                    <a:p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 signs a paper cheque with a pen. The signature is physically present on the cheque.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 signs an electronic payment message using her private key. Bob receives the message along with its digital signature and verifies it using Alice's public key.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817279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94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25C5-EDBC-D27D-2901-0BC19DED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3856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 &amp; Digital Signature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9EC1-69D2-1D4C-74F0-3EA515619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008"/>
            <a:ext cx="10515600" cy="487851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Authentication: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provides message authentication, also called data-origin authentication.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the receiver to verify that the message was actually sent by the claimed sender.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signature created using Eve's private key cannot normally be verified using Alice's public key.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Integrity: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provides message integrity.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the message has not been modified after it was signed.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 value changes if even a small part of the message is modified.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modified message will fail signature verification.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09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E20BE-D364-409E-1C76-A461400F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 &amp; Digital Signature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171D9-E371-CBBE-CAE3-7303D1D9F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8969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Nonrepudiation: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can provide nonrepudiation, meaning that a sender cannot easily deny having signed a message.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a basic digital signature scheme alone may not be sufficient for strong nonrepudiation. (If sender changes keys later)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E86B5-5C87-99FB-506C-90DF8FD25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36" y="2504754"/>
            <a:ext cx="4515480" cy="2505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596A02-2A63-77CB-0FE3-66BBAD9F2B41}"/>
              </a:ext>
            </a:extLst>
          </p:cNvPr>
          <p:cNvSpPr txBox="1"/>
          <p:nvPr/>
        </p:nvSpPr>
        <p:spPr>
          <a:xfrm>
            <a:off x="5421216" y="2304253"/>
            <a:ext cx="609447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Trusted-center: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 signs the message using her private key.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 sends the message, her signature, and her identity to the trusted center.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trusted center verifies Alice's signature using Alice's public key.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trusted center stores the message, sender identity, recipient identity, and timestamp.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trusted center creates its own signature over the message.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trusted center sends the message and its signature to Bob.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Bob verifies the trusted center's signature using the trusted center's public key.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Alice later denies sending the message, the trusted center can provide the stored record and evidence of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366189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F1562-B261-AE0E-E8D4-B05259A9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Services &amp; Digital Signature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25CD4-1E69-7576-7583-D0C998836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336"/>
            <a:ext cx="10515600" cy="46316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protects authentication and integrity, but it does not hide the contents of the message.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confidentiality is required, encryption must additionally be applied.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does not provide confidentiality.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signature provides message authentication, message integrity, and can support nonrepudiation, but it does not provide confidentiality; encryption must be added when privacy is required.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43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A4BB-807C-2265-48CE-77D976A0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Digital Signature Scheme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749148-C789-CD5B-79C6-539D593AF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384" y="1767118"/>
            <a:ext cx="5123772" cy="1976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5C93C-D54C-2964-D591-4FDB845A6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0162"/>
            <a:ext cx="4629796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260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1BA5-4C2B-E377-10D5-54CB42599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 Digital Signature Scheme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5C17EA-0F94-A25C-9AF5-0EB586580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883395"/>
              </p:ext>
            </p:extLst>
          </p:nvPr>
        </p:nvGraphicFramePr>
        <p:xfrm>
          <a:off x="1691640" y="1307592"/>
          <a:ext cx="9125711" cy="38797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621638008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1460800782"/>
                    </a:ext>
                  </a:extLst>
                </a:gridCol>
                <a:gridCol w="3282695">
                  <a:extLst>
                    <a:ext uri="{9D8B030D-6E8A-4147-A177-3AD203B41FA5}">
                      <a16:colId xmlns:a16="http://schemas.microsoft.com/office/drawing/2014/main" val="133102453"/>
                    </a:ext>
                  </a:extLst>
                </a:gridCol>
              </a:tblGrid>
              <a:tr h="1983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Signature on Entire Message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Signature on Message Digest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3522362275"/>
                  </a:ext>
                </a:extLst>
              </a:tr>
              <a:tr h="233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to RSA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Entire message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Hash/message digest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240614823"/>
                  </a:ext>
                </a:extLst>
              </a:tr>
              <a:tr h="427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 size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by RSA block/modulus constraints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handle very large messages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144606355"/>
                  </a:ext>
                </a:extLst>
              </a:tr>
              <a:tr h="233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Efficiency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for large messages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efficient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1476158014"/>
                  </a:ext>
                </a:extLst>
              </a:tr>
              <a:tr h="427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computation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Potentially repeated/awkward for large data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operates on a small fixed-size encoded digest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1338346070"/>
                  </a:ext>
                </a:extLst>
              </a:tr>
              <a:tr h="233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function required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necessarily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2034603798"/>
                  </a:ext>
                </a:extLst>
              </a:tr>
              <a:tr h="427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Integrity protection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Directly represents the message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detects changes to the message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4131848692"/>
                  </a:ext>
                </a:extLst>
              </a:tr>
              <a:tr h="233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Signature size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Determined by RSA modulus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Determined by RSA modulus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3245367456"/>
                  </a:ext>
                </a:extLst>
              </a:tr>
              <a:tr h="2338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large files</a:t>
                      </a:r>
                      <a:endParaRPr lang="en-IN" sz="1600" b="1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Impractical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</a:t>
                      </a:r>
                      <a:endParaRPr lang="en-IN" sz="16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2170914802"/>
                  </a:ext>
                </a:extLst>
              </a:tr>
              <a:tr h="4270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use</a:t>
                      </a:r>
                      <a:endParaRPr lang="en-IN" sz="1600" b="1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 not recommended as raw RSA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 approach</a:t>
                      </a:r>
                      <a:endParaRPr lang="en-IN" sz="16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168" marR="50168" marT="25084" marB="25084" anchor="ctr"/>
                </a:tc>
                <a:extLst>
                  <a:ext uri="{0D108BD9-81ED-4DB2-BD59-A6C34878D82A}">
                    <a16:rowId xmlns:a16="http://schemas.microsoft.com/office/drawing/2014/main" val="3204871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77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883</Words>
  <Application>Microsoft Office PowerPoint</Application>
  <PresentationFormat>Widescreen</PresentationFormat>
  <Paragraphs>92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Digital Signature</vt:lpstr>
      <vt:lpstr>Introduction</vt:lpstr>
      <vt:lpstr>Digital Signature Process</vt:lpstr>
      <vt:lpstr>Difference between Conventional Signature &amp; Digital Signature</vt:lpstr>
      <vt:lpstr>Security Services &amp; Digital Signature</vt:lpstr>
      <vt:lpstr>Security Services &amp; Digital Signature</vt:lpstr>
      <vt:lpstr>Security Services &amp; Digital Signature</vt:lpstr>
      <vt:lpstr>RSA Digital Signature Scheme</vt:lpstr>
      <vt:lpstr>RSA Digital Signature Scheme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GAMING-PC</dc:creator>
  <cp:lastModifiedBy>GAMING-PC</cp:lastModifiedBy>
  <cp:revision>13</cp:revision>
  <dcterms:created xsi:type="dcterms:W3CDTF">2026-08-14T03:55:50Z</dcterms:created>
  <dcterms:modified xsi:type="dcterms:W3CDTF">2026-08-14T11:21:33Z</dcterms:modified>
</cp:coreProperties>
</file>