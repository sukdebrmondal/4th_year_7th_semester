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4D8A-CF58-E731-647C-353775B39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54ECF-354D-E9D5-6A93-95D998F66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B61F2-B5DF-2325-90F2-C0CAE355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9F2C-AA60-9F39-9A9D-FB2D0649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D49C7-6D2E-5CE5-1A5A-55EE5933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2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1C47-A626-9941-E8D2-E42856A8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0286-D3B6-C673-0262-BF32180DF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61940-1EAB-44BB-09A9-813FCB1F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AFA0-BBF2-11EF-6FF9-78FD1FB3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50CF-DA42-53D8-3897-06532262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09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5B14-846D-0672-3EA8-021CD844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763CC-DBD2-6409-8B01-884AD3F2D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E4233-2875-8B01-65C9-843B7C15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49266-E345-3724-E7AD-BEAB5673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75AA-D161-6420-43DF-69A59C9D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64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54E5-1A3B-F3AF-BDF5-D483EFD0F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D4D1-9A54-417C-18B3-3E571463A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A2894-D080-9181-E693-9EF09FFE4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C0FFD-0671-096F-96DA-6217AF45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4C9DE-2638-E980-F5C3-E86C9BD3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CE553-A07E-47A4-42D9-9366DB77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88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12C2D-7D63-3D50-1ADF-70CE15DCB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14D47-0E50-BCD5-E374-317C2532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FC9EB-4DDB-C7D2-40DC-61801DEE7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413C5-2694-F936-D159-1F01A78E4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25AFD0-6D14-20D3-EAE9-B1248872F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99005-544D-B042-DBA2-17C973584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31737-37A7-1C5D-076D-D040662F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7A718-2483-8FA0-DA55-D6B0FF86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2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5446F-255D-914F-B83E-E098A90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8C039-35DE-44D7-6CBF-8EDC36AC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2F35A-7FF3-5B42-ED97-2FA7530A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E300B-00E5-F4DE-F523-C5BE66A8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7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28ECA-7AFB-3BAE-FB65-F7863CC4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AE9C6-B1BF-45D5-5468-54EE9C27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B990A-56ED-C074-3030-58D55684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7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67DE-C15B-2240-72EC-FEDB8B46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CC19-DC5B-30FC-1B66-C6D516AF1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4A551-94EA-D9A6-5867-5D3E3775A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76930-EB1A-CB95-7A89-FA097E9F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D258-6E3B-E526-311D-312BF434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C398C-58A4-7E3F-FE35-FA93F6A6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25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AABD-083E-ABEB-70F8-A2B4AFF3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88798-A47A-59AC-96F0-9266FDE04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2F046-FECB-0F64-6687-AE8DF8315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6782D-5C13-8EEE-E4BF-85C6716C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D9305-47F3-A846-A2AC-BEFCDACB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ECFCA-8429-914C-6EA6-9F205322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54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08B9-9120-7295-81D5-D53516E1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886B1-0EC5-8423-8A45-155EC9F12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66708-9D37-CA66-F2CB-6489F5C8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3CB1-1466-6D2A-5379-E1136FDD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3DC13-1C1A-AC9A-2A76-F7111645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6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CBB60-9FAA-38E6-8BB4-A2E8555B8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B2177-B9ED-0C94-C8F0-4183ACFED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C1727-14E1-14DA-4952-9C235845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11E7-85EE-3C9A-60B2-B4B8B309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E1502-BFDE-A71A-9744-C69EC82C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0FA9E-90FB-3AEB-3D4A-4265267D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7630-223F-DF43-2198-2F17FBDDF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EECA3-990B-AF9B-D70F-171A2E4E9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49A73-1F93-4CCD-B34C-3F77CE5F55D2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55F5A-CF52-9D3C-2E24-65A10C7C4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2B42A-9BA5-561B-5D77-56E821CFF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F09B2-CB8C-4138-B5D3-220CF38888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9864-AB82-6F1B-F0EE-CA869F744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51AFA-3912-C0E8-CF0E-0703457CAA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31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8193-C92B-9BC3-B4A6-24F1547E6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6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7E00-8353-043F-9462-C559E9358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134547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positive integers, a and b,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 prime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coprime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(a, b) = 1.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Euler’s Phi-Function/ Euler’s totient function φ(n):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finds the number of integers that are both smaller than n and relatively prime to n. The set Z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contains the numbers that are smaller than n and relatively prime to n. The function φ(n) calculates the number of elements in this set. The following helps to find the value of φ(n).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φ(1) = 0.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φ(p) = p − 1 if p is a prime.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φ(m × n) = φ(m) × φ(n) if m and n are relatively prime.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 φ(p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p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p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e−1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 is a prime.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difficulty of finding φ(n) depends on the difficulty of finding the factorization of 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value of φ(13)?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Because 13 is a prime, φ(13) = (13 −1) = 12.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value of φ(10)?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Using third rule: φ(10) = φ(2) × φ(5) = 1 × 4 = 4, because 2 and 5 are primes.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value of φ(240)?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240 =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Then φ(240) = (2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(3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× (5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64.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say that φ(49) = φ(7) × φ(7) = 6 × 6 = 36?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No. The third rule applies when m and n are relatively prime. Here 49 = 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So, using fourth rule: φ(49) = 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42.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number of elements in Z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*?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answer is φ(14) = φ(7) × φ(2) = 6 × 1 = 6. The members are 1, 3, 5, 9, 11, and 13.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83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C444-3E96-C3C9-4D8E-10C694B2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E5A7-4D58-DB67-BE96-8AB75D3D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6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41ABC-9030-F31A-DC8E-7F1932A09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13454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Multiplicative Inverse: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Z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two numbers a and b are the multiplicative inverse of each other if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 × b ≡ 1 (mod n).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modular arithmetic, an integer may or may not have a multiplicative inverse.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has a multiplicative inverse in Z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1. In this case, a and n are said to be relatively prime.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multiplicative inverse of 8 in Z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There is no multiplicative inverse because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(10, 8) = 2 ≠ 1.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all multiplicative inverses in Z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There are only three pairs: (1, 1), (3, 7) and (9, 9). The numbers 0, 2, 4, 5, 6, and 8 do not have a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multiplicative inverse.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2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EEFF-948E-EEED-3DCB-EE9F1CB7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933B-79A0-5F72-D127-21FF2395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6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5B43-D8C2-00D1-6857-8CDD8CB1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13454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Euclidean Algorithm for finding Multiplicative Inverse: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interested only in the value of t. t1 is the multiplicative inverse.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multiplicative inverse of 11 in Z</a:t>
            </a:r>
            <a:r>
              <a:rPr 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(26, 11) is 1, which means that the multiplicative inverse of 11 exists. The extended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Euclidean algorithm gives t1 = −7. The multiplicative inverse is (−7) mod 26 = 19. In other words,      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19 are multiplicative inverse in Z26. We can see that (11 × 19) mod 26 = 209 mod 26 = 1.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3C3CC-82C7-257B-B8CB-B42EEC126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516" y="1042416"/>
            <a:ext cx="2467319" cy="286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F1D17-EBC2-B7DB-0E54-FBFC36717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65" y="2194561"/>
            <a:ext cx="3734321" cy="161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1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F097-6BE6-2085-D582-8014A160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3587-CAA6-3892-3BEE-80D31EE1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6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E4FC-418B-897C-BA9F-D6DEB3828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134547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Exponentiation Algorithm: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31DD8-E516-5C8F-76BB-649598156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58" y="1413719"/>
            <a:ext cx="6477904" cy="2457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76233D-8EBD-9BED-4893-7A2D4632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59" y="4185960"/>
            <a:ext cx="6477904" cy="1991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B7372C-4ADD-8B90-3507-0F4BB22AD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591" y="3893607"/>
            <a:ext cx="1952898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9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9120-7A07-3194-D47D-6DC79709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A5DD-4670-A50A-9520-D573BE8C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65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CE24-947E-DADB-7CCA-81CB91DEF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416"/>
            <a:ext cx="10515600" cy="51345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 is large, the function y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 n is a trapdoor one-way function.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Given x, k, and n, it is easy to calculate y using the fast exponential algorithm.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Given y, k, and n, it is very difficult to calculate x. This is the discrete logarithm problem. There is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no a polynomial time solution to the f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in this case. However, if we know the trapdoor, k′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such that k × k′ = 1 mod φ(n), we can use x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 n to find x.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476F0-114A-C446-18C2-2D92E797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18" y="1042416"/>
            <a:ext cx="8766330" cy="1409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179807-36EF-F531-7EEC-2B738147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07" y="2523999"/>
            <a:ext cx="8588389" cy="97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42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4771-494D-C9AE-B038-66C3DA2E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Cryptosystem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A753B0-BF04-7E14-9D1E-C4C995386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1784" y="1970539"/>
            <a:ext cx="6668431" cy="218152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B2F401-87F9-4C79-BD2B-407DBDFE08C1}"/>
              </a:ext>
            </a:extLst>
          </p:cNvPr>
          <p:cNvSpPr txBox="1"/>
          <p:nvPr/>
        </p:nvSpPr>
        <p:spPr>
          <a:xfrm>
            <a:off x="3048761" y="41520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operations in RSA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186AC-E448-5D8F-126A-F5B061A8D926}"/>
              </a:ext>
            </a:extLst>
          </p:cNvPr>
          <p:cNvSpPr txBox="1"/>
          <p:nvPr/>
        </p:nvSpPr>
        <p:spPr>
          <a:xfrm>
            <a:off x="2935224" y="1481984"/>
            <a:ext cx="6494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Ron Rivest, Adi Shamir, and Leonard Adleman in 1977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40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43B5-DB84-EA9B-6269-72AB8292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288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48249B-DF4C-793C-3CAB-534C415F9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8326" y="1142683"/>
            <a:ext cx="6458851" cy="274358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2211A9-1A68-26CD-8BE7-76BA1EB2D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40" y="4277592"/>
            <a:ext cx="5268060" cy="122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620537-5263-7CFF-1938-63EA7E779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58" y="4306170"/>
            <a:ext cx="5601482" cy="12003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2B44EC-3EF6-1BB3-374E-604BBB9DCB42}"/>
              </a:ext>
            </a:extLst>
          </p:cNvPr>
          <p:cNvSpPr txBox="1"/>
          <p:nvPr/>
        </p:nvSpPr>
        <p:spPr>
          <a:xfrm>
            <a:off x="8900639" y="2580408"/>
            <a:ext cx="2194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d×e≡1(mod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ϕ(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n))</a:t>
            </a:r>
          </a:p>
        </p:txBody>
      </p:sp>
    </p:spTree>
    <p:extLst>
      <p:ext uri="{BB962C8B-B14F-4D97-AF65-F5344CB8AC3E}">
        <p14:creationId xmlns:p14="http://schemas.microsoft.com/office/powerpoint/2010/main" val="340259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6114-CAEF-50D0-A5CA-6DC584FE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Proof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B8970-029D-204D-3FEC-870C68B61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8174" y="1325563"/>
            <a:ext cx="4788816" cy="4851400"/>
          </a:xfrm>
        </p:spPr>
      </p:pic>
    </p:spTree>
    <p:extLst>
      <p:ext uri="{BB962C8B-B14F-4D97-AF65-F5344CB8AC3E}">
        <p14:creationId xmlns:p14="http://schemas.microsoft.com/office/powerpoint/2010/main" val="9598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7320-68AF-53E7-D876-690DBA9D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554B-1D87-3009-3451-EDF2FB8E8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344"/>
            <a:ext cx="10515600" cy="495261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Consider: p=61, q=53, message, P = m. Execute RSA.</a:t>
            </a:r>
          </a:p>
        </p:txBody>
      </p:sp>
    </p:spTree>
    <p:extLst>
      <p:ext uri="{BB962C8B-B14F-4D97-AF65-F5344CB8AC3E}">
        <p14:creationId xmlns:p14="http://schemas.microsoft.com/office/powerpoint/2010/main" val="337519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879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RSA Algorithm</vt:lpstr>
      <vt:lpstr>Preliminaries</vt:lpstr>
      <vt:lpstr>Preliminaries Contd.</vt:lpstr>
      <vt:lpstr>Preliminaries Contd.</vt:lpstr>
      <vt:lpstr>Preliminaries Contd.</vt:lpstr>
      <vt:lpstr>Preliminaries Contd.</vt:lpstr>
      <vt:lpstr>RSA Cryptosystem</vt:lpstr>
      <vt:lpstr>RSA Algorithm</vt:lpstr>
      <vt:lpstr>RSA Proof</vt:lpstr>
      <vt:lpstr>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GAMING-PC</dc:creator>
  <cp:lastModifiedBy>GAMING-PC</cp:lastModifiedBy>
  <cp:revision>10</cp:revision>
  <dcterms:created xsi:type="dcterms:W3CDTF">2026-07-16T15:41:37Z</dcterms:created>
  <dcterms:modified xsi:type="dcterms:W3CDTF">2026-07-17T04:42:51Z</dcterms:modified>
</cp:coreProperties>
</file>