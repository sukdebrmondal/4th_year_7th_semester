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E0336-A699-245F-A4D2-E12FBBB9BB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AE93C5-4A5A-1B1B-7952-014FFAF4B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E6B5BB-4B04-0563-9798-7035D9660A7F}"/>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5" name="Footer Placeholder 4">
            <a:extLst>
              <a:ext uri="{FF2B5EF4-FFF2-40B4-BE49-F238E27FC236}">
                <a16:creationId xmlns:a16="http://schemas.microsoft.com/office/drawing/2014/main" id="{1A385892-2ADC-3F0A-E9B3-8C225D0A42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8E4658-BC73-8F84-6EBE-B903680162AA}"/>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3574252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B2F7F-EFD6-B49D-BBDF-5C5F514065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7705B0-95F4-3183-C34F-88088DFDB7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A15A89-1216-9FA0-5598-9E871CD88CD8}"/>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5" name="Footer Placeholder 4">
            <a:extLst>
              <a:ext uri="{FF2B5EF4-FFF2-40B4-BE49-F238E27FC236}">
                <a16:creationId xmlns:a16="http://schemas.microsoft.com/office/drawing/2014/main" id="{634AB8C8-F4F0-C41B-A387-3F98F7D20D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D9C457-E7D8-1F9F-17FA-14A3E66CEFE8}"/>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2468924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8922-6730-48CC-E62A-9800814E08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618544-07DC-5589-D858-92B2069C23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93898D-2BBA-71A7-2FA1-8A78CB2C9329}"/>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5" name="Footer Placeholder 4">
            <a:extLst>
              <a:ext uri="{FF2B5EF4-FFF2-40B4-BE49-F238E27FC236}">
                <a16:creationId xmlns:a16="http://schemas.microsoft.com/office/drawing/2014/main" id="{0FF8A1E7-4CED-E8F7-5097-A84B35F8AF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3203CD-2DD8-0FDE-779D-1FC6EA891826}"/>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807938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87D5-6D72-3380-019C-14AF5612DB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A9D8DF-91FD-028E-9C85-55EF0FC618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740D23-2C3C-7D61-11F5-87458E941D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5263AB-9F04-F8B7-3107-EA4C97F59C77}"/>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6" name="Footer Placeholder 5">
            <a:extLst>
              <a:ext uri="{FF2B5EF4-FFF2-40B4-BE49-F238E27FC236}">
                <a16:creationId xmlns:a16="http://schemas.microsoft.com/office/drawing/2014/main" id="{677F83B1-541C-2743-4E34-43B1790BB8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06E672-504B-DE2C-91EE-32FB1AC0B26D}"/>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929176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4D9D-D524-4209-3352-EDE03FA18C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1B3A16-E65A-66DA-D953-8A3C1E6688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0D3402-65E5-F092-9103-02EE1CB2D0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5A27FC1-48FE-FB7D-059E-2B4DB2786B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ABFECD-4606-0DA0-3C32-8E0947045E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BC72779-5382-8BCB-4159-231E8D13F610}"/>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8" name="Footer Placeholder 7">
            <a:extLst>
              <a:ext uri="{FF2B5EF4-FFF2-40B4-BE49-F238E27FC236}">
                <a16:creationId xmlns:a16="http://schemas.microsoft.com/office/drawing/2014/main" id="{CC0FD224-3975-05AF-89AE-6D23E46C09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602801-815F-6AA0-9BD1-B035B788FF17}"/>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4048391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9650A-1B9A-4317-B68E-17565774B0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F255BD-F6AA-EF2B-AA17-E09094892AE5}"/>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4" name="Footer Placeholder 3">
            <a:extLst>
              <a:ext uri="{FF2B5EF4-FFF2-40B4-BE49-F238E27FC236}">
                <a16:creationId xmlns:a16="http://schemas.microsoft.com/office/drawing/2014/main" id="{941B7416-C831-291E-D7ED-36A8E1261C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9D8133-9E5D-326E-BFD6-EFABA9955B81}"/>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2209687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248770-7FCF-A233-F3A6-FB964A9B8AFD}"/>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3" name="Footer Placeholder 2">
            <a:extLst>
              <a:ext uri="{FF2B5EF4-FFF2-40B4-BE49-F238E27FC236}">
                <a16:creationId xmlns:a16="http://schemas.microsoft.com/office/drawing/2014/main" id="{CB900E7A-67EA-B382-BD68-E3D3DC44E3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292B5C-420C-2F2E-FCB4-C302E7B9822F}"/>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1053452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17ECA-B837-B3D1-B199-963F945454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60A657-610B-F3C7-3C88-8FCE639E7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A7E6010-1274-0EE6-4157-E8F1A78531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2AB1FC-DBB6-5420-275F-ED8AB093F882}"/>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6" name="Footer Placeholder 5">
            <a:extLst>
              <a:ext uri="{FF2B5EF4-FFF2-40B4-BE49-F238E27FC236}">
                <a16:creationId xmlns:a16="http://schemas.microsoft.com/office/drawing/2014/main" id="{C98372D4-F5ED-CB7D-BEE5-3A64F44025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C5D19D-0B58-AF60-94AB-AABB7432CE00}"/>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1171585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A097-599F-0FCC-71A9-218E87CAD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EAFD13-DA63-F1C8-7A24-1FFE125173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99C06E-4291-3A0C-71C7-D42B8913A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27779E-64DE-7E3D-5D19-ECD6F250BA4D}"/>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6" name="Footer Placeholder 5">
            <a:extLst>
              <a:ext uri="{FF2B5EF4-FFF2-40B4-BE49-F238E27FC236}">
                <a16:creationId xmlns:a16="http://schemas.microsoft.com/office/drawing/2014/main" id="{BD7B1D06-C0BE-E997-4D3A-1D9918DF81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65DB3F-1C27-B563-CAEC-676F6CEA9E63}"/>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1519254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CEB80-CF96-CF57-3989-A7412148C4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1FC7D9-42DF-10FE-B394-D658D0AC9B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2261F3-7845-CC17-627C-B1778D06095E}"/>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5" name="Footer Placeholder 4">
            <a:extLst>
              <a:ext uri="{FF2B5EF4-FFF2-40B4-BE49-F238E27FC236}">
                <a16:creationId xmlns:a16="http://schemas.microsoft.com/office/drawing/2014/main" id="{17177629-826B-3B1E-1DB8-56DEFC6B63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BF2F71-D89F-CD20-D026-3B0F7A6F61B5}"/>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3496159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5E867B-F082-0C9D-19F9-07CB20A189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493079-75E5-334B-6052-84F121833A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A4A7D0-3025-6C6B-DF3B-178587BD9834}"/>
              </a:ext>
            </a:extLst>
          </p:cNvPr>
          <p:cNvSpPr>
            <a:spLocks noGrp="1"/>
          </p:cNvSpPr>
          <p:nvPr>
            <p:ph type="dt" sz="half" idx="10"/>
          </p:nvPr>
        </p:nvSpPr>
        <p:spPr/>
        <p:txBody>
          <a:bodyPr/>
          <a:lstStyle/>
          <a:p>
            <a:fld id="{2F1EE25D-A4EE-4EF0-8D6A-9CFF8B67430A}" type="datetimeFigureOut">
              <a:rPr lang="en-IN" smtClean="0"/>
              <a:t>19-03-2024</a:t>
            </a:fld>
            <a:endParaRPr lang="en-IN"/>
          </a:p>
        </p:txBody>
      </p:sp>
      <p:sp>
        <p:nvSpPr>
          <p:cNvPr id="5" name="Footer Placeholder 4">
            <a:extLst>
              <a:ext uri="{FF2B5EF4-FFF2-40B4-BE49-F238E27FC236}">
                <a16:creationId xmlns:a16="http://schemas.microsoft.com/office/drawing/2014/main" id="{EA836FD5-F2B9-96CB-CADB-578201E9DC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53AC01-34FF-10F7-6096-B574221EF0B2}"/>
              </a:ext>
            </a:extLst>
          </p:cNvPr>
          <p:cNvSpPr>
            <a:spLocks noGrp="1"/>
          </p:cNvSpPr>
          <p:nvPr>
            <p:ph type="sldNum" sz="quarter" idx="12"/>
          </p:nvPr>
        </p:nvSpPr>
        <p:spPr/>
        <p:txBody>
          <a:bodyPr/>
          <a:lstStyle/>
          <a:p>
            <a:fld id="{4C5F31AA-CC57-4315-B5FF-3A24477CE4CC}" type="slidenum">
              <a:rPr lang="en-IN" smtClean="0"/>
              <a:t>‹#›</a:t>
            </a:fld>
            <a:endParaRPr lang="en-IN"/>
          </a:p>
        </p:txBody>
      </p:sp>
    </p:spTree>
    <p:extLst>
      <p:ext uri="{BB962C8B-B14F-4D97-AF65-F5344CB8AC3E}">
        <p14:creationId xmlns:p14="http://schemas.microsoft.com/office/powerpoint/2010/main" val="2795945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BA3125-AAA8-6672-7D04-4CFB043628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F6168E-BF06-8CBE-4335-4035764095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77E864-425C-A77B-5D79-0C715D1587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EE25D-A4EE-4EF0-8D6A-9CFF8B67430A}" type="datetimeFigureOut">
              <a:rPr lang="en-IN" smtClean="0"/>
              <a:t>19-03-2024</a:t>
            </a:fld>
            <a:endParaRPr lang="en-IN"/>
          </a:p>
        </p:txBody>
      </p:sp>
      <p:sp>
        <p:nvSpPr>
          <p:cNvPr id="5" name="Footer Placeholder 4">
            <a:extLst>
              <a:ext uri="{FF2B5EF4-FFF2-40B4-BE49-F238E27FC236}">
                <a16:creationId xmlns:a16="http://schemas.microsoft.com/office/drawing/2014/main" id="{19EBCC23-2654-AE9C-0E6D-3A0485D108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A69A9CF-363D-4327-BF53-5496C72417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5F31AA-CC57-4315-B5FF-3A24477CE4CC}" type="slidenum">
              <a:rPr lang="en-IN" smtClean="0"/>
              <a:t>‹#›</a:t>
            </a:fld>
            <a:endParaRPr lang="en-IN"/>
          </a:p>
        </p:txBody>
      </p:sp>
    </p:spTree>
    <p:extLst>
      <p:ext uri="{BB962C8B-B14F-4D97-AF65-F5344CB8AC3E}">
        <p14:creationId xmlns:p14="http://schemas.microsoft.com/office/powerpoint/2010/main" val="1947136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82DA-5CA8-4ED2-2222-E446037F4458}"/>
              </a:ext>
            </a:extLst>
          </p:cNvPr>
          <p:cNvSpPr>
            <a:spLocks noGrp="1"/>
          </p:cNvSpPr>
          <p:nvPr>
            <p:ph type="ctrTitle"/>
          </p:nvPr>
        </p:nvSpPr>
        <p:spPr/>
        <p:txBody>
          <a:bodyPr/>
          <a:lstStyle/>
          <a:p>
            <a:r>
              <a:rPr lang="en-IN" b="1" dirty="0"/>
              <a:t>Message Integrity and SHA-512</a:t>
            </a:r>
          </a:p>
        </p:txBody>
      </p:sp>
    </p:spTree>
    <p:extLst>
      <p:ext uri="{BB962C8B-B14F-4D97-AF65-F5344CB8AC3E}">
        <p14:creationId xmlns:p14="http://schemas.microsoft.com/office/powerpoint/2010/main" val="4191380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329C8-2230-719D-F709-4BFDAF6CAC72}"/>
              </a:ext>
            </a:extLst>
          </p:cNvPr>
          <p:cNvSpPr>
            <a:spLocks noGrp="1"/>
          </p:cNvSpPr>
          <p:nvPr>
            <p:ph type="title"/>
          </p:nvPr>
        </p:nvSpPr>
        <p:spPr/>
        <p:txBody>
          <a:bodyPr/>
          <a:lstStyle/>
          <a:p>
            <a:pPr algn="ctr"/>
            <a:r>
              <a:rPr lang="en-IN" b="1" dirty="0"/>
              <a:t>Message Integrity</a:t>
            </a:r>
          </a:p>
        </p:txBody>
      </p:sp>
      <p:pic>
        <p:nvPicPr>
          <p:cNvPr id="5" name="Content Placeholder 4">
            <a:extLst>
              <a:ext uri="{FF2B5EF4-FFF2-40B4-BE49-F238E27FC236}">
                <a16:creationId xmlns:a16="http://schemas.microsoft.com/office/drawing/2014/main" id="{5B97B9A1-A889-10AD-DD66-5866A6235137}"/>
              </a:ext>
            </a:extLst>
          </p:cNvPr>
          <p:cNvPicPr>
            <a:picLocks noGrp="1" noChangeAspect="1"/>
          </p:cNvPicPr>
          <p:nvPr>
            <p:ph idx="1"/>
          </p:nvPr>
        </p:nvPicPr>
        <p:blipFill>
          <a:blip r:embed="rId2"/>
          <a:stretch>
            <a:fillRect/>
          </a:stretch>
        </p:blipFill>
        <p:spPr>
          <a:xfrm>
            <a:off x="3036761" y="1987419"/>
            <a:ext cx="6800677" cy="2451823"/>
          </a:xfrm>
        </p:spPr>
      </p:pic>
    </p:spTree>
    <p:extLst>
      <p:ext uri="{BB962C8B-B14F-4D97-AF65-F5344CB8AC3E}">
        <p14:creationId xmlns:p14="http://schemas.microsoft.com/office/powerpoint/2010/main" val="1402062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B998-2405-ED7C-41EF-4A074109D309}"/>
              </a:ext>
            </a:extLst>
          </p:cNvPr>
          <p:cNvSpPr>
            <a:spLocks noGrp="1"/>
          </p:cNvSpPr>
          <p:nvPr>
            <p:ph type="title"/>
          </p:nvPr>
        </p:nvSpPr>
        <p:spPr/>
        <p:txBody>
          <a:bodyPr/>
          <a:lstStyle/>
          <a:p>
            <a:pPr algn="ctr"/>
            <a:r>
              <a:rPr lang="en-IN" b="1" dirty="0"/>
              <a:t>Message Integrity Checking</a:t>
            </a:r>
          </a:p>
        </p:txBody>
      </p:sp>
      <p:pic>
        <p:nvPicPr>
          <p:cNvPr id="5" name="Content Placeholder 4">
            <a:extLst>
              <a:ext uri="{FF2B5EF4-FFF2-40B4-BE49-F238E27FC236}">
                <a16:creationId xmlns:a16="http://schemas.microsoft.com/office/drawing/2014/main" id="{C3937E5D-A5D7-0E74-76A1-D26F166D44AB}"/>
              </a:ext>
            </a:extLst>
          </p:cNvPr>
          <p:cNvPicPr>
            <a:picLocks noGrp="1" noChangeAspect="1"/>
          </p:cNvPicPr>
          <p:nvPr>
            <p:ph idx="1"/>
          </p:nvPr>
        </p:nvPicPr>
        <p:blipFill>
          <a:blip r:embed="rId2"/>
          <a:stretch>
            <a:fillRect/>
          </a:stretch>
        </p:blipFill>
        <p:spPr>
          <a:xfrm>
            <a:off x="2077843" y="2202025"/>
            <a:ext cx="8036314" cy="3073449"/>
          </a:xfrm>
        </p:spPr>
      </p:pic>
    </p:spTree>
    <p:extLst>
      <p:ext uri="{BB962C8B-B14F-4D97-AF65-F5344CB8AC3E}">
        <p14:creationId xmlns:p14="http://schemas.microsoft.com/office/powerpoint/2010/main" val="3446746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324-9BBB-8689-6612-2E741296896D}"/>
              </a:ext>
            </a:extLst>
          </p:cNvPr>
          <p:cNvSpPr>
            <a:spLocks noGrp="1"/>
          </p:cNvSpPr>
          <p:nvPr>
            <p:ph type="title"/>
          </p:nvPr>
        </p:nvSpPr>
        <p:spPr>
          <a:xfrm>
            <a:off x="838200" y="201922"/>
            <a:ext cx="10515600" cy="1325563"/>
          </a:xfrm>
        </p:spPr>
        <p:txBody>
          <a:bodyPr/>
          <a:lstStyle/>
          <a:p>
            <a:pPr algn="ctr"/>
            <a:r>
              <a:rPr lang="en-IN" b="1" dirty="0"/>
              <a:t>Properties of Message Digest</a:t>
            </a:r>
          </a:p>
        </p:txBody>
      </p:sp>
      <p:pic>
        <p:nvPicPr>
          <p:cNvPr id="5" name="Content Placeholder 4">
            <a:extLst>
              <a:ext uri="{FF2B5EF4-FFF2-40B4-BE49-F238E27FC236}">
                <a16:creationId xmlns:a16="http://schemas.microsoft.com/office/drawing/2014/main" id="{76098A08-9123-6981-57E8-B983E240342D}"/>
              </a:ext>
            </a:extLst>
          </p:cNvPr>
          <p:cNvPicPr>
            <a:picLocks noGrp="1" noChangeAspect="1"/>
          </p:cNvPicPr>
          <p:nvPr>
            <p:ph idx="1"/>
          </p:nvPr>
        </p:nvPicPr>
        <p:blipFill>
          <a:blip r:embed="rId2"/>
          <a:stretch>
            <a:fillRect/>
          </a:stretch>
        </p:blipFill>
        <p:spPr>
          <a:xfrm>
            <a:off x="838200" y="2278136"/>
            <a:ext cx="4351318" cy="3124288"/>
          </a:xfrm>
        </p:spPr>
      </p:pic>
      <p:pic>
        <p:nvPicPr>
          <p:cNvPr id="7" name="Picture 6">
            <a:extLst>
              <a:ext uri="{FF2B5EF4-FFF2-40B4-BE49-F238E27FC236}">
                <a16:creationId xmlns:a16="http://schemas.microsoft.com/office/drawing/2014/main" id="{9AB12A32-AEB4-D97E-DA91-E6975B52D17D}"/>
              </a:ext>
            </a:extLst>
          </p:cNvPr>
          <p:cNvPicPr>
            <a:picLocks noChangeAspect="1"/>
          </p:cNvPicPr>
          <p:nvPr/>
        </p:nvPicPr>
        <p:blipFill>
          <a:blip r:embed="rId3"/>
          <a:stretch>
            <a:fillRect/>
          </a:stretch>
        </p:blipFill>
        <p:spPr>
          <a:xfrm>
            <a:off x="5793839" y="1788124"/>
            <a:ext cx="4535150" cy="4867954"/>
          </a:xfrm>
          <a:prstGeom prst="rect">
            <a:avLst/>
          </a:prstGeom>
        </p:spPr>
      </p:pic>
    </p:spTree>
    <p:extLst>
      <p:ext uri="{BB962C8B-B14F-4D97-AF65-F5344CB8AC3E}">
        <p14:creationId xmlns:p14="http://schemas.microsoft.com/office/powerpoint/2010/main" val="3610646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FFF2F-7412-F4FE-3324-1BD6C6DD77A4}"/>
              </a:ext>
            </a:extLst>
          </p:cNvPr>
          <p:cNvSpPr>
            <a:spLocks noGrp="1"/>
          </p:cNvSpPr>
          <p:nvPr>
            <p:ph type="title"/>
          </p:nvPr>
        </p:nvSpPr>
        <p:spPr>
          <a:xfrm>
            <a:off x="838200" y="131860"/>
            <a:ext cx="10515600" cy="1325563"/>
          </a:xfrm>
        </p:spPr>
        <p:txBody>
          <a:bodyPr/>
          <a:lstStyle/>
          <a:p>
            <a:pPr algn="ctr"/>
            <a:r>
              <a:rPr lang="en-IN" b="1" dirty="0"/>
              <a:t>Secure Hash Algorithm (SHA)</a:t>
            </a:r>
          </a:p>
        </p:txBody>
      </p:sp>
      <p:sp>
        <p:nvSpPr>
          <p:cNvPr id="3" name="Content Placeholder 2">
            <a:extLst>
              <a:ext uri="{FF2B5EF4-FFF2-40B4-BE49-F238E27FC236}">
                <a16:creationId xmlns:a16="http://schemas.microsoft.com/office/drawing/2014/main" id="{55936AB2-8A27-D436-021E-1DF4AD26907F}"/>
              </a:ext>
            </a:extLst>
          </p:cNvPr>
          <p:cNvSpPr>
            <a:spLocks noGrp="1"/>
          </p:cNvSpPr>
          <p:nvPr>
            <p:ph idx="1"/>
          </p:nvPr>
        </p:nvSpPr>
        <p:spPr/>
        <p:txBody>
          <a:bodyPr/>
          <a:lstStyle/>
          <a:p>
            <a:r>
              <a:rPr lang="en-IN" dirty="0"/>
              <a:t>Developed by </a:t>
            </a:r>
            <a:r>
              <a:rPr lang="en-US" dirty="0"/>
              <a:t>National Institute of Standards and Technology (NIST)</a:t>
            </a:r>
          </a:p>
          <a:p>
            <a:endParaRPr lang="en-IN" dirty="0"/>
          </a:p>
        </p:txBody>
      </p:sp>
      <p:pic>
        <p:nvPicPr>
          <p:cNvPr id="5" name="Picture 4">
            <a:extLst>
              <a:ext uri="{FF2B5EF4-FFF2-40B4-BE49-F238E27FC236}">
                <a16:creationId xmlns:a16="http://schemas.microsoft.com/office/drawing/2014/main" id="{5BA09E6A-DBD3-D888-CA89-B6644FAA8A6A}"/>
              </a:ext>
            </a:extLst>
          </p:cNvPr>
          <p:cNvPicPr>
            <a:picLocks noChangeAspect="1"/>
          </p:cNvPicPr>
          <p:nvPr/>
        </p:nvPicPr>
        <p:blipFill>
          <a:blip r:embed="rId2"/>
          <a:stretch>
            <a:fillRect/>
          </a:stretch>
        </p:blipFill>
        <p:spPr>
          <a:xfrm>
            <a:off x="1089772" y="2775142"/>
            <a:ext cx="10012456" cy="2664605"/>
          </a:xfrm>
          <a:prstGeom prst="rect">
            <a:avLst/>
          </a:prstGeom>
        </p:spPr>
      </p:pic>
    </p:spTree>
    <p:extLst>
      <p:ext uri="{BB962C8B-B14F-4D97-AF65-F5344CB8AC3E}">
        <p14:creationId xmlns:p14="http://schemas.microsoft.com/office/powerpoint/2010/main" val="131384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0364C-3033-D1F2-D1D3-4A5E43911361}"/>
              </a:ext>
            </a:extLst>
          </p:cNvPr>
          <p:cNvSpPr>
            <a:spLocks noGrp="1"/>
          </p:cNvSpPr>
          <p:nvPr>
            <p:ph type="title"/>
          </p:nvPr>
        </p:nvSpPr>
        <p:spPr>
          <a:xfrm>
            <a:off x="838200" y="18255"/>
            <a:ext cx="10515600" cy="1325563"/>
          </a:xfrm>
        </p:spPr>
        <p:txBody>
          <a:bodyPr/>
          <a:lstStyle/>
          <a:p>
            <a:pPr algn="ctr"/>
            <a:r>
              <a:rPr lang="en-IN" b="1" dirty="0"/>
              <a:t>SHA-512 Algorithm (Block Diagram)</a:t>
            </a:r>
          </a:p>
        </p:txBody>
      </p:sp>
      <p:pic>
        <p:nvPicPr>
          <p:cNvPr id="5" name="Content Placeholder 4">
            <a:extLst>
              <a:ext uri="{FF2B5EF4-FFF2-40B4-BE49-F238E27FC236}">
                <a16:creationId xmlns:a16="http://schemas.microsoft.com/office/drawing/2014/main" id="{FE213F94-E633-870F-B258-900734990390}"/>
              </a:ext>
            </a:extLst>
          </p:cNvPr>
          <p:cNvPicPr>
            <a:picLocks noGrp="1" noChangeAspect="1"/>
          </p:cNvPicPr>
          <p:nvPr>
            <p:ph idx="1"/>
          </p:nvPr>
        </p:nvPicPr>
        <p:blipFill>
          <a:blip r:embed="rId2"/>
          <a:stretch>
            <a:fillRect/>
          </a:stretch>
        </p:blipFill>
        <p:spPr>
          <a:xfrm>
            <a:off x="1456934" y="1343818"/>
            <a:ext cx="9073914" cy="3788019"/>
          </a:xfrm>
        </p:spPr>
      </p:pic>
    </p:spTree>
    <p:extLst>
      <p:ext uri="{BB962C8B-B14F-4D97-AF65-F5344CB8AC3E}">
        <p14:creationId xmlns:p14="http://schemas.microsoft.com/office/powerpoint/2010/main" val="4163751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C1D9-20EE-88C3-E8C4-0411D291C852}"/>
              </a:ext>
            </a:extLst>
          </p:cNvPr>
          <p:cNvSpPr>
            <a:spLocks noGrp="1"/>
          </p:cNvSpPr>
          <p:nvPr>
            <p:ph type="title"/>
          </p:nvPr>
        </p:nvSpPr>
        <p:spPr>
          <a:xfrm>
            <a:off x="838200" y="94537"/>
            <a:ext cx="10515600" cy="1325563"/>
          </a:xfrm>
        </p:spPr>
        <p:txBody>
          <a:bodyPr/>
          <a:lstStyle/>
          <a:p>
            <a:pPr algn="ctr"/>
            <a:r>
              <a:rPr lang="en-US" b="1" dirty="0"/>
              <a:t>Padding and length field in SHA-512</a:t>
            </a:r>
            <a:endParaRPr lang="en-IN" b="1" dirty="0"/>
          </a:p>
        </p:txBody>
      </p:sp>
      <p:pic>
        <p:nvPicPr>
          <p:cNvPr id="5" name="Content Placeholder 4">
            <a:extLst>
              <a:ext uri="{FF2B5EF4-FFF2-40B4-BE49-F238E27FC236}">
                <a16:creationId xmlns:a16="http://schemas.microsoft.com/office/drawing/2014/main" id="{863583C0-6BF6-399E-87D4-94CB80425D36}"/>
              </a:ext>
            </a:extLst>
          </p:cNvPr>
          <p:cNvPicPr>
            <a:picLocks noGrp="1" noChangeAspect="1"/>
          </p:cNvPicPr>
          <p:nvPr>
            <p:ph idx="1"/>
          </p:nvPr>
        </p:nvPicPr>
        <p:blipFill>
          <a:blip r:embed="rId2"/>
          <a:stretch>
            <a:fillRect/>
          </a:stretch>
        </p:blipFill>
        <p:spPr>
          <a:xfrm>
            <a:off x="1190302" y="1772815"/>
            <a:ext cx="9811396" cy="2267339"/>
          </a:xfrm>
        </p:spPr>
      </p:pic>
      <p:sp>
        <p:nvSpPr>
          <p:cNvPr id="7" name="TextBox 6">
            <a:extLst>
              <a:ext uri="{FF2B5EF4-FFF2-40B4-BE49-F238E27FC236}">
                <a16:creationId xmlns:a16="http://schemas.microsoft.com/office/drawing/2014/main" id="{E1A6E4FA-C811-24B7-3B77-64470AD1452B}"/>
              </a:ext>
            </a:extLst>
          </p:cNvPr>
          <p:cNvSpPr txBox="1"/>
          <p:nvPr/>
        </p:nvSpPr>
        <p:spPr>
          <a:xfrm>
            <a:off x="1296955" y="4692040"/>
            <a:ext cx="10056845" cy="523220"/>
          </a:xfrm>
          <a:prstGeom prst="rect">
            <a:avLst/>
          </a:prstGeom>
          <a:noFill/>
        </p:spPr>
        <p:txBody>
          <a:bodyPr wrap="square">
            <a:spAutoFit/>
          </a:bodyPr>
          <a:lstStyle/>
          <a:p>
            <a:r>
              <a:rPr lang="en-IN" sz="2800" dirty="0"/>
              <a:t>(|M| + |P| + 128) = 0 mod 1024 → |P| = (− |M| − 128) mod 1024</a:t>
            </a:r>
          </a:p>
        </p:txBody>
      </p:sp>
    </p:spTree>
    <p:extLst>
      <p:ext uri="{BB962C8B-B14F-4D97-AF65-F5344CB8AC3E}">
        <p14:creationId xmlns:p14="http://schemas.microsoft.com/office/powerpoint/2010/main" val="1858523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CF991-6F5D-1C25-B1FE-4EA52C03C163}"/>
              </a:ext>
            </a:extLst>
          </p:cNvPr>
          <p:cNvSpPr>
            <a:spLocks noGrp="1"/>
          </p:cNvSpPr>
          <p:nvPr>
            <p:ph type="title"/>
          </p:nvPr>
        </p:nvSpPr>
        <p:spPr>
          <a:xfrm>
            <a:off x="838200" y="187843"/>
            <a:ext cx="10515600" cy="1325563"/>
          </a:xfrm>
        </p:spPr>
        <p:txBody>
          <a:bodyPr/>
          <a:lstStyle/>
          <a:p>
            <a:pPr algn="ctr"/>
            <a:r>
              <a:rPr lang="en-IN" b="1" dirty="0"/>
              <a:t>Example for Padding</a:t>
            </a:r>
          </a:p>
        </p:txBody>
      </p:sp>
      <p:sp>
        <p:nvSpPr>
          <p:cNvPr id="3" name="Content Placeholder 2">
            <a:extLst>
              <a:ext uri="{FF2B5EF4-FFF2-40B4-BE49-F238E27FC236}">
                <a16:creationId xmlns:a16="http://schemas.microsoft.com/office/drawing/2014/main" id="{520BA992-6B60-EFFC-4EBC-EFDE3816F587}"/>
              </a:ext>
            </a:extLst>
          </p:cNvPr>
          <p:cNvSpPr>
            <a:spLocks noGrp="1"/>
          </p:cNvSpPr>
          <p:nvPr>
            <p:ph idx="1"/>
          </p:nvPr>
        </p:nvSpPr>
        <p:spPr>
          <a:xfrm>
            <a:off x="838200" y="1408922"/>
            <a:ext cx="10515600" cy="4768041"/>
          </a:xfrm>
        </p:spPr>
        <p:txBody>
          <a:bodyPr/>
          <a:lstStyle/>
          <a:p>
            <a:pPr algn="just"/>
            <a:r>
              <a:rPr lang="en-US" dirty="0"/>
              <a:t>What is the number of padding bits if the length of the original message is 2590 bits?</a:t>
            </a:r>
          </a:p>
          <a:p>
            <a:r>
              <a:rPr lang="en-US" dirty="0"/>
              <a:t>|P| = (− 2590 −128) mod 1024 = −2718 mod 1024 = 354</a:t>
            </a:r>
          </a:p>
          <a:p>
            <a:r>
              <a:rPr lang="en-US" dirty="0"/>
              <a:t>So, the padding consists of one 1 followed by 353 0’s.</a:t>
            </a:r>
            <a:endParaRPr lang="en-IN" dirty="0"/>
          </a:p>
        </p:txBody>
      </p:sp>
    </p:spTree>
    <p:extLst>
      <p:ext uri="{BB962C8B-B14F-4D97-AF65-F5344CB8AC3E}">
        <p14:creationId xmlns:p14="http://schemas.microsoft.com/office/powerpoint/2010/main" val="2089278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1A64C-2C8E-577C-0278-F66030B448C8}"/>
              </a:ext>
            </a:extLst>
          </p:cNvPr>
          <p:cNvSpPr>
            <a:spLocks noGrp="1"/>
          </p:cNvSpPr>
          <p:nvPr>
            <p:ph type="title"/>
          </p:nvPr>
        </p:nvSpPr>
        <p:spPr/>
        <p:txBody>
          <a:bodyPr/>
          <a:lstStyle/>
          <a:p>
            <a:pPr algn="ctr"/>
            <a:r>
              <a:rPr lang="en-IN" b="1" dirty="0"/>
              <a:t>SHA-512 Words</a:t>
            </a:r>
          </a:p>
        </p:txBody>
      </p:sp>
      <p:sp>
        <p:nvSpPr>
          <p:cNvPr id="3" name="Content Placeholder 2">
            <a:extLst>
              <a:ext uri="{FF2B5EF4-FFF2-40B4-BE49-F238E27FC236}">
                <a16:creationId xmlns:a16="http://schemas.microsoft.com/office/drawing/2014/main" id="{64C48B50-ECC3-33DD-8398-5F337E731E02}"/>
              </a:ext>
            </a:extLst>
          </p:cNvPr>
          <p:cNvSpPr>
            <a:spLocks noGrp="1"/>
          </p:cNvSpPr>
          <p:nvPr>
            <p:ph idx="1"/>
          </p:nvPr>
        </p:nvSpPr>
        <p:spPr/>
        <p:txBody>
          <a:bodyPr/>
          <a:lstStyle/>
          <a:p>
            <a:r>
              <a:rPr lang="en-IN" dirty="0"/>
              <a:t>SHA-512 operates on words.</a:t>
            </a:r>
          </a:p>
          <a:p>
            <a:endParaRPr lang="en-IN" dirty="0"/>
          </a:p>
        </p:txBody>
      </p:sp>
      <p:pic>
        <p:nvPicPr>
          <p:cNvPr id="5" name="Picture 4">
            <a:extLst>
              <a:ext uri="{FF2B5EF4-FFF2-40B4-BE49-F238E27FC236}">
                <a16:creationId xmlns:a16="http://schemas.microsoft.com/office/drawing/2014/main" id="{A370E344-A30E-E229-BFF7-016896273DAB}"/>
              </a:ext>
            </a:extLst>
          </p:cNvPr>
          <p:cNvPicPr>
            <a:picLocks noChangeAspect="1"/>
          </p:cNvPicPr>
          <p:nvPr/>
        </p:nvPicPr>
        <p:blipFill>
          <a:blip r:embed="rId2"/>
          <a:stretch>
            <a:fillRect/>
          </a:stretch>
        </p:blipFill>
        <p:spPr>
          <a:xfrm>
            <a:off x="1109287" y="2365574"/>
            <a:ext cx="9601345" cy="2542328"/>
          </a:xfrm>
          <a:prstGeom prst="rect">
            <a:avLst/>
          </a:prstGeom>
        </p:spPr>
      </p:pic>
    </p:spTree>
    <p:extLst>
      <p:ext uri="{BB962C8B-B14F-4D97-AF65-F5344CB8AC3E}">
        <p14:creationId xmlns:p14="http://schemas.microsoft.com/office/powerpoint/2010/main" val="1904945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A65E-B884-43BB-BF9F-7CB5342B057A}"/>
              </a:ext>
            </a:extLst>
          </p:cNvPr>
          <p:cNvSpPr>
            <a:spLocks noGrp="1"/>
          </p:cNvSpPr>
          <p:nvPr>
            <p:ph type="title"/>
          </p:nvPr>
        </p:nvSpPr>
        <p:spPr>
          <a:xfrm>
            <a:off x="838200" y="18255"/>
            <a:ext cx="10515600" cy="1325563"/>
          </a:xfrm>
        </p:spPr>
        <p:txBody>
          <a:bodyPr/>
          <a:lstStyle/>
          <a:p>
            <a:pPr algn="ctr"/>
            <a:r>
              <a:rPr lang="en-IN" b="1" dirty="0"/>
              <a:t>Word Expansion in SHA-512</a:t>
            </a:r>
          </a:p>
        </p:txBody>
      </p:sp>
      <p:sp>
        <p:nvSpPr>
          <p:cNvPr id="3" name="Content Placeholder 2">
            <a:extLst>
              <a:ext uri="{FF2B5EF4-FFF2-40B4-BE49-F238E27FC236}">
                <a16:creationId xmlns:a16="http://schemas.microsoft.com/office/drawing/2014/main" id="{1C5342C2-8815-030D-AE29-10AA63A9E54B}"/>
              </a:ext>
            </a:extLst>
          </p:cNvPr>
          <p:cNvSpPr>
            <a:spLocks noGrp="1"/>
          </p:cNvSpPr>
          <p:nvPr>
            <p:ph idx="1"/>
          </p:nvPr>
        </p:nvSpPr>
        <p:spPr>
          <a:xfrm>
            <a:off x="838200" y="970384"/>
            <a:ext cx="10515600" cy="5206579"/>
          </a:xfrm>
        </p:spPr>
        <p:txBody>
          <a:bodyPr/>
          <a:lstStyle/>
          <a:p>
            <a:r>
              <a:rPr lang="en-US" dirty="0"/>
              <a:t>16-word message block needs to be expanded to 80 words, from W</a:t>
            </a:r>
            <a:r>
              <a:rPr lang="en-US" baseline="-25000" dirty="0"/>
              <a:t>0</a:t>
            </a:r>
            <a:r>
              <a:rPr lang="en-US" dirty="0"/>
              <a:t> to W</a:t>
            </a:r>
            <a:r>
              <a:rPr lang="en-US" baseline="-25000" dirty="0"/>
              <a:t>79</a:t>
            </a:r>
            <a:r>
              <a:rPr lang="en-US" dirty="0"/>
              <a:t>. </a:t>
            </a:r>
          </a:p>
          <a:p>
            <a:r>
              <a:rPr lang="en-US" dirty="0"/>
              <a:t>The 1024-bit block becomes the first 16 words.</a:t>
            </a:r>
          </a:p>
          <a:p>
            <a:r>
              <a:rPr lang="en-US" dirty="0"/>
              <a:t>Rest of the words come from already-made words according to the operation shown.</a:t>
            </a:r>
          </a:p>
          <a:p>
            <a:endParaRPr lang="en-IN" dirty="0"/>
          </a:p>
        </p:txBody>
      </p:sp>
      <p:pic>
        <p:nvPicPr>
          <p:cNvPr id="5" name="Picture 4">
            <a:extLst>
              <a:ext uri="{FF2B5EF4-FFF2-40B4-BE49-F238E27FC236}">
                <a16:creationId xmlns:a16="http://schemas.microsoft.com/office/drawing/2014/main" id="{F3E4875F-4B7B-9947-0602-C9392F757657}"/>
              </a:ext>
            </a:extLst>
          </p:cNvPr>
          <p:cNvPicPr>
            <a:picLocks noChangeAspect="1"/>
          </p:cNvPicPr>
          <p:nvPr/>
        </p:nvPicPr>
        <p:blipFill>
          <a:blip r:embed="rId2"/>
          <a:stretch>
            <a:fillRect/>
          </a:stretch>
        </p:blipFill>
        <p:spPr>
          <a:xfrm>
            <a:off x="1244287" y="3191069"/>
            <a:ext cx="9308635" cy="3267304"/>
          </a:xfrm>
          <a:prstGeom prst="rect">
            <a:avLst/>
          </a:prstGeom>
        </p:spPr>
      </p:pic>
    </p:spTree>
    <p:extLst>
      <p:ext uri="{BB962C8B-B14F-4D97-AF65-F5344CB8AC3E}">
        <p14:creationId xmlns:p14="http://schemas.microsoft.com/office/powerpoint/2010/main" val="3787158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97F3-8A1D-9A7B-33E6-9905550C858A}"/>
              </a:ext>
            </a:extLst>
          </p:cNvPr>
          <p:cNvSpPr>
            <a:spLocks noGrp="1"/>
          </p:cNvSpPr>
          <p:nvPr>
            <p:ph type="title"/>
          </p:nvPr>
        </p:nvSpPr>
        <p:spPr>
          <a:xfrm>
            <a:off x="838200" y="113199"/>
            <a:ext cx="10515600" cy="1325563"/>
          </a:xfrm>
        </p:spPr>
        <p:txBody>
          <a:bodyPr/>
          <a:lstStyle/>
          <a:p>
            <a:pPr algn="ctr"/>
            <a:r>
              <a:rPr lang="en-IN" b="1" dirty="0"/>
              <a:t>Example for Word Expansion in SHA-512</a:t>
            </a:r>
          </a:p>
        </p:txBody>
      </p:sp>
      <p:sp>
        <p:nvSpPr>
          <p:cNvPr id="3" name="Content Placeholder 2">
            <a:extLst>
              <a:ext uri="{FF2B5EF4-FFF2-40B4-BE49-F238E27FC236}">
                <a16:creationId xmlns:a16="http://schemas.microsoft.com/office/drawing/2014/main" id="{0B85EC28-9F11-9283-80D7-096DE97E1E5C}"/>
              </a:ext>
            </a:extLst>
          </p:cNvPr>
          <p:cNvSpPr>
            <a:spLocks noGrp="1"/>
          </p:cNvSpPr>
          <p:nvPr>
            <p:ph idx="1"/>
          </p:nvPr>
        </p:nvSpPr>
        <p:spPr>
          <a:xfrm>
            <a:off x="838200" y="1268963"/>
            <a:ext cx="10515600" cy="4908000"/>
          </a:xfrm>
        </p:spPr>
        <p:txBody>
          <a:bodyPr/>
          <a:lstStyle/>
          <a:p>
            <a:r>
              <a:rPr lang="en-US" dirty="0"/>
              <a:t>Show how W</a:t>
            </a:r>
            <a:r>
              <a:rPr lang="en-US" baseline="-25000" dirty="0"/>
              <a:t>60</a:t>
            </a:r>
            <a:r>
              <a:rPr lang="en-US" dirty="0"/>
              <a:t> is made.</a:t>
            </a:r>
          </a:p>
          <a:p>
            <a:r>
              <a:rPr lang="pl-PL" dirty="0"/>
              <a:t>W</a:t>
            </a:r>
            <a:r>
              <a:rPr lang="pl-PL" baseline="-25000" dirty="0"/>
              <a:t>60</a:t>
            </a:r>
            <a:r>
              <a:rPr lang="pl-PL" dirty="0"/>
              <a:t> = W</a:t>
            </a:r>
            <a:r>
              <a:rPr lang="pl-PL" baseline="-25000" dirty="0"/>
              <a:t>44</a:t>
            </a:r>
            <a:r>
              <a:rPr lang="pl-PL" dirty="0"/>
              <a:t> ⊕ RotShift</a:t>
            </a:r>
            <a:r>
              <a:rPr lang="pl-PL" baseline="-25000" dirty="0"/>
              <a:t>1-8-7</a:t>
            </a:r>
            <a:r>
              <a:rPr lang="pl-PL" dirty="0"/>
              <a:t> (W</a:t>
            </a:r>
            <a:r>
              <a:rPr lang="pl-PL" baseline="-25000" dirty="0"/>
              <a:t>45</a:t>
            </a:r>
            <a:r>
              <a:rPr lang="pl-PL" dirty="0"/>
              <a:t>) ⊕ W</a:t>
            </a:r>
            <a:r>
              <a:rPr lang="pl-PL" baseline="-25000" dirty="0"/>
              <a:t>53</a:t>
            </a:r>
            <a:r>
              <a:rPr lang="pl-PL" dirty="0"/>
              <a:t> ⊕ RotShift</a:t>
            </a:r>
            <a:r>
              <a:rPr lang="pl-PL" baseline="-25000" dirty="0"/>
              <a:t>19-61-6</a:t>
            </a:r>
            <a:r>
              <a:rPr lang="pl-PL" dirty="0"/>
              <a:t> (W</a:t>
            </a:r>
            <a:r>
              <a:rPr lang="pl-PL" baseline="-25000" dirty="0"/>
              <a:t>58</a:t>
            </a:r>
            <a:r>
              <a:rPr lang="pl-PL" dirty="0"/>
              <a:t>)</a:t>
            </a:r>
            <a:endParaRPr lang="en-IN" dirty="0"/>
          </a:p>
        </p:txBody>
      </p:sp>
      <p:pic>
        <p:nvPicPr>
          <p:cNvPr id="4" name="Picture 3">
            <a:extLst>
              <a:ext uri="{FF2B5EF4-FFF2-40B4-BE49-F238E27FC236}">
                <a16:creationId xmlns:a16="http://schemas.microsoft.com/office/drawing/2014/main" id="{81140DCC-3C6B-26D4-4B9A-9DC84F8841BE}"/>
              </a:ext>
            </a:extLst>
          </p:cNvPr>
          <p:cNvPicPr>
            <a:picLocks noChangeAspect="1"/>
          </p:cNvPicPr>
          <p:nvPr/>
        </p:nvPicPr>
        <p:blipFill>
          <a:blip r:embed="rId2"/>
          <a:stretch>
            <a:fillRect/>
          </a:stretch>
        </p:blipFill>
        <p:spPr>
          <a:xfrm>
            <a:off x="1094997" y="2743199"/>
            <a:ext cx="9308635" cy="3267304"/>
          </a:xfrm>
          <a:prstGeom prst="rect">
            <a:avLst/>
          </a:prstGeom>
        </p:spPr>
      </p:pic>
    </p:spTree>
    <p:extLst>
      <p:ext uri="{BB962C8B-B14F-4D97-AF65-F5344CB8AC3E}">
        <p14:creationId xmlns:p14="http://schemas.microsoft.com/office/powerpoint/2010/main" val="2103040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9843F-7C21-887C-7949-738CD25D0E9B}"/>
              </a:ext>
            </a:extLst>
          </p:cNvPr>
          <p:cNvSpPr>
            <a:spLocks noGrp="1"/>
          </p:cNvSpPr>
          <p:nvPr>
            <p:ph type="title"/>
          </p:nvPr>
        </p:nvSpPr>
        <p:spPr>
          <a:xfrm>
            <a:off x="838200" y="18255"/>
            <a:ext cx="10515600" cy="1325563"/>
          </a:xfrm>
        </p:spPr>
        <p:txBody>
          <a:bodyPr/>
          <a:lstStyle/>
          <a:p>
            <a:pPr algn="ctr"/>
            <a:r>
              <a:rPr lang="en-IN" b="1" dirty="0"/>
              <a:t>Initial Message Digest in SHA-512</a:t>
            </a:r>
          </a:p>
        </p:txBody>
      </p:sp>
      <p:pic>
        <p:nvPicPr>
          <p:cNvPr id="5" name="Content Placeholder 4">
            <a:extLst>
              <a:ext uri="{FF2B5EF4-FFF2-40B4-BE49-F238E27FC236}">
                <a16:creationId xmlns:a16="http://schemas.microsoft.com/office/drawing/2014/main" id="{ADF19512-4696-3F6A-EC25-E4203591B7DB}"/>
              </a:ext>
            </a:extLst>
          </p:cNvPr>
          <p:cNvPicPr>
            <a:picLocks noGrp="1" noChangeAspect="1"/>
          </p:cNvPicPr>
          <p:nvPr>
            <p:ph idx="1"/>
          </p:nvPr>
        </p:nvPicPr>
        <p:blipFill>
          <a:blip r:embed="rId2"/>
          <a:stretch>
            <a:fillRect/>
          </a:stretch>
        </p:blipFill>
        <p:spPr>
          <a:xfrm>
            <a:off x="479026" y="1343818"/>
            <a:ext cx="11233947" cy="2876161"/>
          </a:xfrm>
        </p:spPr>
      </p:pic>
      <p:sp>
        <p:nvSpPr>
          <p:cNvPr id="6" name="TextBox 5">
            <a:extLst>
              <a:ext uri="{FF2B5EF4-FFF2-40B4-BE49-F238E27FC236}">
                <a16:creationId xmlns:a16="http://schemas.microsoft.com/office/drawing/2014/main" id="{BE230DEA-35D1-5C9B-E611-7AAF3C9C9A85}"/>
              </a:ext>
            </a:extLst>
          </p:cNvPr>
          <p:cNvSpPr txBox="1"/>
          <p:nvPr/>
        </p:nvSpPr>
        <p:spPr>
          <a:xfrm>
            <a:off x="718457" y="4805265"/>
            <a:ext cx="5195333" cy="523220"/>
          </a:xfrm>
          <a:prstGeom prst="rect">
            <a:avLst/>
          </a:prstGeom>
          <a:noFill/>
        </p:spPr>
        <p:txBody>
          <a:bodyPr wrap="none" rtlCol="0">
            <a:spAutoFit/>
          </a:bodyPr>
          <a:lstStyle/>
          <a:p>
            <a:r>
              <a:rPr lang="en-IN" sz="2800" dirty="0"/>
              <a:t>From square root of first 8 primes</a:t>
            </a:r>
          </a:p>
        </p:txBody>
      </p:sp>
    </p:spTree>
    <p:extLst>
      <p:ext uri="{BB962C8B-B14F-4D97-AF65-F5344CB8AC3E}">
        <p14:creationId xmlns:p14="http://schemas.microsoft.com/office/powerpoint/2010/main" val="3032599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E1192-3F21-7261-B0E9-2BED80BAF00F}"/>
              </a:ext>
            </a:extLst>
          </p:cNvPr>
          <p:cNvSpPr>
            <a:spLocks noGrp="1"/>
          </p:cNvSpPr>
          <p:nvPr>
            <p:ph type="title"/>
          </p:nvPr>
        </p:nvSpPr>
        <p:spPr>
          <a:xfrm>
            <a:off x="838200" y="18255"/>
            <a:ext cx="10515600" cy="1325563"/>
          </a:xfrm>
        </p:spPr>
        <p:txBody>
          <a:bodyPr/>
          <a:lstStyle/>
          <a:p>
            <a:pPr algn="ctr"/>
            <a:r>
              <a:rPr lang="en-IN" b="1" dirty="0"/>
              <a:t>SHA-512 Compression Function</a:t>
            </a:r>
          </a:p>
        </p:txBody>
      </p:sp>
      <p:pic>
        <p:nvPicPr>
          <p:cNvPr id="5" name="Content Placeholder 4">
            <a:extLst>
              <a:ext uri="{FF2B5EF4-FFF2-40B4-BE49-F238E27FC236}">
                <a16:creationId xmlns:a16="http://schemas.microsoft.com/office/drawing/2014/main" id="{6D68B9FC-4CDC-D474-65F6-21A9E19AD41B}"/>
              </a:ext>
            </a:extLst>
          </p:cNvPr>
          <p:cNvPicPr>
            <a:picLocks noGrp="1" noChangeAspect="1"/>
          </p:cNvPicPr>
          <p:nvPr>
            <p:ph idx="1"/>
          </p:nvPr>
        </p:nvPicPr>
        <p:blipFill>
          <a:blip r:embed="rId2"/>
          <a:stretch>
            <a:fillRect/>
          </a:stretch>
        </p:blipFill>
        <p:spPr>
          <a:xfrm>
            <a:off x="3013789" y="1008062"/>
            <a:ext cx="6204856" cy="5773801"/>
          </a:xfrm>
        </p:spPr>
      </p:pic>
    </p:spTree>
    <p:extLst>
      <p:ext uri="{BB962C8B-B14F-4D97-AF65-F5344CB8AC3E}">
        <p14:creationId xmlns:p14="http://schemas.microsoft.com/office/powerpoint/2010/main" val="2972218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FBBD-4123-5D7C-4447-EFEFDC376F75}"/>
              </a:ext>
            </a:extLst>
          </p:cNvPr>
          <p:cNvSpPr>
            <a:spLocks noGrp="1"/>
          </p:cNvSpPr>
          <p:nvPr>
            <p:ph type="title"/>
          </p:nvPr>
        </p:nvSpPr>
        <p:spPr>
          <a:xfrm>
            <a:off x="838200" y="18255"/>
            <a:ext cx="10515600" cy="1325563"/>
          </a:xfrm>
        </p:spPr>
        <p:txBody>
          <a:bodyPr/>
          <a:lstStyle/>
          <a:p>
            <a:pPr algn="ctr"/>
            <a:r>
              <a:rPr lang="en-US" b="1" dirty="0"/>
              <a:t>Structure of each round in SHA-512</a:t>
            </a:r>
            <a:endParaRPr lang="en-IN" b="1" dirty="0"/>
          </a:p>
        </p:txBody>
      </p:sp>
      <p:pic>
        <p:nvPicPr>
          <p:cNvPr id="5" name="Content Placeholder 4">
            <a:extLst>
              <a:ext uri="{FF2B5EF4-FFF2-40B4-BE49-F238E27FC236}">
                <a16:creationId xmlns:a16="http://schemas.microsoft.com/office/drawing/2014/main" id="{94688F7C-945E-FDAB-10E5-6E0A0CEBBB5C}"/>
              </a:ext>
            </a:extLst>
          </p:cNvPr>
          <p:cNvPicPr>
            <a:picLocks noGrp="1" noChangeAspect="1"/>
          </p:cNvPicPr>
          <p:nvPr>
            <p:ph idx="1"/>
          </p:nvPr>
        </p:nvPicPr>
        <p:blipFill>
          <a:blip r:embed="rId2"/>
          <a:stretch>
            <a:fillRect/>
          </a:stretch>
        </p:blipFill>
        <p:spPr>
          <a:xfrm>
            <a:off x="2855167" y="1092200"/>
            <a:ext cx="6718041" cy="5700747"/>
          </a:xfrm>
        </p:spPr>
      </p:pic>
      <p:sp>
        <p:nvSpPr>
          <p:cNvPr id="7" name="TextBox 6">
            <a:extLst>
              <a:ext uri="{FF2B5EF4-FFF2-40B4-BE49-F238E27FC236}">
                <a16:creationId xmlns:a16="http://schemas.microsoft.com/office/drawing/2014/main" id="{2F5D0EE5-D3CA-D8F0-9140-E4E55E4E102F}"/>
              </a:ext>
            </a:extLst>
          </p:cNvPr>
          <p:cNvSpPr txBox="1"/>
          <p:nvPr/>
        </p:nvSpPr>
        <p:spPr>
          <a:xfrm>
            <a:off x="116633" y="4859990"/>
            <a:ext cx="4931228" cy="923330"/>
          </a:xfrm>
          <a:prstGeom prst="rect">
            <a:avLst/>
          </a:prstGeom>
          <a:noFill/>
        </p:spPr>
        <p:txBody>
          <a:bodyPr wrap="square">
            <a:spAutoFit/>
          </a:bodyPr>
          <a:lstStyle/>
          <a:p>
            <a:r>
              <a:rPr lang="en-US" b="1" dirty="0"/>
              <a:t>Majority</a:t>
            </a:r>
            <a:r>
              <a:rPr lang="en-US" dirty="0"/>
              <a:t> is the majority of three bits. If two or three bits are 1’s, the resulting bit is 1; otherwise it is 0. </a:t>
            </a:r>
            <a:endParaRPr lang="en-IN" dirty="0"/>
          </a:p>
        </p:txBody>
      </p:sp>
      <p:sp>
        <p:nvSpPr>
          <p:cNvPr id="9" name="TextBox 8">
            <a:extLst>
              <a:ext uri="{FF2B5EF4-FFF2-40B4-BE49-F238E27FC236}">
                <a16:creationId xmlns:a16="http://schemas.microsoft.com/office/drawing/2014/main" id="{C0FDEC8C-B8F2-823E-755F-3038731D70AA}"/>
              </a:ext>
            </a:extLst>
          </p:cNvPr>
          <p:cNvSpPr txBox="1"/>
          <p:nvPr/>
        </p:nvSpPr>
        <p:spPr>
          <a:xfrm>
            <a:off x="8105970" y="4952323"/>
            <a:ext cx="3855875" cy="646331"/>
          </a:xfrm>
          <a:prstGeom prst="rect">
            <a:avLst/>
          </a:prstGeom>
          <a:noFill/>
        </p:spPr>
        <p:txBody>
          <a:bodyPr wrap="square">
            <a:spAutoFit/>
          </a:bodyPr>
          <a:lstStyle/>
          <a:p>
            <a:r>
              <a:rPr lang="en-US" b="1" dirty="0"/>
              <a:t>Conditional function</a:t>
            </a:r>
            <a:r>
              <a:rPr lang="en-US" dirty="0"/>
              <a:t> follows the logic </a:t>
            </a:r>
          </a:p>
          <a:p>
            <a:r>
              <a:rPr lang="en-US" dirty="0"/>
              <a:t>“If </a:t>
            </a:r>
            <a:r>
              <a:rPr lang="en-US" dirty="0" err="1"/>
              <a:t>Ej</a:t>
            </a:r>
            <a:r>
              <a:rPr lang="en-US" dirty="0"/>
              <a:t> then Fj; else </a:t>
            </a:r>
            <a:r>
              <a:rPr lang="en-US" dirty="0" err="1"/>
              <a:t>Gj</a:t>
            </a:r>
            <a:r>
              <a:rPr lang="en-US" dirty="0"/>
              <a:t>”.</a:t>
            </a:r>
            <a:endParaRPr lang="en-IN" dirty="0"/>
          </a:p>
        </p:txBody>
      </p:sp>
    </p:spTree>
    <p:extLst>
      <p:ext uri="{BB962C8B-B14F-4D97-AF65-F5344CB8AC3E}">
        <p14:creationId xmlns:p14="http://schemas.microsoft.com/office/powerpoint/2010/main" val="2811878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000A-71BF-05B9-42B6-20803A522176}"/>
              </a:ext>
            </a:extLst>
          </p:cNvPr>
          <p:cNvSpPr>
            <a:spLocks noGrp="1"/>
          </p:cNvSpPr>
          <p:nvPr>
            <p:ph type="title"/>
          </p:nvPr>
        </p:nvSpPr>
        <p:spPr>
          <a:xfrm>
            <a:off x="838200" y="18255"/>
            <a:ext cx="10515600" cy="1325563"/>
          </a:xfrm>
        </p:spPr>
        <p:txBody>
          <a:bodyPr/>
          <a:lstStyle/>
          <a:p>
            <a:pPr algn="ctr"/>
            <a:r>
              <a:rPr lang="en-IN" b="1" dirty="0"/>
              <a:t>Majority Function Example</a:t>
            </a:r>
          </a:p>
        </p:txBody>
      </p:sp>
      <p:sp>
        <p:nvSpPr>
          <p:cNvPr id="3" name="Content Placeholder 2">
            <a:extLst>
              <a:ext uri="{FF2B5EF4-FFF2-40B4-BE49-F238E27FC236}">
                <a16:creationId xmlns:a16="http://schemas.microsoft.com/office/drawing/2014/main" id="{95CFE4A9-32C1-C2D9-A45D-4D5AD0AEEBD3}"/>
              </a:ext>
            </a:extLst>
          </p:cNvPr>
          <p:cNvSpPr>
            <a:spLocks noGrp="1"/>
          </p:cNvSpPr>
          <p:nvPr>
            <p:ph idx="1"/>
          </p:nvPr>
        </p:nvSpPr>
        <p:spPr>
          <a:xfrm>
            <a:off x="838200" y="1194318"/>
            <a:ext cx="10515600" cy="4982645"/>
          </a:xfrm>
        </p:spPr>
        <p:txBody>
          <a:bodyPr>
            <a:normAutofit lnSpcReduction="10000"/>
          </a:bodyPr>
          <a:lstStyle/>
          <a:p>
            <a:pPr algn="just"/>
            <a:r>
              <a:rPr lang="en-US" dirty="0"/>
              <a:t>Apply the Majority function on buffers A, B, and C. If the leftmost hexadecimal digits of these buffers are 0x7, 0xA, and 0xE respectively, what is the leftmost digit of the result? </a:t>
            </a:r>
          </a:p>
          <a:p>
            <a:pPr algn="just"/>
            <a:r>
              <a:rPr lang="en-US" dirty="0"/>
              <a:t>The leftmost digits in binary are 0111, 1010, and 1110. </a:t>
            </a:r>
          </a:p>
          <a:p>
            <a:pPr algn="just"/>
            <a:r>
              <a:rPr lang="en-US" dirty="0"/>
              <a:t> a. The first bits are 0, 1, and 1. The majority is 1. </a:t>
            </a:r>
          </a:p>
          <a:p>
            <a:pPr marL="0" indent="0" algn="just">
              <a:buNone/>
            </a:pPr>
            <a:r>
              <a:rPr lang="en-US" dirty="0"/>
              <a:t>   It can also be proved using the definition of the Majority function: </a:t>
            </a:r>
          </a:p>
          <a:p>
            <a:pPr marL="0" indent="0" algn="just">
              <a:buNone/>
            </a:pPr>
            <a:r>
              <a:rPr lang="en-US" dirty="0"/>
              <a:t>   (0 AND 1) ⊕ (1 AND 1) ⊕ (1 AND 0) = 0 ⊕ 1 </a:t>
            </a:r>
          </a:p>
          <a:p>
            <a:pPr marL="0" indent="0" algn="just">
              <a:buNone/>
            </a:pPr>
            <a:r>
              <a:rPr lang="en-US" dirty="0"/>
              <a:t>b. The second bits are 1, 0, and 1. The majority is 1. </a:t>
            </a:r>
          </a:p>
          <a:p>
            <a:pPr marL="0" indent="0" algn="just">
              <a:buNone/>
            </a:pPr>
            <a:r>
              <a:rPr lang="en-US" dirty="0"/>
              <a:t>c. The third bits are 1, 1, and 1. The majority is 1. </a:t>
            </a:r>
          </a:p>
          <a:p>
            <a:pPr marL="0" indent="0" algn="just">
              <a:buNone/>
            </a:pPr>
            <a:r>
              <a:rPr lang="en-US" dirty="0"/>
              <a:t>d. The fourth bits are 1, 0, and 0. The majority is 0. </a:t>
            </a:r>
          </a:p>
          <a:p>
            <a:pPr marL="0" indent="0" algn="just">
              <a:buNone/>
            </a:pPr>
            <a:r>
              <a:rPr lang="en-US" dirty="0"/>
              <a:t>So, the result is 1110, or 0xE in hexadecimal. </a:t>
            </a:r>
            <a:endParaRPr lang="en-IN" dirty="0"/>
          </a:p>
        </p:txBody>
      </p:sp>
    </p:spTree>
    <p:extLst>
      <p:ext uri="{BB962C8B-B14F-4D97-AF65-F5344CB8AC3E}">
        <p14:creationId xmlns:p14="http://schemas.microsoft.com/office/powerpoint/2010/main" val="2145931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54523-F73D-2217-3951-B4436D90B306}"/>
              </a:ext>
            </a:extLst>
          </p:cNvPr>
          <p:cNvSpPr>
            <a:spLocks noGrp="1"/>
          </p:cNvSpPr>
          <p:nvPr>
            <p:ph type="title"/>
          </p:nvPr>
        </p:nvSpPr>
        <p:spPr>
          <a:xfrm>
            <a:off x="838200" y="122529"/>
            <a:ext cx="10515600" cy="1325563"/>
          </a:xfrm>
        </p:spPr>
        <p:txBody>
          <a:bodyPr/>
          <a:lstStyle/>
          <a:p>
            <a:pPr algn="ctr"/>
            <a:r>
              <a:rPr lang="en-IN" b="1" dirty="0"/>
              <a:t>Conditional Function Example</a:t>
            </a:r>
            <a:endParaRPr lang="en-IN" dirty="0"/>
          </a:p>
        </p:txBody>
      </p:sp>
      <p:sp>
        <p:nvSpPr>
          <p:cNvPr id="3" name="Content Placeholder 2">
            <a:extLst>
              <a:ext uri="{FF2B5EF4-FFF2-40B4-BE49-F238E27FC236}">
                <a16:creationId xmlns:a16="http://schemas.microsoft.com/office/drawing/2014/main" id="{C6D3C563-8537-CB0B-63FB-5DABC654FB9D}"/>
              </a:ext>
            </a:extLst>
          </p:cNvPr>
          <p:cNvSpPr>
            <a:spLocks noGrp="1"/>
          </p:cNvSpPr>
          <p:nvPr>
            <p:ph idx="1"/>
          </p:nvPr>
        </p:nvSpPr>
        <p:spPr>
          <a:xfrm>
            <a:off x="838200" y="1194318"/>
            <a:ext cx="11011678" cy="4982645"/>
          </a:xfrm>
        </p:spPr>
        <p:txBody>
          <a:bodyPr>
            <a:normAutofit lnSpcReduction="10000"/>
          </a:bodyPr>
          <a:lstStyle/>
          <a:p>
            <a:r>
              <a:rPr lang="en-US" dirty="0"/>
              <a:t>Apply the Conditional function on E, F, and G buffers. If the leftmost hexadecimal digits of these buffers are 0x9, 0xA, and 0xF respectively, what is the leftmost digit of the result? </a:t>
            </a:r>
          </a:p>
          <a:p>
            <a:r>
              <a:rPr lang="en-US" dirty="0"/>
              <a:t>The digits in binary are 1001, 1010, and 1111. </a:t>
            </a:r>
          </a:p>
          <a:p>
            <a:r>
              <a:rPr lang="en-US" dirty="0"/>
              <a:t>a. The first bits are 1, 1, and 1. Since E</a:t>
            </a:r>
            <a:r>
              <a:rPr lang="en-US" baseline="-25000" dirty="0"/>
              <a:t>1</a:t>
            </a:r>
            <a:r>
              <a:rPr lang="en-US" dirty="0"/>
              <a:t> = 1, the result is F</a:t>
            </a:r>
            <a:r>
              <a:rPr lang="en-US" baseline="-25000" dirty="0"/>
              <a:t>1</a:t>
            </a:r>
            <a:r>
              <a:rPr lang="en-US" dirty="0"/>
              <a:t>, which is 1. </a:t>
            </a:r>
          </a:p>
          <a:p>
            <a:pPr marL="0" indent="0">
              <a:buNone/>
            </a:pPr>
            <a:r>
              <a:rPr lang="en-US" dirty="0"/>
              <a:t>   It can also be proved using the definition of the Condition function.</a:t>
            </a:r>
          </a:p>
          <a:p>
            <a:pPr marL="0" indent="0">
              <a:buNone/>
            </a:pPr>
            <a:r>
              <a:rPr lang="en-US" dirty="0"/>
              <a:t>   (1 AND 1) ⊕ (NOT 1 AND 1) = 1 ⊕ 0 = 1 </a:t>
            </a:r>
          </a:p>
          <a:p>
            <a:r>
              <a:rPr lang="en-US" dirty="0"/>
              <a:t>b. The second bits are 0, 0, and 1. Since E</a:t>
            </a:r>
            <a:r>
              <a:rPr lang="en-US" baseline="-25000" dirty="0"/>
              <a:t>2 </a:t>
            </a:r>
            <a:r>
              <a:rPr lang="en-US" dirty="0"/>
              <a:t>= 0, the result is G</a:t>
            </a:r>
            <a:r>
              <a:rPr lang="en-US" baseline="-25000" dirty="0"/>
              <a:t>2</a:t>
            </a:r>
            <a:r>
              <a:rPr lang="en-US" dirty="0"/>
              <a:t>, which is 1.</a:t>
            </a:r>
          </a:p>
          <a:p>
            <a:r>
              <a:rPr lang="en-US" dirty="0"/>
              <a:t>c. The third bits are 0, 1, and 1. Since E</a:t>
            </a:r>
            <a:r>
              <a:rPr lang="en-US" baseline="-25000" dirty="0"/>
              <a:t>3</a:t>
            </a:r>
            <a:r>
              <a:rPr lang="en-US" dirty="0"/>
              <a:t> = 0, the result is G</a:t>
            </a:r>
            <a:r>
              <a:rPr lang="en-US" baseline="-25000" dirty="0"/>
              <a:t>3</a:t>
            </a:r>
            <a:r>
              <a:rPr lang="en-US" dirty="0"/>
              <a:t>, which is 1. </a:t>
            </a:r>
          </a:p>
          <a:p>
            <a:r>
              <a:rPr lang="en-US" dirty="0"/>
              <a:t>d. The fourth bits are 1, 0, and 1. Since E</a:t>
            </a:r>
            <a:r>
              <a:rPr lang="en-US" baseline="-25000" dirty="0"/>
              <a:t>4</a:t>
            </a:r>
            <a:r>
              <a:rPr lang="en-US" dirty="0"/>
              <a:t> = 1, the result is F</a:t>
            </a:r>
            <a:r>
              <a:rPr lang="en-US" baseline="-25000" dirty="0"/>
              <a:t>4</a:t>
            </a:r>
            <a:r>
              <a:rPr lang="en-US" dirty="0"/>
              <a:t>, which is 0.</a:t>
            </a:r>
          </a:p>
          <a:p>
            <a:r>
              <a:rPr lang="en-US" dirty="0"/>
              <a:t>So, the result is 1110, or 0xE in hexadecimal. </a:t>
            </a:r>
            <a:endParaRPr lang="en-IN" dirty="0"/>
          </a:p>
        </p:txBody>
      </p:sp>
    </p:spTree>
    <p:extLst>
      <p:ext uri="{BB962C8B-B14F-4D97-AF65-F5344CB8AC3E}">
        <p14:creationId xmlns:p14="http://schemas.microsoft.com/office/powerpoint/2010/main" val="1135719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56946-E4A6-CF90-DE10-55940B8E2AAF}"/>
              </a:ext>
            </a:extLst>
          </p:cNvPr>
          <p:cNvSpPr>
            <a:spLocks noGrp="1"/>
          </p:cNvSpPr>
          <p:nvPr>
            <p:ph type="title"/>
          </p:nvPr>
        </p:nvSpPr>
        <p:spPr>
          <a:xfrm>
            <a:off x="838200" y="85207"/>
            <a:ext cx="10515600" cy="1325563"/>
          </a:xfrm>
        </p:spPr>
        <p:txBody>
          <a:bodyPr/>
          <a:lstStyle/>
          <a:p>
            <a:pPr algn="ctr"/>
            <a:r>
              <a:rPr lang="en-IN" b="1" dirty="0"/>
              <a:t>80 K</a:t>
            </a:r>
            <a:r>
              <a:rPr lang="en-IN" b="1" baseline="-25000" dirty="0"/>
              <a:t>i</a:t>
            </a:r>
            <a:r>
              <a:rPr lang="en-IN" b="1" dirty="0"/>
              <a:t>’s used for 80 Rounds in SHA-512</a:t>
            </a:r>
          </a:p>
        </p:txBody>
      </p:sp>
      <p:pic>
        <p:nvPicPr>
          <p:cNvPr id="5" name="Content Placeholder 4">
            <a:extLst>
              <a:ext uri="{FF2B5EF4-FFF2-40B4-BE49-F238E27FC236}">
                <a16:creationId xmlns:a16="http://schemas.microsoft.com/office/drawing/2014/main" id="{65DA2D34-5A2D-5EB8-6A98-7AB22948D0F5}"/>
              </a:ext>
            </a:extLst>
          </p:cNvPr>
          <p:cNvPicPr>
            <a:picLocks noGrp="1" noChangeAspect="1"/>
          </p:cNvPicPr>
          <p:nvPr>
            <p:ph idx="1"/>
          </p:nvPr>
        </p:nvPicPr>
        <p:blipFill>
          <a:blip r:embed="rId2"/>
          <a:stretch>
            <a:fillRect/>
          </a:stretch>
        </p:blipFill>
        <p:spPr>
          <a:xfrm>
            <a:off x="2057683" y="1410770"/>
            <a:ext cx="7879419" cy="4649281"/>
          </a:xfrm>
        </p:spPr>
      </p:pic>
      <p:sp>
        <p:nvSpPr>
          <p:cNvPr id="7" name="TextBox 6">
            <a:extLst>
              <a:ext uri="{FF2B5EF4-FFF2-40B4-BE49-F238E27FC236}">
                <a16:creationId xmlns:a16="http://schemas.microsoft.com/office/drawing/2014/main" id="{F0BD7D79-7786-4CFA-7854-C84986C6571B}"/>
              </a:ext>
            </a:extLst>
          </p:cNvPr>
          <p:cNvSpPr txBox="1"/>
          <p:nvPr/>
        </p:nvSpPr>
        <p:spPr>
          <a:xfrm>
            <a:off x="2067014" y="6060051"/>
            <a:ext cx="6097554" cy="369332"/>
          </a:xfrm>
          <a:prstGeom prst="rect">
            <a:avLst/>
          </a:prstGeom>
          <a:noFill/>
        </p:spPr>
        <p:txBody>
          <a:bodyPr wrap="square">
            <a:spAutoFit/>
          </a:bodyPr>
          <a:lstStyle/>
          <a:p>
            <a:r>
              <a:rPr lang="en-IN" sz="1800" dirty="0"/>
              <a:t>From cubic root of first 80 primes (2,3, …. , 409)</a:t>
            </a:r>
          </a:p>
        </p:txBody>
      </p:sp>
    </p:spTree>
    <p:extLst>
      <p:ext uri="{BB962C8B-B14F-4D97-AF65-F5344CB8AC3E}">
        <p14:creationId xmlns:p14="http://schemas.microsoft.com/office/powerpoint/2010/main" val="3330419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668</Words>
  <Application>Microsoft Office PowerPoint</Application>
  <PresentationFormat>Widescreen</PresentationFormat>
  <Paragraphs>51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Message Integrity and SHA-512</vt:lpstr>
      <vt:lpstr>Message Integrity</vt:lpstr>
      <vt:lpstr>Message Integrity Checking</vt:lpstr>
      <vt:lpstr>Properties of Message Digest</vt:lpstr>
      <vt:lpstr>Secure Hash Algorithm (SHA)</vt:lpstr>
      <vt:lpstr>SHA-512 Algorithm (Block Diagram)</vt:lpstr>
      <vt:lpstr>Padding and length field in SHA-512</vt:lpstr>
      <vt:lpstr>Example for Padding</vt:lpstr>
      <vt:lpstr>SHA-512 Words</vt:lpstr>
      <vt:lpstr>Word Expansion in SHA-512</vt:lpstr>
      <vt:lpstr>Example for Word Expansion in SHA-512</vt:lpstr>
      <vt:lpstr>Initial Message Digest in SHA-512</vt:lpstr>
      <vt:lpstr>SHA-512 Compression Function</vt:lpstr>
      <vt:lpstr>Structure of each round in SHA-512</vt:lpstr>
      <vt:lpstr>Majority Function Example</vt:lpstr>
      <vt:lpstr>Conditional Function Example</vt:lpstr>
      <vt:lpstr>80 Ki’s used for 80 Rounds in SHA-512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Message Integrity and SHA-512</dc:title>
  <dc:creator>Sarbajit Manna</dc:creator>
  <cp:lastModifiedBy>Sarbajit Manna</cp:lastModifiedBy>
  <cp:revision>19</cp:revision>
  <dcterms:created xsi:type="dcterms:W3CDTF">2024-03-19T04:49:36Z</dcterms:created>
  <dcterms:modified xsi:type="dcterms:W3CDTF">2024-03-19T06:25:09Z</dcterms:modified>
</cp:coreProperties>
</file>